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12"/>
  </p:notesMasterIdLst>
  <p:sldIdLst>
    <p:sldId id="256" r:id="rId2"/>
    <p:sldId id="289" r:id="rId3"/>
    <p:sldId id="291" r:id="rId4"/>
    <p:sldId id="292" r:id="rId5"/>
    <p:sldId id="293" r:id="rId6"/>
    <p:sldId id="294" r:id="rId7"/>
    <p:sldId id="295" r:id="rId8"/>
    <p:sldId id="297" r:id="rId9"/>
    <p:sldId id="298" r:id="rId10"/>
    <p:sldId id="300"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ECC5F6A-112D-0729-FD31-FC12636BB654}" name="Aritra Mitra" initials="AM" userId="f9603301caec50c4"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6240B"/>
    <a:srgbClr val="11651F"/>
    <a:srgbClr val="17952C"/>
    <a:srgbClr val="8D8D8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4504" autoAdjust="0"/>
  </p:normalViewPr>
  <p:slideViewPr>
    <p:cSldViewPr snapToGrid="0">
      <p:cViewPr varScale="1">
        <p:scale>
          <a:sx n="93" d="100"/>
          <a:sy n="93" d="100"/>
        </p:scale>
        <p:origin x="708"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8/10/relationships/authors" Target="authors.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D748C3-BFFA-4AA3-97CF-E7981B1EE205}" type="datetimeFigureOut">
              <a:rPr lang="en-IN" smtClean="0"/>
              <a:t>31-05-2026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056E52-C514-4285-A993-8ED8F4C8A60D}" type="slidenum">
              <a:rPr lang="en-IN" smtClean="0"/>
              <a:t>‹#›</a:t>
            </a:fld>
            <a:endParaRPr lang="en-IN"/>
          </a:p>
        </p:txBody>
      </p:sp>
    </p:spTree>
    <p:extLst>
      <p:ext uri="{BB962C8B-B14F-4D97-AF65-F5344CB8AC3E}">
        <p14:creationId xmlns:p14="http://schemas.microsoft.com/office/powerpoint/2010/main" val="3586540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IN" dirty="0"/>
              </a:p>
            </p:txBody>
          </p:sp>
        </mc:Choice>
        <mc:Fallback xmlns="">
          <p:sp>
            <p:nvSpPr>
              <p:cNvPr id="3" name="Notes Placeholder 2"/>
              <p:cNvSpPr>
                <a:spLocks noGrp="1"/>
              </p:cNvSpPr>
              <p:nvPr>
                <p:ph type="body" idx="1"/>
              </p:nvPr>
            </p:nvSpPr>
            <p:spPr/>
            <p:txBody>
              <a:bodyPr/>
              <a:lstStyle/>
              <a:p>
                <a:r>
                  <a:rPr lang="en-US" dirty="0"/>
                  <a:t>Hello everyone, I am </a:t>
                </a:r>
                <a:r>
                  <a:rPr lang="en-US" dirty="0" err="1"/>
                  <a:t>Sreejeet</a:t>
                </a:r>
                <a:r>
                  <a:rPr lang="en-US" dirty="0"/>
                  <a:t> Maity, and today I will talk about our work titled </a:t>
                </a:r>
                <a:r>
                  <a:rPr lang="en-US" b="1" dirty="0"/>
                  <a:t>“Corruption-Tolerant Asynchronous </a:t>
                </a:r>
                <a:r>
                  <a:rPr lang="en-US" sz="1200" i="0" kern="1200">
                    <a:solidFill>
                      <a:schemeClr val="tx1"/>
                    </a:solidFill>
                    <a:latin typeface="+mn-lt"/>
                    <a:ea typeface="+mn-ea"/>
                    <a:cs typeface="+mn-cs"/>
                  </a:rPr>
                  <a:t>𝑄</a:t>
                </a:r>
                <a:r>
                  <a:rPr lang="en-US" b="1" dirty="0"/>
                  <a:t>-Learning with Near-Optimal Rates.”</a:t>
                </a:r>
                <a:endParaRPr lang="en-IN" dirty="0"/>
              </a:p>
            </p:txBody>
          </p:sp>
        </mc:Fallback>
      </mc:AlternateContent>
      <p:sp>
        <p:nvSpPr>
          <p:cNvPr id="4" name="Slide Number Placeholder 3"/>
          <p:cNvSpPr>
            <a:spLocks noGrp="1"/>
          </p:cNvSpPr>
          <p:nvPr>
            <p:ph type="sldNum" sz="quarter" idx="5"/>
          </p:nvPr>
        </p:nvSpPr>
        <p:spPr/>
        <p:txBody>
          <a:bodyPr/>
          <a:lstStyle/>
          <a:p>
            <a:fld id="{6B056E52-C514-4285-A993-8ED8F4C8A60D}" type="slidenum">
              <a:rPr lang="en-IN" smtClean="0"/>
              <a:t>1</a:t>
            </a:fld>
            <a:endParaRPr lang="en-IN"/>
          </a:p>
        </p:txBody>
      </p:sp>
    </p:spTree>
    <p:extLst>
      <p:ext uri="{BB962C8B-B14F-4D97-AF65-F5344CB8AC3E}">
        <p14:creationId xmlns:p14="http://schemas.microsoft.com/office/powerpoint/2010/main" val="42934072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D2799C-5979-45E0-D322-597FA97752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797C43-39A0-4209-5054-B45BF038E1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21D080-CE9A-1916-7AC6-1291CF12A34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6E81B41-16A6-BAD5-F97E-EB8B0A6C09FF}"/>
              </a:ext>
            </a:extLst>
          </p:cNvPr>
          <p:cNvSpPr>
            <a:spLocks noGrp="1"/>
          </p:cNvSpPr>
          <p:nvPr>
            <p:ph type="sldNum" sz="quarter" idx="5"/>
          </p:nvPr>
        </p:nvSpPr>
        <p:spPr/>
        <p:txBody>
          <a:bodyPr/>
          <a:lstStyle/>
          <a:p>
            <a:fld id="{6B056E52-C514-4285-A993-8ED8F4C8A60D}" type="slidenum">
              <a:rPr lang="en-IN" smtClean="0"/>
              <a:t>2</a:t>
            </a:fld>
            <a:endParaRPr lang="en-IN"/>
          </a:p>
        </p:txBody>
      </p:sp>
    </p:spTree>
    <p:extLst>
      <p:ext uri="{BB962C8B-B14F-4D97-AF65-F5344CB8AC3E}">
        <p14:creationId xmlns:p14="http://schemas.microsoft.com/office/powerpoint/2010/main" val="41926520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371E42-6265-EF7A-7390-B61C0D09B0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A2B5D1-06BC-3F5C-D1A2-6C49A0C10B52}"/>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E305F3B8-0EE3-B208-38CF-0DD4F7D6A441}"/>
                  </a:ext>
                </a:extLst>
              </p:cNvPr>
              <p:cNvSpPr>
                <a:spLocks noGrp="1"/>
              </p:cNvSpPr>
              <p:nvPr>
                <p:ph type="body" idx="1"/>
              </p:nvPr>
            </p:nvSpPr>
            <p:spPr/>
            <p:txBody>
              <a:bodyPr/>
              <a:lstStyle/>
              <a:p>
                <a:endParaRPr lang="en-IN" dirty="0"/>
              </a:p>
            </p:txBody>
          </p:sp>
        </mc:Choice>
        <mc:Fallback xmlns="">
          <p:sp>
            <p:nvSpPr>
              <p:cNvPr id="3" name="Notes Placeholder 2">
                <a:extLst>
                  <a:ext uri="{FF2B5EF4-FFF2-40B4-BE49-F238E27FC236}">
                    <a16:creationId xmlns:a16="http://schemas.microsoft.com/office/drawing/2014/main" id="{E305F3B8-0EE3-B208-38CF-0DD4F7D6A441}"/>
                  </a:ext>
                </a:extLst>
              </p:cNvPr>
              <p:cNvSpPr>
                <a:spLocks noGrp="1"/>
              </p:cNvSpPr>
              <p:nvPr>
                <p:ph type="body" idx="1"/>
              </p:nvPr>
            </p:nvSpPr>
            <p:spPr/>
            <p:txBody>
              <a:bodyPr/>
              <a:lstStyle/>
              <a:p>
                <a:r>
                  <a:rPr lang="en-US" dirty="0"/>
                  <a:t>To formalize this, we consider a finite Markov decision process with finite state and action spaces. For each state-action pair, there is a transition probability and an expected reward.</a:t>
                </a:r>
              </a:p>
              <a:p>
                <a:r>
                  <a:rPr lang="en-US" dirty="0"/>
                  <a:t>For a fixed policy, the central object is the action-value function, or the </a:t>
                </a:r>
                <a:r>
                  <a:rPr lang="en-US" sz="1200" i="0" kern="1200">
                    <a:solidFill>
                      <a:schemeClr val="tx1"/>
                    </a:solidFill>
                    <a:latin typeface="+mn-lt"/>
                    <a:ea typeface="+mn-ea"/>
                    <a:cs typeface="+mn-cs"/>
                  </a:rPr>
                  <a:t>𝑄</a:t>
                </a:r>
                <a:r>
                  <a:rPr lang="en-US" dirty="0"/>
                  <a:t>-function. It tells us the long-term value of taking a particular action at a particular state and then following the policy afterward.</a:t>
                </a:r>
              </a:p>
              <a:p>
                <a:r>
                  <a:rPr lang="en-US" dirty="0"/>
                  <a:t>Classically, </a:t>
                </a:r>
                <a:r>
                  <a:rPr lang="en-US" sz="1200" i="0" kern="1200">
                    <a:solidFill>
                      <a:schemeClr val="tx1"/>
                    </a:solidFill>
                    <a:latin typeface="+mn-lt"/>
                    <a:ea typeface="+mn-ea"/>
                    <a:cs typeface="+mn-cs"/>
                  </a:rPr>
                  <a:t>𝑄</a:t>
                </a:r>
                <a:r>
                  <a:rPr lang="en-US" dirty="0"/>
                  <a:t>-Learning gives us a way to estimate these action values from samples, without knowing the transition model. The standard update combines the current estimate with a new sample-based Bellman update.</a:t>
                </a:r>
              </a:p>
              <a:p>
                <a:endParaRPr lang="en-IN" dirty="0"/>
              </a:p>
            </p:txBody>
          </p:sp>
        </mc:Fallback>
      </mc:AlternateContent>
      <p:sp>
        <p:nvSpPr>
          <p:cNvPr id="4" name="Slide Number Placeholder 3">
            <a:extLst>
              <a:ext uri="{FF2B5EF4-FFF2-40B4-BE49-F238E27FC236}">
                <a16:creationId xmlns:a16="http://schemas.microsoft.com/office/drawing/2014/main" id="{E39B553A-0519-8F19-78F2-F8E001AC748C}"/>
              </a:ext>
            </a:extLst>
          </p:cNvPr>
          <p:cNvSpPr>
            <a:spLocks noGrp="1"/>
          </p:cNvSpPr>
          <p:nvPr>
            <p:ph type="sldNum" sz="quarter" idx="5"/>
          </p:nvPr>
        </p:nvSpPr>
        <p:spPr/>
        <p:txBody>
          <a:bodyPr/>
          <a:lstStyle/>
          <a:p>
            <a:fld id="{6B056E52-C514-4285-A993-8ED8F4C8A60D}" type="slidenum">
              <a:rPr lang="en-IN" smtClean="0"/>
              <a:t>3</a:t>
            </a:fld>
            <a:endParaRPr lang="en-IN"/>
          </a:p>
        </p:txBody>
      </p:sp>
    </p:spTree>
    <p:extLst>
      <p:ext uri="{BB962C8B-B14F-4D97-AF65-F5344CB8AC3E}">
        <p14:creationId xmlns:p14="http://schemas.microsoft.com/office/powerpoint/2010/main" val="20651762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331705-2BCC-E76A-A511-DAA75EAB67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21A0C5-D44E-E081-3931-D5A2F0A3F218}"/>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66504A99-5DAD-188C-EB12-48517DE6A440}"/>
                  </a:ext>
                </a:extLst>
              </p:cNvPr>
              <p:cNvSpPr>
                <a:spLocks noGrp="1"/>
              </p:cNvSpPr>
              <p:nvPr>
                <p:ph type="body" idx="1"/>
              </p:nvPr>
            </p:nvSpPr>
            <p:spPr/>
            <p:txBody>
              <a:bodyPr/>
              <a:lstStyle/>
              <a:p>
                <a:endParaRPr lang="en-IN" dirty="0"/>
              </a:p>
            </p:txBody>
          </p:sp>
        </mc:Choice>
        <mc:Fallback xmlns="">
          <p:sp>
            <p:nvSpPr>
              <p:cNvPr id="3" name="Notes Placeholder 2">
                <a:extLst>
                  <a:ext uri="{FF2B5EF4-FFF2-40B4-BE49-F238E27FC236}">
                    <a16:creationId xmlns:a16="http://schemas.microsoft.com/office/drawing/2014/main" id="{66504A99-5DAD-188C-EB12-48517DE6A440}"/>
                  </a:ext>
                </a:extLst>
              </p:cNvPr>
              <p:cNvSpPr>
                <a:spLocks noGrp="1"/>
              </p:cNvSpPr>
              <p:nvPr>
                <p:ph type="body" idx="1"/>
              </p:nvPr>
            </p:nvSpPr>
            <p:spPr/>
            <p:txBody>
              <a:bodyPr/>
              <a:lstStyle/>
              <a:p>
                <a:r>
                  <a:rPr lang="en-US" dirty="0"/>
                  <a:t>Now we move to the setting of corrupted feedback. Data is generated asynchronously by following a behavior policy that visits every state-action pair sufficiently often.</a:t>
                </a:r>
              </a:p>
              <a:p>
                <a:r>
                  <a:rPr lang="en-US" dirty="0"/>
                  <a:t>In the clean case, whenever the learner visits a state-action pair, it observes a noisy but valid reward sample. But in our corrupted model, at each time step, the observed reward is clean with probability </a:t>
                </a:r>
                <a:r>
                  <a:rPr lang="en-US" sz="1200" i="0" kern="1200">
                    <a:solidFill>
                      <a:schemeClr val="tx1"/>
                    </a:solidFill>
                    <a:latin typeface="+mn-lt"/>
                    <a:ea typeface="+mn-ea"/>
                    <a:cs typeface="+mn-cs"/>
                  </a:rPr>
                  <a:t>1−𝜖</a:t>
                </a:r>
                <a:r>
                  <a:rPr lang="en-US" dirty="0"/>
                  <a:t>, and with probability </a:t>
                </a:r>
                <a:r>
                  <a:rPr lang="en-US" sz="1200" i="0" kern="1200">
                    <a:solidFill>
                      <a:schemeClr val="tx1"/>
                    </a:solidFill>
                    <a:latin typeface="+mn-lt"/>
                    <a:ea typeface="+mn-ea"/>
                    <a:cs typeface="+mn-cs"/>
                  </a:rPr>
                  <a:t>𝜖</a:t>
                </a:r>
                <a:r>
                  <a:rPr lang="en-US" dirty="0"/>
                  <a:t>, it is replaced by an arbitrary adversarial value.</a:t>
                </a:r>
              </a:p>
              <a:p>
                <a:r>
                  <a:rPr lang="en-US" dirty="0"/>
                  <a:t>The key difficulty is that the corrupted reward can have arbitrary magnitude. Even if the corruption fraction </a:t>
                </a:r>
                <a:r>
                  <a:rPr lang="en-US" sz="1200" i="0" kern="1200">
                    <a:solidFill>
                      <a:schemeClr val="tx1"/>
                    </a:solidFill>
                    <a:latin typeface="+mn-lt"/>
                    <a:ea typeface="+mn-ea"/>
                    <a:cs typeface="+mn-cs"/>
                  </a:rPr>
                  <a:t>𝜖</a:t>
                </a:r>
                <a:r>
                  <a:rPr lang="en-US" dirty="0"/>
                  <a:t>is small, vanilla </a:t>
                </a:r>
                <a:r>
                  <a:rPr lang="en-US" sz="1200" i="0" kern="1200">
                    <a:solidFill>
                      <a:schemeClr val="tx1"/>
                    </a:solidFill>
                    <a:latin typeface="+mn-lt"/>
                    <a:ea typeface="+mn-ea"/>
                    <a:cs typeface="+mn-cs"/>
                  </a:rPr>
                  <a:t>𝑄</a:t>
                </a:r>
                <a:r>
                  <a:rPr lang="en-US" dirty="0"/>
                  <a:t>-Learning can fail catastrophically because a few extreme reward values can dominate the update.</a:t>
                </a:r>
              </a:p>
              <a:p>
                <a:endParaRPr lang="en-IN" dirty="0"/>
              </a:p>
            </p:txBody>
          </p:sp>
        </mc:Fallback>
      </mc:AlternateContent>
      <p:sp>
        <p:nvSpPr>
          <p:cNvPr id="4" name="Slide Number Placeholder 3">
            <a:extLst>
              <a:ext uri="{FF2B5EF4-FFF2-40B4-BE49-F238E27FC236}">
                <a16:creationId xmlns:a16="http://schemas.microsoft.com/office/drawing/2014/main" id="{0BE9C6C6-BBED-7083-94B1-0F6D4A8A548A}"/>
              </a:ext>
            </a:extLst>
          </p:cNvPr>
          <p:cNvSpPr>
            <a:spLocks noGrp="1"/>
          </p:cNvSpPr>
          <p:nvPr>
            <p:ph type="sldNum" sz="quarter" idx="5"/>
          </p:nvPr>
        </p:nvSpPr>
        <p:spPr/>
        <p:txBody>
          <a:bodyPr/>
          <a:lstStyle/>
          <a:p>
            <a:fld id="{6B056E52-C514-4285-A993-8ED8F4C8A60D}" type="slidenum">
              <a:rPr lang="en-IN" smtClean="0"/>
              <a:t>4</a:t>
            </a:fld>
            <a:endParaRPr lang="en-IN"/>
          </a:p>
        </p:txBody>
      </p:sp>
    </p:spTree>
    <p:extLst>
      <p:ext uri="{BB962C8B-B14F-4D97-AF65-F5344CB8AC3E}">
        <p14:creationId xmlns:p14="http://schemas.microsoft.com/office/powerpoint/2010/main" val="29738200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0699B9-6314-1FF7-B148-F23BC0A1F5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D44588-D49B-BBBB-7A63-A65BBF4023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EE8A6E-40C8-9923-3CD4-475510A1D50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4FDE6A2-D149-0FBE-1143-B47565E866B6}"/>
              </a:ext>
            </a:extLst>
          </p:cNvPr>
          <p:cNvSpPr>
            <a:spLocks noGrp="1"/>
          </p:cNvSpPr>
          <p:nvPr>
            <p:ph type="sldNum" sz="quarter" idx="5"/>
          </p:nvPr>
        </p:nvSpPr>
        <p:spPr/>
        <p:txBody>
          <a:bodyPr/>
          <a:lstStyle/>
          <a:p>
            <a:fld id="{6B056E52-C514-4285-A993-8ED8F4C8A60D}" type="slidenum">
              <a:rPr lang="en-IN" smtClean="0"/>
              <a:t>5</a:t>
            </a:fld>
            <a:endParaRPr lang="en-IN"/>
          </a:p>
        </p:txBody>
      </p:sp>
    </p:spTree>
    <p:extLst>
      <p:ext uri="{BB962C8B-B14F-4D97-AF65-F5344CB8AC3E}">
        <p14:creationId xmlns:p14="http://schemas.microsoft.com/office/powerpoint/2010/main" val="10331699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79BE9-C087-8DE1-C662-5BB61DE91A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66AB89-FFB6-1789-9A56-6A3847317670}"/>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95778FE8-07C2-AD01-F06E-182880FF51BB}"/>
                  </a:ext>
                </a:extLst>
              </p:cNvPr>
              <p:cNvSpPr>
                <a:spLocks noGrp="1"/>
              </p:cNvSpPr>
              <p:nvPr>
                <p:ph type="body" idx="1"/>
              </p:nvPr>
            </p:nvSpPr>
            <p:spPr/>
            <p:txBody>
              <a:bodyPr/>
              <a:lstStyle/>
              <a:p>
                <a:endParaRPr lang="en-IN" dirty="0"/>
              </a:p>
            </p:txBody>
          </p:sp>
        </mc:Choice>
        <mc:Fallback xmlns="">
          <p:sp>
            <p:nvSpPr>
              <p:cNvPr id="3" name="Notes Placeholder 2">
                <a:extLst>
                  <a:ext uri="{FF2B5EF4-FFF2-40B4-BE49-F238E27FC236}">
                    <a16:creationId xmlns:a16="http://schemas.microsoft.com/office/drawing/2014/main" id="{95778FE8-07C2-AD01-F06E-182880FF51BB}"/>
                  </a:ext>
                </a:extLst>
              </p:cNvPr>
              <p:cNvSpPr>
                <a:spLocks noGrp="1"/>
              </p:cNvSpPr>
              <p:nvPr>
                <p:ph type="body" idx="1"/>
              </p:nvPr>
            </p:nvSpPr>
            <p:spPr/>
            <p:txBody>
              <a:bodyPr/>
              <a:lstStyle/>
              <a:p>
                <a:r>
                  <a:rPr lang="en-US" dirty="0"/>
                  <a:t>This slide summarizes the robust update.</a:t>
                </a:r>
              </a:p>
              <a:p>
                <a:r>
                  <a:rPr lang="en-US" dirty="0"/>
                  <a:t>For each state-action pair, we maintain a buffer of historical reward observations. When a new reward is observed, we append it to the buffer and compute a robust trimmed-mean estimate of the reward.</a:t>
                </a:r>
              </a:p>
              <a:p>
                <a:r>
                  <a:rPr lang="en-US" dirty="0"/>
                  <a:t>Then we check whether the new sample-based update lies inside a statistically typical region. This typical region depends on the noise variance, the total number of visits, the minimum visitation probability, and the corruption fraction.</a:t>
                </a:r>
              </a:p>
              <a:p>
                <a:r>
                  <a:rPr lang="en-US" dirty="0"/>
                  <a:t>If the sample is consistent with this threshold, we use it in the </a:t>
                </a:r>
                <a:r>
                  <a:rPr lang="en-US" sz="1200" i="0" kern="1200">
                    <a:solidFill>
                      <a:schemeClr val="tx1"/>
                    </a:solidFill>
                    <a:latin typeface="+mn-lt"/>
                    <a:ea typeface="+mn-ea"/>
                    <a:cs typeface="+mn-cs"/>
                  </a:rPr>
                  <a:t>𝑄</a:t>
                </a:r>
                <a:r>
                  <a:rPr lang="en-US" dirty="0"/>
                  <a:t>-update. Otherwise, we reject it.</a:t>
                </a:r>
              </a:p>
              <a:p>
                <a:r>
                  <a:rPr lang="en-US" dirty="0"/>
                  <a:t>The important point is that the threshold is designed to separate natural stochastic fluctuation from adversarial corruption. This allows the algorithm to keep learning from clean feedback while suppressing extreme corrupted observations.</a:t>
                </a:r>
              </a:p>
              <a:p>
                <a:endParaRPr lang="en-IN" dirty="0"/>
              </a:p>
            </p:txBody>
          </p:sp>
        </mc:Fallback>
      </mc:AlternateContent>
      <p:sp>
        <p:nvSpPr>
          <p:cNvPr id="4" name="Slide Number Placeholder 3">
            <a:extLst>
              <a:ext uri="{FF2B5EF4-FFF2-40B4-BE49-F238E27FC236}">
                <a16:creationId xmlns:a16="http://schemas.microsoft.com/office/drawing/2014/main" id="{4676F3C7-4BD5-41A4-F2D6-2F2B5DC95AA4}"/>
              </a:ext>
            </a:extLst>
          </p:cNvPr>
          <p:cNvSpPr>
            <a:spLocks noGrp="1"/>
          </p:cNvSpPr>
          <p:nvPr>
            <p:ph type="sldNum" sz="quarter" idx="5"/>
          </p:nvPr>
        </p:nvSpPr>
        <p:spPr/>
        <p:txBody>
          <a:bodyPr/>
          <a:lstStyle/>
          <a:p>
            <a:fld id="{6B056E52-C514-4285-A993-8ED8F4C8A60D}" type="slidenum">
              <a:rPr lang="en-IN" smtClean="0"/>
              <a:t>6</a:t>
            </a:fld>
            <a:endParaRPr lang="en-IN"/>
          </a:p>
        </p:txBody>
      </p:sp>
    </p:spTree>
    <p:extLst>
      <p:ext uri="{BB962C8B-B14F-4D97-AF65-F5344CB8AC3E}">
        <p14:creationId xmlns:p14="http://schemas.microsoft.com/office/powerpoint/2010/main" val="23931788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AD47FE-5E73-AFD3-06A6-40F418B1B3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D7A61D-7E8B-2639-5915-483BDD88C12F}"/>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5EB24B24-5228-AD63-DE23-5241FE14B998}"/>
                  </a:ext>
                </a:extLst>
              </p:cNvPr>
              <p:cNvSpPr>
                <a:spLocks noGrp="1"/>
              </p:cNvSpPr>
              <p:nvPr>
                <p:ph type="body" idx="1"/>
              </p:nvPr>
            </p:nvSpPr>
            <p:spPr/>
            <p:txBody>
              <a:bodyPr/>
              <a:lstStyle/>
              <a:p>
                <a:r>
                  <a:rPr lang="en-US" dirty="0"/>
                  <a:t>.</a:t>
                </a:r>
                <a:endParaRPr lang="en-IN" dirty="0"/>
              </a:p>
            </p:txBody>
          </p:sp>
        </mc:Choice>
        <mc:Fallback xmlns="">
          <p:sp>
            <p:nvSpPr>
              <p:cNvPr id="3" name="Notes Placeholder 2">
                <a:extLst>
                  <a:ext uri="{FF2B5EF4-FFF2-40B4-BE49-F238E27FC236}">
                    <a16:creationId xmlns:a16="http://schemas.microsoft.com/office/drawing/2014/main" id="{5EB24B24-5228-AD63-DE23-5241FE14B998}"/>
                  </a:ext>
                </a:extLst>
              </p:cNvPr>
              <p:cNvSpPr>
                <a:spLocks noGrp="1"/>
              </p:cNvSpPr>
              <p:nvPr>
                <p:ph type="body" idx="1"/>
              </p:nvPr>
            </p:nvSpPr>
            <p:spPr/>
            <p:txBody>
              <a:bodyPr/>
              <a:lstStyle/>
              <a:p>
                <a:r>
                  <a:rPr lang="en-US" dirty="0"/>
                  <a:t>The main theorem shows that our robust </a:t>
                </a:r>
                <a:r>
                  <a:rPr lang="en-US" sz="1200" i="0" kern="1200">
                    <a:solidFill>
                      <a:schemeClr val="tx1"/>
                    </a:solidFill>
                    <a:latin typeface="+mn-lt"/>
                    <a:ea typeface="+mn-ea"/>
                    <a:cs typeface="+mn-cs"/>
                  </a:rPr>
                  <a:t>𝑄</a:t>
                </a:r>
                <a:r>
                  <a:rPr lang="en-US" dirty="0"/>
                  <a:t>-Learning algorithm converges with high probability.</a:t>
                </a:r>
              </a:p>
              <a:p>
                <a:r>
                  <a:rPr lang="en-US" dirty="0"/>
                  <a:t>The error bound has two main terms. The first term is the statistical learning term. Up to logarithmic factors, it matches the known rates for vanilla </a:t>
                </a:r>
                <a:r>
                  <a:rPr lang="en-US" sz="1200" i="0" kern="1200">
                    <a:solidFill>
                      <a:schemeClr val="tx1"/>
                    </a:solidFill>
                    <a:latin typeface="+mn-lt"/>
                    <a:ea typeface="+mn-ea"/>
                    <a:cs typeface="+mn-cs"/>
                  </a:rPr>
                  <a:t>𝑄</a:t>
                </a:r>
                <a:r>
                  <a:rPr lang="en-US" dirty="0"/>
                  <a:t>-Learning when there is no corruption.</a:t>
                </a:r>
              </a:p>
              <a:p>
                <a:r>
                  <a:rPr lang="en-US" dirty="0"/>
                  <a:t>The second term captures the cost of corruption. Crucially, this term depends on the corruption fraction </a:t>
                </a:r>
                <a:r>
                  <a:rPr lang="en-US" sz="1200" i="0" kern="1200">
                    <a:solidFill>
                      <a:schemeClr val="tx1"/>
                    </a:solidFill>
                    <a:latin typeface="+mn-lt"/>
                    <a:ea typeface="+mn-ea"/>
                    <a:cs typeface="+mn-cs"/>
                  </a:rPr>
                  <a:t>𝜖</a:t>
                </a:r>
                <a:r>
                  <a:rPr lang="en-US" dirty="0"/>
                  <a:t>, but </a:t>
                </a:r>
                <a:r>
                  <a:rPr lang="en-US" b="1" dirty="0"/>
                  <a:t>not</a:t>
                </a:r>
                <a:r>
                  <a:rPr lang="en-US" dirty="0"/>
                  <a:t> on the magnitude of the corrupted rewards.</a:t>
                </a:r>
              </a:p>
              <a:p>
                <a:r>
                  <a:rPr lang="en-US" dirty="0"/>
                  <a:t>This is the main robustness message: even if the adversary injects extremely large corrupted values, the final error is controlled by how often corruption happens, not by how large the corrupted values are.</a:t>
                </a:r>
              </a:p>
              <a:p>
                <a:endParaRPr lang="en-IN" dirty="0"/>
              </a:p>
            </p:txBody>
          </p:sp>
        </mc:Fallback>
      </mc:AlternateContent>
      <p:sp>
        <p:nvSpPr>
          <p:cNvPr id="4" name="Slide Number Placeholder 3">
            <a:extLst>
              <a:ext uri="{FF2B5EF4-FFF2-40B4-BE49-F238E27FC236}">
                <a16:creationId xmlns:a16="http://schemas.microsoft.com/office/drawing/2014/main" id="{CE2C7CB1-1821-E4F8-B30A-082842828050}"/>
              </a:ext>
            </a:extLst>
          </p:cNvPr>
          <p:cNvSpPr>
            <a:spLocks noGrp="1"/>
          </p:cNvSpPr>
          <p:nvPr>
            <p:ph type="sldNum" sz="quarter" idx="5"/>
          </p:nvPr>
        </p:nvSpPr>
        <p:spPr/>
        <p:txBody>
          <a:bodyPr/>
          <a:lstStyle/>
          <a:p>
            <a:fld id="{6B056E52-C514-4285-A993-8ED8F4C8A60D}" type="slidenum">
              <a:rPr lang="en-IN" smtClean="0"/>
              <a:t>7</a:t>
            </a:fld>
            <a:endParaRPr lang="en-IN"/>
          </a:p>
        </p:txBody>
      </p:sp>
    </p:spTree>
    <p:extLst>
      <p:ext uri="{BB962C8B-B14F-4D97-AF65-F5344CB8AC3E}">
        <p14:creationId xmlns:p14="http://schemas.microsoft.com/office/powerpoint/2010/main" val="9816826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AF39B-7D54-B517-21A7-DFB5DBA8AA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865D56-3F49-B983-CBE7-575843F3D2C1}"/>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612E9A54-996A-C4FB-034B-4D8C3DE29DDE}"/>
                  </a:ext>
                </a:extLst>
              </p:cNvPr>
              <p:cNvSpPr>
                <a:spLocks noGrp="1"/>
              </p:cNvSpPr>
              <p:nvPr>
                <p:ph type="body" idx="1"/>
              </p:nvPr>
            </p:nvSpPr>
            <p:spPr/>
            <p:txBody>
              <a:bodyPr/>
              <a:lstStyle/>
              <a:p>
                <a:endParaRPr lang="en-IN" dirty="0"/>
              </a:p>
            </p:txBody>
          </p:sp>
        </mc:Choice>
        <mc:Fallback xmlns="">
          <p:sp>
            <p:nvSpPr>
              <p:cNvPr id="3" name="Notes Placeholder 2">
                <a:extLst>
                  <a:ext uri="{FF2B5EF4-FFF2-40B4-BE49-F238E27FC236}">
                    <a16:creationId xmlns:a16="http://schemas.microsoft.com/office/drawing/2014/main" id="{612E9A54-996A-C4FB-034B-4D8C3DE29DDE}"/>
                  </a:ext>
                </a:extLst>
              </p:cNvPr>
              <p:cNvSpPr>
                <a:spLocks noGrp="1"/>
              </p:cNvSpPr>
              <p:nvPr>
                <p:ph type="body" idx="1"/>
              </p:nvPr>
            </p:nvSpPr>
            <p:spPr/>
            <p:txBody>
              <a:bodyPr/>
              <a:lstStyle/>
              <a:p>
                <a:r>
                  <a:rPr lang="en-IN" dirty="0"/>
                  <a:t>Next, we ask whether the corruption dependence in our upper bound is unavoidable.</a:t>
                </a:r>
              </a:p>
              <a:p>
                <a:r>
                  <a:rPr lang="en-IN" dirty="0"/>
                  <a:t>To answer this, we consider the simplest possible MDP: one state and one action. In this case, the RL problem reduces to robust mean estimation of rewards.</a:t>
                </a:r>
              </a:p>
              <a:p>
                <a:r>
                  <a:rPr lang="en-IN" dirty="0"/>
                  <a:t>We construct two different reward distributions that become statistically indistinguishable under corruption. No learner can reliably tell which world generated the data. As a result, any algorithm must make a nontrivial error on at least one of the two instances.</a:t>
                </a:r>
              </a:p>
              <a:p>
                <a:r>
                  <a:rPr lang="en-IN" dirty="0"/>
                  <a:t>This gives an information-theoretic lower bound of order </a:t>
                </a:r>
                <a:r>
                  <a:rPr lang="ar-AE" sz="1200" i="0" kern="1200">
                    <a:solidFill>
                      <a:schemeClr val="tx1"/>
                    </a:solidFill>
                    <a:latin typeface="+mn-lt"/>
                    <a:ea typeface="+mn-ea"/>
                    <a:cs typeface="+mn-cs"/>
                  </a:rPr>
                  <a:t>√𝜖</a:t>
                </a:r>
                <a:r>
                  <a:rPr lang="ar-AE" dirty="0"/>
                  <a:t>, </a:t>
                </a:r>
                <a:r>
                  <a:rPr lang="en-IN" dirty="0"/>
                  <a:t>showing that the corruption term is fundamental.</a:t>
                </a:r>
              </a:p>
              <a:p>
                <a:endParaRPr lang="en-IN" dirty="0"/>
              </a:p>
            </p:txBody>
          </p:sp>
        </mc:Fallback>
      </mc:AlternateContent>
      <p:sp>
        <p:nvSpPr>
          <p:cNvPr id="4" name="Slide Number Placeholder 3">
            <a:extLst>
              <a:ext uri="{FF2B5EF4-FFF2-40B4-BE49-F238E27FC236}">
                <a16:creationId xmlns:a16="http://schemas.microsoft.com/office/drawing/2014/main" id="{19BE64DC-0A33-8003-AB7D-DD6E7C0DFE12}"/>
              </a:ext>
            </a:extLst>
          </p:cNvPr>
          <p:cNvSpPr>
            <a:spLocks noGrp="1"/>
          </p:cNvSpPr>
          <p:nvPr>
            <p:ph type="sldNum" sz="quarter" idx="5"/>
          </p:nvPr>
        </p:nvSpPr>
        <p:spPr/>
        <p:txBody>
          <a:bodyPr/>
          <a:lstStyle/>
          <a:p>
            <a:fld id="{6B056E52-C514-4285-A993-8ED8F4C8A60D}" type="slidenum">
              <a:rPr lang="en-IN" smtClean="0"/>
              <a:t>8</a:t>
            </a:fld>
            <a:endParaRPr lang="en-IN"/>
          </a:p>
        </p:txBody>
      </p:sp>
    </p:spTree>
    <p:extLst>
      <p:ext uri="{BB962C8B-B14F-4D97-AF65-F5344CB8AC3E}">
        <p14:creationId xmlns:p14="http://schemas.microsoft.com/office/powerpoint/2010/main" val="34419346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E94891-810A-A820-34B7-40BBF9BABE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72FC78-FCA4-A75E-14CB-BA52C9B662C2}"/>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6060D3CA-AAF5-4682-38CC-CB89ED17B5C2}"/>
                  </a:ext>
                </a:extLst>
              </p:cNvPr>
              <p:cNvSpPr>
                <a:spLocks noGrp="1"/>
              </p:cNvSpPr>
              <p:nvPr>
                <p:ph type="body" idx="1"/>
              </p:nvPr>
            </p:nvSpPr>
            <p:spPr/>
            <p:txBody>
              <a:bodyPr/>
              <a:lstStyle/>
              <a:p>
                <a:endParaRPr lang="en-IN" dirty="0"/>
              </a:p>
            </p:txBody>
          </p:sp>
        </mc:Choice>
        <mc:Fallback xmlns="">
          <p:sp>
            <p:nvSpPr>
              <p:cNvPr id="3" name="Notes Placeholder 2">
                <a:extLst>
                  <a:ext uri="{FF2B5EF4-FFF2-40B4-BE49-F238E27FC236}">
                    <a16:creationId xmlns:a16="http://schemas.microsoft.com/office/drawing/2014/main" id="{6060D3CA-AAF5-4682-38CC-CB89ED17B5C2}"/>
                  </a:ext>
                </a:extLst>
              </p:cNvPr>
              <p:cNvSpPr>
                <a:spLocks noGrp="1"/>
              </p:cNvSpPr>
              <p:nvPr>
                <p:ph type="body" idx="1"/>
              </p:nvPr>
            </p:nvSpPr>
            <p:spPr/>
            <p:txBody>
              <a:bodyPr/>
              <a:lstStyle/>
              <a:p>
                <a:r>
                  <a:rPr lang="en-IN" dirty="0"/>
                  <a:t>Finally, we extend the analysis in two directions.</a:t>
                </a:r>
              </a:p>
              <a:p>
                <a:r>
                  <a:rPr lang="en-IN" dirty="0"/>
                  <a:t>First, we remove the need for prior knowledge of reward statistics. When the reward variance or reward bounds are unknown, we use a growing proxy threshold and prove that a similar guarantee still holds. The key technical tool is a refined Azuma-Hoeffding-type inequality for martingale differences with coarse deterministic bounds and sharper high-probability bounds.</a:t>
                </a:r>
              </a:p>
              <a:p>
                <a:r>
                  <a:rPr lang="en-IN" dirty="0"/>
                  <a:t>Second, we extend the result beyond </a:t>
                </a:r>
                <a:r>
                  <a:rPr lang="en-IN" dirty="0" err="1"/>
                  <a:t>i.i.d.</a:t>
                </a:r>
                <a:r>
                  <a:rPr lang="en-IN" dirty="0"/>
                  <a:t> asynchronous sampling to Markovian sampling. Here, the main idea is to use a blocking technique: we subsample the trajectory so that the retained samples are approximately independent. This gives a similar convergence guarantee, with an additional inflation factor related to the mixing time of the Markov chain.</a:t>
                </a:r>
              </a:p>
              <a:p>
                <a:r>
                  <a:rPr lang="en-IN" dirty="0"/>
                  <a:t>To summarize, vanilla asynchronous </a:t>
                </a:r>
                <a:r>
                  <a:rPr lang="en-IN" sz="1200" i="0" kern="1200">
                    <a:solidFill>
                      <a:schemeClr val="tx1"/>
                    </a:solidFill>
                    <a:latin typeface="+mn-lt"/>
                    <a:ea typeface="+mn-ea"/>
                    <a:cs typeface="+mn-cs"/>
                  </a:rPr>
                  <a:t>𝑄</a:t>
                </a:r>
                <a:r>
                  <a:rPr lang="en-IN" dirty="0"/>
                  <a:t>-Learning can fail badly under even sparse corrupted rewards. Our robust algorithm achieves near-optimal statistical rates, controls the effect of arbitrary corruption magnitude, and matches the fundamental </a:t>
                </a:r>
                <a:r>
                  <a:rPr lang="ar-AE" sz="1200" i="0" kern="1200">
                    <a:solidFill>
                      <a:schemeClr val="tx1"/>
                    </a:solidFill>
                    <a:latin typeface="+mn-lt"/>
                    <a:ea typeface="+mn-ea"/>
                    <a:cs typeface="+mn-cs"/>
                  </a:rPr>
                  <a:t>√𝜖</a:t>
                </a:r>
                <a:r>
                  <a:rPr lang="en-IN" dirty="0"/>
                  <a:t>corruption limit.</a:t>
                </a:r>
              </a:p>
              <a:p>
                <a:endParaRPr lang="en-IN" dirty="0"/>
              </a:p>
            </p:txBody>
          </p:sp>
        </mc:Fallback>
      </mc:AlternateContent>
      <p:sp>
        <p:nvSpPr>
          <p:cNvPr id="4" name="Slide Number Placeholder 3">
            <a:extLst>
              <a:ext uri="{FF2B5EF4-FFF2-40B4-BE49-F238E27FC236}">
                <a16:creationId xmlns:a16="http://schemas.microsoft.com/office/drawing/2014/main" id="{A56CF24F-8671-EC1D-AFD7-CE2C91320890}"/>
              </a:ext>
            </a:extLst>
          </p:cNvPr>
          <p:cNvSpPr>
            <a:spLocks noGrp="1"/>
          </p:cNvSpPr>
          <p:nvPr>
            <p:ph type="sldNum" sz="quarter" idx="5"/>
          </p:nvPr>
        </p:nvSpPr>
        <p:spPr/>
        <p:txBody>
          <a:bodyPr/>
          <a:lstStyle/>
          <a:p>
            <a:fld id="{6B056E52-C514-4285-A993-8ED8F4C8A60D}" type="slidenum">
              <a:rPr lang="en-IN" smtClean="0"/>
              <a:t>9</a:t>
            </a:fld>
            <a:endParaRPr lang="en-IN"/>
          </a:p>
        </p:txBody>
      </p:sp>
    </p:spTree>
    <p:extLst>
      <p:ext uri="{BB962C8B-B14F-4D97-AF65-F5344CB8AC3E}">
        <p14:creationId xmlns:p14="http://schemas.microsoft.com/office/powerpoint/2010/main" val="35308496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18A646-DF9F-FCF0-9D77-260B67A48E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FD8509-29D7-EC50-8203-07005F753F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0285C3-E23A-D000-8E3B-D873C1CD96E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DF69C5A-81E9-E088-799D-2B648AD36BF6}"/>
              </a:ext>
            </a:extLst>
          </p:cNvPr>
          <p:cNvSpPr>
            <a:spLocks noGrp="1"/>
          </p:cNvSpPr>
          <p:nvPr>
            <p:ph type="sldNum" sz="quarter" idx="5"/>
          </p:nvPr>
        </p:nvSpPr>
        <p:spPr/>
        <p:txBody>
          <a:bodyPr/>
          <a:lstStyle/>
          <a:p>
            <a:fld id="{6B056E52-C514-4285-A993-8ED8F4C8A60D}" type="slidenum">
              <a:rPr lang="en-IN" smtClean="0"/>
              <a:t>10</a:t>
            </a:fld>
            <a:endParaRPr lang="en-IN"/>
          </a:p>
        </p:txBody>
      </p:sp>
    </p:spTree>
    <p:extLst>
      <p:ext uri="{BB962C8B-B14F-4D97-AF65-F5344CB8AC3E}">
        <p14:creationId xmlns:p14="http://schemas.microsoft.com/office/powerpoint/2010/main" val="2415155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89" name="Group 88"/>
          <p:cNvGrpSpPr/>
          <p:nvPr/>
        </p:nvGrpSpPr>
        <p:grpSpPr>
          <a:xfrm>
            <a:off x="-329674" y="-59376"/>
            <a:ext cx="12515851" cy="6923798"/>
            <a:chOff x="-329674" y="-51881"/>
            <a:chExt cx="12515851" cy="6923798"/>
          </a:xfrm>
        </p:grpSpPr>
        <p:sp>
          <p:nvSpPr>
            <p:cNvPr id="90"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1"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2"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3"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4"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5"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6"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7"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8"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9"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0"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1"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2"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3"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4"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5"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6"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7"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8"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41" name="Rectangle 40"/>
          <p:cNvSpPr/>
          <p:nvPr/>
        </p:nvSpPr>
        <p:spPr>
          <a:xfrm>
            <a:off x="1673116" y="1119406"/>
            <a:ext cx="8845667"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753661" y="1187739"/>
            <a:ext cx="8679915" cy="1748729"/>
          </a:xfrm>
        </p:spPr>
        <p:txBody>
          <a:bodyPr bIns="0" anchor="b">
            <a:normAutofit/>
          </a:bodyPr>
          <a:lstStyle>
            <a:lvl1pPr algn="ctr">
              <a:lnSpc>
                <a:spcPct val="80000"/>
              </a:lnSpc>
              <a:defRPr sz="5400" spc="-150">
                <a:solidFill>
                  <a:srgbClr val="FFFEFF"/>
                </a:solidFill>
              </a:defRPr>
            </a:lvl1pPr>
          </a:lstStyle>
          <a:p>
            <a:r>
              <a:rPr lang="en-US"/>
              <a:t>Click to edit Master title style</a:t>
            </a:r>
            <a:endParaRPr lang="en-US" dirty="0"/>
          </a:p>
        </p:txBody>
      </p:sp>
      <p:sp>
        <p:nvSpPr>
          <p:cNvPr id="3" name="Subtitle 2"/>
          <p:cNvSpPr>
            <a:spLocks noGrp="1"/>
          </p:cNvSpPr>
          <p:nvPr>
            <p:ph type="subTitle" idx="1"/>
          </p:nvPr>
        </p:nvSpPr>
        <p:spPr>
          <a:xfrm>
            <a:off x="1744964" y="3037523"/>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2BBE860F-5498-4B0D-BDC3-ABA86BE33E84}" type="datetime1">
              <a:rPr lang="en-US" smtClean="0"/>
              <a:t>5/31/2026</a:t>
            </a:fld>
            <a:endParaRPr lang="en-US" dirty="0"/>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r>
              <a:rPr lang="en-US"/>
              <a:t>Robust Federated 𝑄-Learning with Almost No Communication</a:t>
            </a:r>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80" name="Group 79"/>
          <p:cNvGrpSpPr/>
          <p:nvPr/>
        </p:nvGrpSpPr>
        <p:grpSpPr>
          <a:xfrm>
            <a:off x="-417513" y="0"/>
            <a:ext cx="12584114" cy="6853238"/>
            <a:chOff x="-417513" y="0"/>
            <a:chExt cx="12584114" cy="6853238"/>
          </a:xfrm>
        </p:grpSpPr>
        <p:sp>
          <p:nvSpPr>
            <p:cNvPr id="81"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0"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1"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7" name="Group 26"/>
          <p:cNvGrpSpPr/>
          <p:nvPr/>
        </p:nvGrpSpPr>
        <p:grpSpPr>
          <a:xfrm>
            <a:off x="800144" y="1699589"/>
            <a:ext cx="3674476" cy="3470421"/>
            <a:chOff x="697883" y="1816768"/>
            <a:chExt cx="3674476" cy="3470421"/>
          </a:xfrm>
        </p:grpSpPr>
        <p:sp>
          <p:nvSpPr>
            <p:cNvPr id="28" name="Rectangle 27"/>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9"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Rectangle 29"/>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1" y="2349925"/>
            <a:ext cx="3498979" cy="2456442"/>
          </a:xfrm>
        </p:spPr>
        <p:txBody>
          <a:bodyPr/>
          <a:lstStyle>
            <a:lvl1pPr>
              <a:defRPr>
                <a:solidFill>
                  <a:srgbClr val="FFFEFF"/>
                </a:solidFill>
              </a:defRPr>
            </a:lvl1pPr>
          </a:lstStyle>
          <a:p>
            <a:r>
              <a:rPr lang="en-US"/>
              <a:t>Click to edit Master title style</a:t>
            </a:r>
            <a:endParaRPr lang="en-US" dirty="0"/>
          </a:p>
        </p:txBody>
      </p:sp>
      <p:sp>
        <p:nvSpPr>
          <p:cNvPr id="3" name="Content Placeholder 2"/>
          <p:cNvSpPr>
            <a:spLocks noGrp="1"/>
          </p:cNvSpPr>
          <p:nvPr>
            <p:ph idx="1"/>
          </p:nvPr>
        </p:nvSpPr>
        <p:spPr>
          <a:xfrm>
            <a:off x="5118447" y="803186"/>
            <a:ext cx="6281873" cy="5248622"/>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C2B1A8C-58DF-432E-A58D-BA80E99FABB6}" type="datetime1">
              <a:rPr lang="en-US" smtClean="0"/>
              <a:t>5/31/2026</a:t>
            </a:fld>
            <a:endParaRPr lang="en-US" dirty="0"/>
          </a:p>
        </p:txBody>
      </p:sp>
      <p:sp>
        <p:nvSpPr>
          <p:cNvPr id="5" name="Footer Placeholder 4"/>
          <p:cNvSpPr>
            <a:spLocks noGrp="1"/>
          </p:cNvSpPr>
          <p:nvPr>
            <p:ph type="ftr" sz="quarter" idx="11"/>
          </p:nvPr>
        </p:nvSpPr>
        <p:spPr/>
        <p:txBody>
          <a:bodyPr/>
          <a:lstStyle/>
          <a:p>
            <a:r>
              <a:rPr lang="en-US"/>
              <a:t>Robust Federated 𝑄-Learning with Almost No Communication</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77" name="Group 76"/>
          <p:cNvGrpSpPr/>
          <p:nvPr/>
        </p:nvGrpSpPr>
        <p:grpSpPr>
          <a:xfrm>
            <a:off x="-329674" y="-59376"/>
            <a:ext cx="12515851" cy="6923798"/>
            <a:chOff x="-329674" y="-51881"/>
            <a:chExt cx="12515851" cy="6923798"/>
          </a:xfrm>
        </p:grpSpPr>
        <p:sp>
          <p:nvSpPr>
            <p:cNvPr id="78"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8"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89"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0"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6"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9" name="Group 8"/>
          <p:cNvGrpSpPr/>
          <p:nvPr/>
        </p:nvGrpSpPr>
        <p:grpSpPr>
          <a:xfrm>
            <a:off x="3259545" y="1186483"/>
            <a:ext cx="5666145" cy="4477933"/>
            <a:chOff x="3259545" y="1186483"/>
            <a:chExt cx="5666145" cy="4477933"/>
          </a:xfrm>
        </p:grpSpPr>
        <p:sp>
          <p:nvSpPr>
            <p:cNvPr id="99" name="Rectangle 98"/>
            <p:cNvSpPr/>
            <p:nvPr/>
          </p:nvSpPr>
          <p:spPr>
            <a:xfrm>
              <a:off x="3259545" y="1186483"/>
              <a:ext cx="5657881"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0" name="Isosceles Triangle 39"/>
            <p:cNvSpPr/>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1" name="Rectangle 100"/>
            <p:cNvSpPr/>
            <p:nvPr/>
          </p:nvSpPr>
          <p:spPr>
            <a:xfrm>
              <a:off x="3259545" y="1991156"/>
              <a:ext cx="5666145"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3344216" y="2074730"/>
            <a:ext cx="5490224" cy="1689390"/>
          </a:xfrm>
        </p:spPr>
        <p:txBody>
          <a:bodyPr bIns="0" anchor="b">
            <a:normAutofit/>
          </a:bodyPr>
          <a:lstStyle>
            <a:lvl1pPr algn="ctr">
              <a:defRPr sz="4400">
                <a:solidFill>
                  <a:srgbClr val="FFFEFF"/>
                </a:solidFill>
              </a:defRPr>
            </a:lvl1pPr>
          </a:lstStyle>
          <a:p>
            <a:r>
              <a:rPr lang="en-US"/>
              <a:t>Click to edit Master title style</a:t>
            </a:r>
            <a:endParaRPr lang="en-US" dirty="0"/>
          </a:p>
        </p:txBody>
      </p:sp>
      <p:sp>
        <p:nvSpPr>
          <p:cNvPr id="3" name="Text Placeholder 2"/>
          <p:cNvSpPr>
            <a:spLocks noGrp="1"/>
          </p:cNvSpPr>
          <p:nvPr>
            <p:ph type="body" idx="1"/>
          </p:nvPr>
        </p:nvSpPr>
        <p:spPr>
          <a:xfrm>
            <a:off x="3344215" y="3846851"/>
            <a:ext cx="5490223" cy="1383770"/>
          </a:xfrm>
        </p:spPr>
        <p:txBody>
          <a:bodyPr tIns="0">
            <a:normAutofit/>
          </a:bodyPr>
          <a:lstStyle>
            <a:lvl1pPr marL="0" indent="0" algn="ctr">
              <a:buNone/>
              <a:defRPr sz="1800">
                <a:solidFill>
                  <a:srgbClr val="FFFEFF"/>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04672" y="320040"/>
            <a:ext cx="3657600" cy="320040"/>
          </a:xfrm>
        </p:spPr>
        <p:txBody>
          <a:bodyPr/>
          <a:lstStyle/>
          <a:p>
            <a:fld id="{D65242F6-6123-4BB6-8158-4A71B3DB57C9}" type="datetime1">
              <a:rPr lang="en-US" smtClean="0"/>
              <a:t>5/31/2026</a:t>
            </a:fld>
            <a:endParaRPr lang="en-US" dirty="0"/>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r>
              <a:rPr lang="en-US"/>
              <a:t>Robust Federated 𝑄-Learning with Almost No Communication</a:t>
            </a:r>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37" name="Group 36"/>
          <p:cNvGrpSpPr/>
          <p:nvPr/>
        </p:nvGrpSpPr>
        <p:grpSpPr>
          <a:xfrm>
            <a:off x="-417513" y="0"/>
            <a:ext cx="12584114" cy="6853238"/>
            <a:chOff x="-417513" y="0"/>
            <a:chExt cx="12584114" cy="6853238"/>
          </a:xfrm>
        </p:grpSpPr>
        <p:sp>
          <p:nvSpPr>
            <p:cNvPr id="38"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9"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0"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1"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2"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3"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4"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5"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6"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4"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5"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6"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7"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8"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59" name="Group 58"/>
          <p:cNvGrpSpPr/>
          <p:nvPr/>
        </p:nvGrpSpPr>
        <p:grpSpPr>
          <a:xfrm>
            <a:off x="800144" y="1699589"/>
            <a:ext cx="3674476" cy="3470421"/>
            <a:chOff x="697883" y="1816768"/>
            <a:chExt cx="3674476" cy="3470421"/>
          </a:xfrm>
        </p:grpSpPr>
        <p:sp>
          <p:nvSpPr>
            <p:cNvPr id="60" name="Rectangle 59"/>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1"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2" name="Rectangle 61"/>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9000" y="2339669"/>
            <a:ext cx="3500828" cy="2470065"/>
          </a:xfrm>
        </p:spPr>
        <p:txBody>
          <a:bodyPr lIns="91440" tIns="91440" rIns="91440" bIns="91440"/>
          <a:lstStyle>
            <a:lvl1pPr>
              <a:defRPr>
                <a:solidFill>
                  <a:srgbClr val="FFFEFF"/>
                </a:solidFill>
              </a:defRPr>
            </a:lvl1pPr>
          </a:lstStyle>
          <a:p>
            <a:r>
              <a:rPr lang="en-US"/>
              <a:t>Click to edit Master title style</a:t>
            </a:r>
            <a:endParaRPr lang="en-US" dirty="0"/>
          </a:p>
        </p:txBody>
      </p:sp>
      <p:sp>
        <p:nvSpPr>
          <p:cNvPr id="3" name="Content Placeholder 2"/>
          <p:cNvSpPr>
            <a:spLocks noGrp="1"/>
          </p:cNvSpPr>
          <p:nvPr>
            <p:ph sz="half" idx="1"/>
          </p:nvPr>
        </p:nvSpPr>
        <p:spPr>
          <a:xfrm>
            <a:off x="5120878" y="803187"/>
            <a:ext cx="6269591" cy="23826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118447" y="3672162"/>
            <a:ext cx="6272022" cy="23835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804672" y="320040"/>
            <a:ext cx="3657600" cy="320040"/>
          </a:xfrm>
        </p:spPr>
        <p:txBody>
          <a:bodyPr/>
          <a:lstStyle/>
          <a:p>
            <a:fld id="{841B6204-1A94-412B-9B18-76F207BDB382}" type="datetime1">
              <a:rPr lang="en-US" smtClean="0"/>
              <a:t>5/31/2026</a:t>
            </a:fld>
            <a:endParaRPr lang="en-US" dirty="0"/>
          </a:p>
        </p:txBody>
      </p:sp>
      <p:sp>
        <p:nvSpPr>
          <p:cNvPr id="6" name="Footer Placeholder 5"/>
          <p:cNvSpPr>
            <a:spLocks noGrp="1"/>
          </p:cNvSpPr>
          <p:nvPr>
            <p:ph type="ftr" sz="quarter" idx="11"/>
          </p:nvPr>
        </p:nvSpPr>
        <p:spPr>
          <a:xfrm>
            <a:off x="804672" y="6227064"/>
            <a:ext cx="10588752" cy="320040"/>
          </a:xfrm>
        </p:spPr>
        <p:txBody>
          <a:bodyPr/>
          <a:lstStyle/>
          <a:p>
            <a:r>
              <a:rPr lang="en-US"/>
              <a:t>Robust Federated 𝑄-Learning with Almost No Communication</a:t>
            </a:r>
            <a:endParaRPr lang="en-US" dirty="0"/>
          </a:p>
        </p:txBody>
      </p:sp>
      <p:sp>
        <p:nvSpPr>
          <p:cNvPr id="7" name="Slide Number Placeholder 6"/>
          <p:cNvSpPr>
            <a:spLocks noGrp="1"/>
          </p:cNvSpPr>
          <p:nvPr>
            <p:ph type="sldNum" sz="quarter" idx="12"/>
          </p:nvPr>
        </p:nvSpPr>
        <p:spPr>
          <a:xfrm>
            <a:off x="10469880" y="320040"/>
            <a:ext cx="914400" cy="320040"/>
          </a:xfrm>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39" name="Group 38"/>
          <p:cNvGrpSpPr/>
          <p:nvPr/>
        </p:nvGrpSpPr>
        <p:grpSpPr>
          <a:xfrm>
            <a:off x="-417513" y="0"/>
            <a:ext cx="12584114" cy="6853238"/>
            <a:chOff x="-417513" y="0"/>
            <a:chExt cx="12584114" cy="6853238"/>
          </a:xfrm>
        </p:grpSpPr>
        <p:sp>
          <p:nvSpPr>
            <p:cNvPr id="40"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1"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2"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3"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4"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5"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6"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4"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5"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6"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7"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8"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9"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0"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61" name="Group 60"/>
          <p:cNvGrpSpPr/>
          <p:nvPr/>
        </p:nvGrpSpPr>
        <p:grpSpPr>
          <a:xfrm>
            <a:off x="800144" y="1699589"/>
            <a:ext cx="3674476" cy="3470421"/>
            <a:chOff x="697883" y="1816768"/>
            <a:chExt cx="3674476" cy="3470421"/>
          </a:xfrm>
        </p:grpSpPr>
        <p:sp>
          <p:nvSpPr>
            <p:cNvPr id="62" name="Rectangle 6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3"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4" name="Rectangle 63"/>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9001" y="2363915"/>
            <a:ext cx="3500828" cy="2460497"/>
          </a:xfrm>
        </p:spPr>
        <p:txBody>
          <a:bodyPr lIns="91440" tIns="91440" rIns="91440" bIns="91440"/>
          <a:lstStyle>
            <a:lvl1pPr>
              <a:defRPr>
                <a:solidFill>
                  <a:srgbClr val="FFFEFF"/>
                </a:solidFill>
              </a:defRPr>
            </a:lvl1pPr>
          </a:lstStyle>
          <a:p>
            <a:r>
              <a:rPr lang="en-US"/>
              <a:t>Click to edit Master title style</a:t>
            </a:r>
            <a:endParaRPr lang="en-US" dirty="0"/>
          </a:p>
        </p:txBody>
      </p:sp>
      <p:sp>
        <p:nvSpPr>
          <p:cNvPr id="3" name="Text Placeholder 2"/>
          <p:cNvSpPr>
            <a:spLocks noGrp="1"/>
          </p:cNvSpPr>
          <p:nvPr>
            <p:ph type="body" idx="1"/>
          </p:nvPr>
        </p:nvSpPr>
        <p:spPr>
          <a:xfrm>
            <a:off x="5125137" y="803185"/>
            <a:ext cx="6265088" cy="685800"/>
          </a:xfrm>
        </p:spPr>
        <p:txBody>
          <a:bodyPr anchor="ctr">
            <a:noAutofit/>
          </a:bodyPr>
          <a:lstStyle>
            <a:lvl1pPr marL="0" indent="0" algn="l">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125305" y="1488985"/>
            <a:ext cx="6264350" cy="169685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118653" y="3665887"/>
            <a:ext cx="6264414" cy="685800"/>
          </a:xfrm>
        </p:spPr>
        <p:txBody>
          <a:bodyPr anchor="ctr">
            <a:noAutofit/>
          </a:bodyPr>
          <a:lstStyle>
            <a:lvl1pPr marL="0" indent="0" algn="l">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118447" y="4351687"/>
            <a:ext cx="6265588" cy="17040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804672" y="320040"/>
            <a:ext cx="3657600" cy="320040"/>
          </a:xfrm>
        </p:spPr>
        <p:txBody>
          <a:bodyPr/>
          <a:lstStyle/>
          <a:p>
            <a:fld id="{D3EEA5F0-BC04-449A-AC9F-D58E139B861F}" type="datetime1">
              <a:rPr lang="en-US" smtClean="0"/>
              <a:t>5/31/2026</a:t>
            </a:fld>
            <a:endParaRPr lang="en-US" dirty="0"/>
          </a:p>
        </p:txBody>
      </p:sp>
      <p:sp>
        <p:nvSpPr>
          <p:cNvPr id="8" name="Footer Placeholder 7"/>
          <p:cNvSpPr>
            <a:spLocks noGrp="1"/>
          </p:cNvSpPr>
          <p:nvPr>
            <p:ph type="ftr" sz="quarter" idx="11"/>
          </p:nvPr>
        </p:nvSpPr>
        <p:spPr>
          <a:xfrm>
            <a:off x="804672" y="6227064"/>
            <a:ext cx="10588752" cy="320040"/>
          </a:xfrm>
        </p:spPr>
        <p:txBody>
          <a:bodyPr/>
          <a:lstStyle/>
          <a:p>
            <a:r>
              <a:rPr lang="en-US"/>
              <a:t>Robust Federated 𝑄-Learning with Almost No Communication</a:t>
            </a:r>
            <a:endParaRPr lang="en-US" dirty="0"/>
          </a:p>
        </p:txBody>
      </p:sp>
      <p:sp>
        <p:nvSpPr>
          <p:cNvPr id="9" name="Slide Number Placeholder 8"/>
          <p:cNvSpPr>
            <a:spLocks noGrp="1"/>
          </p:cNvSpPr>
          <p:nvPr>
            <p:ph type="sldNum" sz="quarter" idx="12"/>
          </p:nvPr>
        </p:nvSpPr>
        <p:spPr>
          <a:xfrm>
            <a:off x="10469880" y="320040"/>
            <a:ext cx="914400" cy="320040"/>
          </a:xfrm>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77" name="Group 76"/>
          <p:cNvGrpSpPr/>
          <p:nvPr/>
        </p:nvGrpSpPr>
        <p:grpSpPr>
          <a:xfrm>
            <a:off x="-417513" y="0"/>
            <a:ext cx="12584114" cy="6853238"/>
            <a:chOff x="-417513" y="0"/>
            <a:chExt cx="12584114" cy="6853238"/>
          </a:xfrm>
        </p:grpSpPr>
        <p:sp>
          <p:nvSpPr>
            <p:cNvPr id="78"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1"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3"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4"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4"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5"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4" name="Group 23"/>
          <p:cNvGrpSpPr/>
          <p:nvPr/>
        </p:nvGrpSpPr>
        <p:grpSpPr>
          <a:xfrm>
            <a:off x="800144" y="1699589"/>
            <a:ext cx="3674476" cy="3470421"/>
            <a:chOff x="697883" y="1816768"/>
            <a:chExt cx="3674476" cy="3470421"/>
          </a:xfrm>
        </p:grpSpPr>
        <p:sp>
          <p:nvSpPr>
            <p:cNvPr id="25" name="Rectangle 24"/>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2" y="2349925"/>
            <a:ext cx="3501196" cy="2456442"/>
          </a:xfrm>
        </p:spPr>
        <p:txBody>
          <a:bodyPr/>
          <a:lstStyle>
            <a:lvl1pPr>
              <a:defRPr>
                <a:solidFill>
                  <a:srgbClr val="FFFEFF"/>
                </a:solidFill>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75D47E7-2730-4B92-B1A9-1DBAA4F09812}" type="datetime1">
              <a:rPr lang="en-US" smtClean="0"/>
              <a:t>5/31/2026</a:t>
            </a:fld>
            <a:endParaRPr lang="en-US" dirty="0"/>
          </a:p>
        </p:txBody>
      </p:sp>
      <p:sp>
        <p:nvSpPr>
          <p:cNvPr id="4" name="Footer Placeholder 3"/>
          <p:cNvSpPr>
            <a:spLocks noGrp="1"/>
          </p:cNvSpPr>
          <p:nvPr>
            <p:ph type="ftr" sz="quarter" idx="11"/>
          </p:nvPr>
        </p:nvSpPr>
        <p:spPr/>
        <p:txBody>
          <a:bodyPr/>
          <a:lstStyle/>
          <a:p>
            <a:r>
              <a:rPr lang="en-US"/>
              <a:t>Robust Federated 𝑄-Learning with Almost No Communication</a:t>
            </a:r>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04672" y="320040"/>
            <a:ext cx="3657600" cy="320040"/>
          </a:xfrm>
        </p:spPr>
        <p:txBody>
          <a:bodyPr/>
          <a:lstStyle/>
          <a:p>
            <a:fld id="{C3611661-1735-4B1E-8FCC-8A4A6E84D9C1}" type="datetime1">
              <a:rPr lang="en-US" smtClean="0"/>
              <a:t>5/31/2026</a:t>
            </a:fld>
            <a:endParaRPr lang="en-US" dirty="0"/>
          </a:p>
        </p:txBody>
      </p:sp>
      <p:sp>
        <p:nvSpPr>
          <p:cNvPr id="3" name="Footer Placeholder 2"/>
          <p:cNvSpPr>
            <a:spLocks noGrp="1"/>
          </p:cNvSpPr>
          <p:nvPr>
            <p:ph type="ftr" sz="quarter" idx="11"/>
          </p:nvPr>
        </p:nvSpPr>
        <p:spPr>
          <a:xfrm>
            <a:off x="1512039" y="6450833"/>
            <a:ext cx="10588752" cy="320040"/>
          </a:xfrm>
        </p:spPr>
        <p:txBody>
          <a:bodyPr/>
          <a:lstStyle>
            <a:lvl1pPr>
              <a:defRPr>
                <a:solidFill>
                  <a:schemeClr val="tx1"/>
                </a:solidFill>
              </a:defRPr>
            </a:lvl1pPr>
          </a:lstStyle>
          <a:p>
            <a:r>
              <a:rPr lang="en-US" dirty="0"/>
              <a:t>Robust Federated 𝑄-Learning with Almost No Communication</a:t>
            </a:r>
          </a:p>
        </p:txBody>
      </p:sp>
      <p:sp>
        <p:nvSpPr>
          <p:cNvPr id="4" name="Slide Number Placeholder 3"/>
          <p:cNvSpPr>
            <a:spLocks noGrp="1"/>
          </p:cNvSpPr>
          <p:nvPr>
            <p:ph type="sldNum" sz="quarter" idx="12"/>
          </p:nvPr>
        </p:nvSpPr>
        <p:spPr>
          <a:xfrm>
            <a:off x="10469880" y="320040"/>
            <a:ext cx="914400" cy="320040"/>
          </a:xfrm>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3041C-8D82-214B-6EC5-D6D35C298606}"/>
              </a:ext>
            </a:extLst>
          </p:cNvPr>
          <p:cNvSpPr>
            <a:spLocks noGrp="1"/>
          </p:cNvSpPr>
          <p:nvPr>
            <p:ph type="title"/>
          </p:nvPr>
        </p:nvSpPr>
        <p:spPr>
          <a:xfrm>
            <a:off x="801624" y="288052"/>
            <a:ext cx="10588752" cy="738492"/>
          </a:xfrm>
        </p:spPr>
        <p:txBody>
          <a:bodyPr/>
          <a:lstStyle/>
          <a:p>
            <a:r>
              <a:rPr lang="en-US"/>
              <a:t>Click to edit Master title style</a:t>
            </a:r>
            <a:endParaRPr lang="en-IN"/>
          </a:p>
        </p:txBody>
      </p:sp>
      <p:sp>
        <p:nvSpPr>
          <p:cNvPr id="4" name="Footer Placeholder 3">
            <a:extLst>
              <a:ext uri="{FF2B5EF4-FFF2-40B4-BE49-F238E27FC236}">
                <a16:creationId xmlns:a16="http://schemas.microsoft.com/office/drawing/2014/main" id="{959E6896-C13B-7CD5-978F-0603547B2F3E}"/>
              </a:ext>
            </a:extLst>
          </p:cNvPr>
          <p:cNvSpPr>
            <a:spLocks noGrp="1"/>
          </p:cNvSpPr>
          <p:nvPr>
            <p:ph type="ftr" sz="quarter" idx="11"/>
          </p:nvPr>
        </p:nvSpPr>
        <p:spPr>
          <a:xfrm>
            <a:off x="1493692" y="6397436"/>
            <a:ext cx="10588752" cy="320040"/>
          </a:xfrm>
        </p:spPr>
        <p:txBody>
          <a:bodyPr/>
          <a:lstStyle/>
          <a:p>
            <a:r>
              <a:rPr lang="en-US"/>
              <a:t>Robust Federated 𝑄-Learning with Almost No Communication</a:t>
            </a:r>
            <a:endParaRPr lang="en-US" dirty="0"/>
          </a:p>
        </p:txBody>
      </p:sp>
      <p:sp>
        <p:nvSpPr>
          <p:cNvPr id="5" name="Slide Number Placeholder 4">
            <a:extLst>
              <a:ext uri="{FF2B5EF4-FFF2-40B4-BE49-F238E27FC236}">
                <a16:creationId xmlns:a16="http://schemas.microsoft.com/office/drawing/2014/main" id="{AF9B4C4D-F43E-1959-8415-ED5FBCFE3AC8}"/>
              </a:ext>
            </a:extLst>
          </p:cNvPr>
          <p:cNvSpPr>
            <a:spLocks noGrp="1"/>
          </p:cNvSpPr>
          <p:nvPr>
            <p:ph type="sldNum" sz="quarter" idx="12"/>
          </p:nvPr>
        </p:nvSpPr>
        <p:spPr>
          <a:xfrm>
            <a:off x="109556" y="6397436"/>
            <a:ext cx="914400" cy="320040"/>
          </a:xfrm>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2713890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74" name="Group 73"/>
          <p:cNvGrpSpPr/>
          <p:nvPr/>
        </p:nvGrpSpPr>
        <p:grpSpPr>
          <a:xfrm>
            <a:off x="-417513" y="0"/>
            <a:ext cx="12584114" cy="6853238"/>
            <a:chOff x="-417513" y="0"/>
            <a:chExt cx="12584114" cy="6853238"/>
          </a:xfrm>
        </p:grpSpPr>
        <p:sp>
          <p:nvSpPr>
            <p:cNvPr id="75"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6"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79"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1"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2"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1" name="Group 20"/>
          <p:cNvGrpSpPr/>
          <p:nvPr/>
        </p:nvGrpSpPr>
        <p:grpSpPr>
          <a:xfrm>
            <a:off x="800144" y="1699589"/>
            <a:ext cx="3674476" cy="3470421"/>
            <a:chOff x="697883" y="1816768"/>
            <a:chExt cx="3674476" cy="3470421"/>
          </a:xfrm>
        </p:grpSpPr>
        <p:sp>
          <p:nvSpPr>
            <p:cNvPr id="22" name="Rectangle 2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2"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3" name="Rectangle 32"/>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1" y="2352026"/>
            <a:ext cx="3501197" cy="1223298"/>
          </a:xfrm>
        </p:spPr>
        <p:txBody>
          <a:bodyPr bIns="0" anchor="b">
            <a:noAutofit/>
          </a:bodyPr>
          <a:lstStyle>
            <a:lvl1pPr algn="ctr">
              <a:defRPr sz="3200">
                <a:solidFill>
                  <a:srgbClr val="FFFEFF"/>
                </a:solidFill>
              </a:defRPr>
            </a:lvl1pPr>
          </a:lstStyle>
          <a:p>
            <a:r>
              <a:rPr lang="en-US"/>
              <a:t>Click to edit Master title style</a:t>
            </a:r>
            <a:endParaRPr lang="en-US" dirty="0"/>
          </a:p>
        </p:txBody>
      </p:sp>
      <p:sp>
        <p:nvSpPr>
          <p:cNvPr id="3" name="Content Placeholder 2"/>
          <p:cNvSpPr>
            <a:spLocks noGrp="1"/>
          </p:cNvSpPr>
          <p:nvPr>
            <p:ph idx="1"/>
          </p:nvPr>
        </p:nvSpPr>
        <p:spPr>
          <a:xfrm>
            <a:off x="5109983" y="802809"/>
            <a:ext cx="6275035" cy="524994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88631" y="3580186"/>
            <a:ext cx="3501197" cy="1221164"/>
          </a:xfrm>
        </p:spPr>
        <p:txBody>
          <a:bodyPr/>
          <a:lstStyle>
            <a:lvl1pPr marL="0" indent="0" algn="ctr">
              <a:buNone/>
              <a:defRPr sz="1600">
                <a:solidFill>
                  <a:srgbClr val="FFFE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D6C985A-27F9-462A-9011-E26EFC8C8689}" type="datetime1">
              <a:rPr lang="en-US" smtClean="0"/>
              <a:t>5/31/2026</a:t>
            </a:fld>
            <a:endParaRPr lang="en-US" dirty="0"/>
          </a:p>
        </p:txBody>
      </p:sp>
      <p:sp>
        <p:nvSpPr>
          <p:cNvPr id="6" name="Footer Placeholder 5"/>
          <p:cNvSpPr>
            <a:spLocks noGrp="1"/>
          </p:cNvSpPr>
          <p:nvPr>
            <p:ph type="ftr" sz="quarter" idx="11"/>
          </p:nvPr>
        </p:nvSpPr>
        <p:spPr/>
        <p:txBody>
          <a:bodyPr/>
          <a:lstStyle/>
          <a:p>
            <a:r>
              <a:rPr lang="en-US"/>
              <a:t>Robust Federated 𝑄-Learning with Almost No Communication</a:t>
            </a:r>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73" name="Group 72"/>
          <p:cNvGrpSpPr/>
          <p:nvPr/>
        </p:nvGrpSpPr>
        <p:grpSpPr>
          <a:xfrm>
            <a:off x="-329674" y="-59376"/>
            <a:ext cx="12515851" cy="6923798"/>
            <a:chOff x="-329674" y="-51881"/>
            <a:chExt cx="12515851" cy="6923798"/>
          </a:xfrm>
        </p:grpSpPr>
        <p:sp>
          <p:nvSpPr>
            <p:cNvPr id="81"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76" name="Group 75"/>
          <p:cNvGrpSpPr/>
          <p:nvPr/>
        </p:nvGrpSpPr>
        <p:grpSpPr>
          <a:xfrm>
            <a:off x="805336" y="1698331"/>
            <a:ext cx="5941540" cy="3470421"/>
            <a:chOff x="805336" y="1698331"/>
            <a:chExt cx="5941540" cy="3470421"/>
          </a:xfrm>
        </p:grpSpPr>
        <p:sp>
          <p:nvSpPr>
            <p:cNvPr id="77" name="Rectangle 76"/>
            <p:cNvSpPr/>
            <p:nvPr/>
          </p:nvSpPr>
          <p:spPr>
            <a:xfrm>
              <a:off x="805336" y="1698331"/>
              <a:ext cx="5941540"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 name="Isosceles Triangle 9"/>
            <p:cNvSpPr/>
            <p:nvPr/>
          </p:nvSpPr>
          <p:spPr>
            <a:xfrm rot="10800000">
              <a:off x="3618113" y="4896349"/>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9" name="Rectangle 78"/>
            <p:cNvSpPr/>
            <p:nvPr/>
          </p:nvSpPr>
          <p:spPr>
            <a:xfrm>
              <a:off x="805336" y="2274403"/>
              <a:ext cx="5941540"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3" name="Picture Placeholder 2"/>
          <p:cNvSpPr>
            <a:spLocks noGrp="1" noChangeAspect="1"/>
          </p:cNvSpPr>
          <p:nvPr>
            <p:ph type="pic" idx="1"/>
          </p:nvPr>
        </p:nvSpPr>
        <p:spPr>
          <a:xfrm>
            <a:off x="7543510" y="0"/>
            <a:ext cx="4648490" cy="6858000"/>
          </a:xfrm>
          <a:solidFill>
            <a:schemeClr val="bg1">
              <a:lumMod val="65000"/>
              <a:lumOff val="3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885443" y="2360255"/>
            <a:ext cx="5776646" cy="1178032"/>
          </a:xfrm>
        </p:spPr>
        <p:txBody>
          <a:bodyPr bIns="0" anchor="b">
            <a:normAutofit/>
          </a:bodyPr>
          <a:lstStyle>
            <a:lvl1pPr>
              <a:defRPr sz="3600">
                <a:solidFill>
                  <a:srgbClr val="FFFE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885443" y="3545012"/>
            <a:ext cx="5776646" cy="1274198"/>
          </a:xfrm>
        </p:spPr>
        <p:txBody>
          <a:bodyPr>
            <a:normAutofit/>
          </a:bodyPr>
          <a:lstStyle>
            <a:lvl1pPr marL="0" indent="0" algn="ctr">
              <a:buNone/>
              <a:defRPr sz="1800">
                <a:solidFill>
                  <a:srgbClr val="FFFE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04672" y="320040"/>
            <a:ext cx="3657600" cy="320040"/>
          </a:xfrm>
        </p:spPr>
        <p:txBody>
          <a:bodyPr/>
          <a:lstStyle/>
          <a:p>
            <a:fld id="{9C2E6267-1B9F-46B1-9150-BACDE11CC4DB}" type="datetime1">
              <a:rPr lang="en-US" smtClean="0"/>
              <a:t>5/31/2026</a:t>
            </a:fld>
            <a:endParaRPr lang="en-US" dirty="0"/>
          </a:p>
        </p:txBody>
      </p:sp>
      <p:sp>
        <p:nvSpPr>
          <p:cNvPr id="6" name="Footer Placeholder 5"/>
          <p:cNvSpPr>
            <a:spLocks noGrp="1"/>
          </p:cNvSpPr>
          <p:nvPr>
            <p:ph type="ftr" sz="quarter" idx="11"/>
          </p:nvPr>
        </p:nvSpPr>
        <p:spPr>
          <a:xfrm>
            <a:off x="804672" y="6227064"/>
            <a:ext cx="5942203" cy="320040"/>
          </a:xfrm>
        </p:spPr>
        <p:txBody>
          <a:bodyPr/>
          <a:lstStyle/>
          <a:p>
            <a:r>
              <a:rPr lang="en-US"/>
              <a:t>Robust Federated 𝑄-Learning with Almost No Communication</a:t>
            </a:r>
            <a:endParaRPr lang="en-US" dirty="0"/>
          </a:p>
        </p:txBody>
      </p:sp>
      <p:sp>
        <p:nvSpPr>
          <p:cNvPr id="7" name="Slide Number Placeholder 6"/>
          <p:cNvSpPr>
            <a:spLocks noGrp="1"/>
          </p:cNvSpPr>
          <p:nvPr>
            <p:ph type="sldNum" sz="quarter" idx="12"/>
          </p:nvPr>
        </p:nvSpPr>
        <p:spPr>
          <a:xfrm>
            <a:off x="5828377" y="320040"/>
            <a:ext cx="914400" cy="320040"/>
          </a:xfrm>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75" name="Group 74"/>
          <p:cNvGrpSpPr/>
          <p:nvPr/>
        </p:nvGrpSpPr>
        <p:grpSpPr>
          <a:xfrm>
            <a:off x="-417513" y="0"/>
            <a:ext cx="12584114" cy="6853238"/>
            <a:chOff x="-417513" y="0"/>
            <a:chExt cx="12584114" cy="6853238"/>
          </a:xfrm>
        </p:grpSpPr>
        <p:sp>
          <p:nvSpPr>
            <p:cNvPr id="76"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3"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2" name="Group 21"/>
          <p:cNvGrpSpPr/>
          <p:nvPr/>
        </p:nvGrpSpPr>
        <p:grpSpPr>
          <a:xfrm>
            <a:off x="800144" y="1699589"/>
            <a:ext cx="3674476" cy="3470421"/>
            <a:chOff x="697883" y="1816768"/>
            <a:chExt cx="3674476" cy="3470421"/>
          </a:xfrm>
        </p:grpSpPr>
        <p:sp>
          <p:nvSpPr>
            <p:cNvPr id="23" name="Rectangle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2" y="2349925"/>
            <a:ext cx="3501196" cy="2456441"/>
          </a:xfrm>
        </p:spPr>
        <p:txBody>
          <a:bodyPr/>
          <a:lstStyle>
            <a:lvl1pPr>
              <a:defRPr>
                <a:solidFill>
                  <a:srgbClr val="FFFE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109983" y="794719"/>
            <a:ext cx="6275035" cy="52570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CFF0616-1B38-4EF6-A5E5-8239799EB0C1}" type="datetime1">
              <a:rPr lang="en-US" smtClean="0"/>
              <a:t>5/31/2026</a:t>
            </a:fld>
            <a:endParaRPr lang="en-US" dirty="0"/>
          </a:p>
        </p:txBody>
      </p:sp>
      <p:sp>
        <p:nvSpPr>
          <p:cNvPr id="5" name="Footer Placeholder 4"/>
          <p:cNvSpPr>
            <a:spLocks noGrp="1"/>
          </p:cNvSpPr>
          <p:nvPr>
            <p:ph type="ftr" sz="quarter" idx="11"/>
          </p:nvPr>
        </p:nvSpPr>
        <p:spPr/>
        <p:txBody>
          <a:bodyPr/>
          <a:lstStyle/>
          <a:p>
            <a:r>
              <a:rPr lang="en-US"/>
              <a:t>Robust Federated 𝑄-Learning with Almost No Communication</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75" name="Group 74"/>
          <p:cNvGrpSpPr/>
          <p:nvPr/>
        </p:nvGrpSpPr>
        <p:grpSpPr>
          <a:xfrm flipH="1">
            <a:off x="0" y="0"/>
            <a:ext cx="12584114" cy="6853238"/>
            <a:chOff x="-417513" y="0"/>
            <a:chExt cx="12584114" cy="6853238"/>
          </a:xfrm>
        </p:grpSpPr>
        <p:sp>
          <p:nvSpPr>
            <p:cNvPr id="76"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3"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2" name="Group 21"/>
          <p:cNvGrpSpPr/>
          <p:nvPr/>
        </p:nvGrpSpPr>
        <p:grpSpPr>
          <a:xfrm>
            <a:off x="7718948" y="1699589"/>
            <a:ext cx="3674476" cy="3470421"/>
            <a:chOff x="697883" y="1816768"/>
            <a:chExt cx="3674476" cy="3470421"/>
          </a:xfrm>
        </p:grpSpPr>
        <p:sp>
          <p:nvSpPr>
            <p:cNvPr id="23" name="Rectangle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Vertical Title 1"/>
          <p:cNvSpPr>
            <a:spLocks noGrp="1"/>
          </p:cNvSpPr>
          <p:nvPr>
            <p:ph type="title" orient="vert"/>
          </p:nvPr>
        </p:nvSpPr>
        <p:spPr>
          <a:xfrm>
            <a:off x="7807437" y="2349925"/>
            <a:ext cx="3501195" cy="2456442"/>
          </a:xfrm>
        </p:spPr>
        <p:txBody>
          <a:bodyPr vert="eaVert"/>
          <a:lstStyle>
            <a:lvl1pPr algn="l">
              <a:lnSpc>
                <a:spcPct val="80000"/>
              </a:lnSpc>
              <a:defRPr>
                <a:solidFill>
                  <a:srgbClr val="FFFE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802747" y="798444"/>
            <a:ext cx="6268622" cy="525730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04672" y="320040"/>
            <a:ext cx="3657600" cy="320040"/>
          </a:xfrm>
        </p:spPr>
        <p:txBody>
          <a:bodyPr/>
          <a:lstStyle/>
          <a:p>
            <a:fld id="{20979631-740D-4EAE-99A3-9F0E5E4C7DE5}" type="datetime1">
              <a:rPr lang="en-US" smtClean="0"/>
              <a:t>5/31/2026</a:t>
            </a:fld>
            <a:endParaRPr lang="en-US" dirty="0"/>
          </a:p>
        </p:txBody>
      </p:sp>
      <p:sp>
        <p:nvSpPr>
          <p:cNvPr id="5" name="Footer Placeholder 4"/>
          <p:cNvSpPr>
            <a:spLocks noGrp="1"/>
          </p:cNvSpPr>
          <p:nvPr>
            <p:ph type="ftr" sz="quarter" idx="11"/>
          </p:nvPr>
        </p:nvSpPr>
        <p:spPr>
          <a:xfrm>
            <a:off x="804672" y="6227064"/>
            <a:ext cx="10588752" cy="320040"/>
          </a:xfrm>
        </p:spPr>
        <p:txBody>
          <a:bodyPr/>
          <a:lstStyle/>
          <a:p>
            <a:r>
              <a:rPr lang="en-US"/>
              <a:t>Robust Federated 𝑄-Learning with Almost No Communication</a:t>
            </a:r>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91161" y="2358391"/>
            <a:ext cx="3498667" cy="2456485"/>
          </a:xfrm>
          <a:prstGeom prst="rect">
            <a:avLst/>
          </a:prstGeom>
        </p:spPr>
        <p:txBody>
          <a:bodyPr vert="horz" lIns="228600" tIns="228600" rIns="228600" bIns="22860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434982" y="794719"/>
            <a:ext cx="5950036" cy="525709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04672" y="320040"/>
            <a:ext cx="3657600" cy="320040"/>
          </a:xfrm>
          <a:prstGeom prst="rect">
            <a:avLst/>
          </a:prstGeom>
        </p:spPr>
        <p:txBody>
          <a:bodyPr vert="horz" lIns="91440" tIns="45720" rIns="91440" bIns="45720" rtlCol="0" anchor="ctr"/>
          <a:lstStyle>
            <a:lvl1pPr algn="l">
              <a:defRPr sz="1000">
                <a:solidFill>
                  <a:schemeClr val="tx1">
                    <a:tint val="75000"/>
                  </a:schemeClr>
                </a:solidFill>
              </a:defRPr>
            </a:lvl1pPr>
          </a:lstStyle>
          <a:p>
            <a:fld id="{B019961C-A11C-41C2-8B3A-FD12C3EF1AC5}" type="datetime1">
              <a:rPr lang="en-US" smtClean="0"/>
              <a:t>5/31/2026</a:t>
            </a:fld>
            <a:endParaRPr lang="en-US" dirty="0"/>
          </a:p>
        </p:txBody>
      </p:sp>
      <p:sp>
        <p:nvSpPr>
          <p:cNvPr id="5" name="Footer Placeholder 4"/>
          <p:cNvSpPr>
            <a:spLocks noGrp="1"/>
          </p:cNvSpPr>
          <p:nvPr>
            <p:ph type="ftr" sz="quarter" idx="3"/>
          </p:nvPr>
        </p:nvSpPr>
        <p:spPr>
          <a:xfrm>
            <a:off x="804672" y="6227064"/>
            <a:ext cx="10588752" cy="320040"/>
          </a:xfrm>
          <a:prstGeom prst="rect">
            <a:avLst/>
          </a:prstGeom>
        </p:spPr>
        <p:txBody>
          <a:bodyPr vert="horz" lIns="91440" tIns="45720" rIns="91440" bIns="45720" rtlCol="0" anchor="ctr"/>
          <a:lstStyle>
            <a:lvl1pPr algn="r">
              <a:defRPr sz="1000">
                <a:solidFill>
                  <a:schemeClr val="tx1">
                    <a:tint val="75000"/>
                  </a:schemeClr>
                </a:solidFill>
              </a:defRPr>
            </a:lvl1pPr>
          </a:lstStyle>
          <a:p>
            <a:r>
              <a:rPr lang="en-US"/>
              <a:t>Robust Federated 𝑄-Learning with Almost No Communication</a:t>
            </a:r>
            <a:endParaRPr lang="en-US" dirty="0"/>
          </a:p>
        </p:txBody>
      </p:sp>
      <p:sp>
        <p:nvSpPr>
          <p:cNvPr id="6" name="Slide Number Placeholder 5"/>
          <p:cNvSpPr>
            <a:spLocks noGrp="1"/>
          </p:cNvSpPr>
          <p:nvPr>
            <p:ph type="sldNum" sz="quarter" idx="4"/>
          </p:nvPr>
        </p:nvSpPr>
        <p:spPr>
          <a:xfrm>
            <a:off x="10469880" y="320040"/>
            <a:ext cx="914400" cy="320040"/>
          </a:xfrm>
          <a:prstGeom prst="rect">
            <a:avLst/>
          </a:prstGeom>
        </p:spPr>
        <p:txBody>
          <a:bodyPr vert="horz" lIns="91440" tIns="45720" rIns="91440" bIns="45720" rtlCol="0" anchor="ctr"/>
          <a:lstStyle>
            <a:lvl1pPr algn="r">
              <a:defRPr sz="1000">
                <a:solidFill>
                  <a:schemeClr val="tx1">
                    <a:tint val="75000"/>
                  </a:schemeClr>
                </a:solidFill>
              </a:defRPr>
            </a:lvl1pPr>
          </a:lstStyle>
          <a:p>
            <a:fld id="{6D22F896-40B5-4ADD-8801-0D06FADFA09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60" r:id="rId8"/>
    <p:sldLayoutId id="2147483656" r:id="rId9"/>
    <p:sldLayoutId id="2147483657" r:id="rId10"/>
    <p:sldLayoutId id="2147483658" r:id="rId11"/>
    <p:sldLayoutId id="2147483659" r:id="rId12"/>
  </p:sldLayoutIdLst>
  <p:hf hdr="0" dt="0"/>
  <p:txStyles>
    <p:titleStyle>
      <a:lvl1pPr algn="ctr" defTabSz="914400" rtl="0" eaLnBrk="1" latinLnBrk="0" hangingPunct="1">
        <a:lnSpc>
          <a:spcPct val="85000"/>
        </a:lnSpc>
        <a:spcBef>
          <a:spcPct val="0"/>
        </a:spcBef>
        <a:buNone/>
        <a:defRPr sz="4000" b="0" i="0" kern="1200" cap="none" spc="-15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10000"/>
        <a:buFont typeface="Wingdings" panose="05000000000000000000" pitchFamily="2" charset="2"/>
        <a:buChar char="§"/>
        <a:defRPr sz="18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600" kern="120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4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sv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19.png"/><Relationship Id="rId3" Type="http://schemas.openxmlformats.org/officeDocument/2006/relationships/image" Target="../media/image8.png"/><Relationship Id="rId7" Type="http://schemas.openxmlformats.org/officeDocument/2006/relationships/image" Target="../media/image15.png"/><Relationship Id="rId12"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4.png"/><Relationship Id="rId11" Type="http://schemas.openxmlformats.org/officeDocument/2006/relationships/image" Target="../media/image4.svg"/><Relationship Id="rId5" Type="http://schemas.openxmlformats.org/officeDocument/2006/relationships/image" Target="../media/image13.png"/><Relationship Id="rId10" Type="http://schemas.openxmlformats.org/officeDocument/2006/relationships/image" Target="../media/image18.png"/><Relationship Id="rId4" Type="http://schemas.openxmlformats.org/officeDocument/2006/relationships/image" Target="../media/image11.png"/><Relationship Id="rId9" Type="http://schemas.openxmlformats.org/officeDocument/2006/relationships/image" Target="../media/image17.png"/><Relationship Id="rId14" Type="http://schemas.openxmlformats.org/officeDocument/2006/relationships/image" Target="../media/image20.png"/></Relationships>
</file>

<file path=ppt/slides/_rels/slide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4.svg"/></Relationships>
</file>

<file path=ppt/slides/_rels/slide6.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image" Target="../media/image21.png"/><Relationship Id="rId3" Type="http://schemas.openxmlformats.org/officeDocument/2006/relationships/image" Target="../media/image25.png"/><Relationship Id="rId7" Type="http://schemas.openxmlformats.org/officeDocument/2006/relationships/image" Target="../media/image29.png"/><Relationship Id="rId12" Type="http://schemas.openxmlformats.org/officeDocument/2006/relationships/image" Target="../media/image34.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28.png"/><Relationship Id="rId11" Type="http://schemas.openxmlformats.org/officeDocument/2006/relationships/image" Target="../media/image33.png"/><Relationship Id="rId5" Type="http://schemas.openxmlformats.org/officeDocument/2006/relationships/image" Target="../media/image27.png"/><Relationship Id="rId15" Type="http://schemas.openxmlformats.org/officeDocument/2006/relationships/image" Target="../media/image37.png"/><Relationship Id="rId10" Type="http://schemas.openxmlformats.org/officeDocument/2006/relationships/image" Target="../media/image32.png"/><Relationship Id="rId4" Type="http://schemas.openxmlformats.org/officeDocument/2006/relationships/image" Target="../media/image26.png"/><Relationship Id="rId9" Type="http://schemas.openxmlformats.org/officeDocument/2006/relationships/image" Target="../media/image31.png"/><Relationship Id="rId14" Type="http://schemas.openxmlformats.org/officeDocument/2006/relationships/image" Target="../media/image35.png"/></Relationships>
</file>

<file path=ppt/slides/_rels/slide7.xml.rels><?xml version="1.0" encoding="UTF-8" standalone="yes"?>
<Relationships xmlns="http://schemas.openxmlformats.org/package/2006/relationships"><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8.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36.svg"/><Relationship Id="rId7" Type="http://schemas.openxmlformats.org/officeDocument/2006/relationships/image" Target="../media/image47.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46.png"/><Relationship Id="rId11" Type="http://schemas.openxmlformats.org/officeDocument/2006/relationships/image" Target="../media/image49.png"/><Relationship Id="rId5" Type="http://schemas.openxmlformats.org/officeDocument/2006/relationships/image" Target="../media/image45.png"/><Relationship Id="rId10" Type="http://schemas.openxmlformats.org/officeDocument/2006/relationships/image" Target="../media/image4.svg"/><Relationship Id="rId4" Type="http://schemas.openxmlformats.org/officeDocument/2006/relationships/image" Target="../media/image37.svg"/><Relationship Id="rId9" Type="http://schemas.openxmlformats.org/officeDocument/2006/relationships/image" Target="../media/image38.svg"/></Relationships>
</file>

<file path=ppt/slides/_rels/slide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51.png"/></Relationships>
</file>

<file path=ppt/slides/_rels/slide1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48.png"/><Relationship Id="rId4" Type="http://schemas.openxmlformats.org/officeDocument/2006/relationships/image" Target="../media/image4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F16503E1-3083-2A77-A861-8586EFD77B53}"/>
                  </a:ext>
                </a:extLst>
              </p:cNvPr>
              <p:cNvSpPr>
                <a:spLocks noGrp="1"/>
              </p:cNvSpPr>
              <p:nvPr>
                <p:ph type="ctrTitle"/>
              </p:nvPr>
            </p:nvSpPr>
            <p:spPr>
              <a:xfrm>
                <a:off x="1749554" y="1336621"/>
                <a:ext cx="8679915" cy="1748729"/>
              </a:xfrm>
            </p:spPr>
            <p:txBody>
              <a:bodyPr>
                <a:normAutofit fontScale="90000"/>
              </a:bodyPr>
              <a:lstStyle/>
              <a:p>
                <a:r>
                  <a:rPr lang="en-US" dirty="0"/>
                  <a:t>Corruption-Tolerant Asynchronous </a:t>
                </a:r>
                <a14:m>
                  <m:oMath xmlns:m="http://schemas.openxmlformats.org/officeDocument/2006/math">
                    <m:r>
                      <a:rPr lang="en-US" b="0" i="1" smtClean="0">
                        <a:latin typeface="Cambria Math" panose="02040503050406030204" pitchFamily="18" charset="0"/>
                      </a:rPr>
                      <m:t>𝑄</m:t>
                    </m:r>
                    <m:r>
                      <a:rPr lang="en-US" b="0" i="1" smtClean="0">
                        <a:latin typeface="Cambria Math" panose="02040503050406030204" pitchFamily="18" charset="0"/>
                      </a:rPr>
                      <m:t>−</m:t>
                    </m:r>
                  </m:oMath>
                </a14:m>
                <a:r>
                  <a:rPr lang="en-IN" dirty="0"/>
                  <a:t>Learning with Near-Optimal Rates</a:t>
                </a:r>
              </a:p>
            </p:txBody>
          </p:sp>
        </mc:Choice>
        <mc:Fallback xmlns="">
          <p:sp>
            <p:nvSpPr>
              <p:cNvPr id="2" name="Title 1">
                <a:extLst>
                  <a:ext uri="{FF2B5EF4-FFF2-40B4-BE49-F238E27FC236}">
                    <a16:creationId xmlns:a16="http://schemas.microsoft.com/office/drawing/2014/main" id="{F16503E1-3083-2A77-A861-8586EFD77B53}"/>
                  </a:ext>
                </a:extLst>
              </p:cNvPr>
              <p:cNvSpPr>
                <a:spLocks noGrp="1" noRot="1" noChangeAspect="1" noMove="1" noResize="1" noEditPoints="1" noAdjustHandles="1" noChangeArrowheads="1" noChangeShapeType="1" noTextEdit="1"/>
              </p:cNvSpPr>
              <p:nvPr>
                <p:ph type="ctrTitle"/>
              </p:nvPr>
            </p:nvSpPr>
            <p:spPr>
              <a:xfrm>
                <a:off x="1749554" y="1336621"/>
                <a:ext cx="8679915" cy="1748729"/>
              </a:xfrm>
              <a:blipFill>
                <a:blip r:embed="rId3"/>
                <a:stretch>
                  <a:fillRect l="-281" t="-21254" r="-1685" b="-21603"/>
                </a:stretch>
              </a:blipFill>
            </p:spPr>
            <p:txBody>
              <a:bodyPr/>
              <a:lstStyle/>
              <a:p>
                <a:r>
                  <a:rPr lang="en-IN">
                    <a:noFill/>
                  </a:rPr>
                  <a:t> </a:t>
                </a:r>
              </a:p>
            </p:txBody>
          </p:sp>
        </mc:Fallback>
      </mc:AlternateContent>
      <p:sp>
        <p:nvSpPr>
          <p:cNvPr id="3" name="Subtitle 2">
            <a:extLst>
              <a:ext uri="{FF2B5EF4-FFF2-40B4-BE49-F238E27FC236}">
                <a16:creationId xmlns:a16="http://schemas.microsoft.com/office/drawing/2014/main" id="{AF0BAF68-E83F-957C-1A6E-0902BF5EA386}"/>
              </a:ext>
            </a:extLst>
          </p:cNvPr>
          <p:cNvSpPr>
            <a:spLocks noGrp="1"/>
          </p:cNvSpPr>
          <p:nvPr>
            <p:ph type="subTitle" idx="1"/>
          </p:nvPr>
        </p:nvSpPr>
        <p:spPr>
          <a:xfrm>
            <a:off x="1756042" y="3085350"/>
            <a:ext cx="8673427" cy="1322587"/>
          </a:xfrm>
        </p:spPr>
        <p:txBody>
          <a:bodyPr/>
          <a:lstStyle/>
          <a:p>
            <a:r>
              <a:rPr lang="en-IN" b="1" dirty="0" err="1">
                <a:latin typeface="Cambria Math" panose="02040503050406030204" pitchFamily="18" charset="0"/>
                <a:ea typeface="Cambria Math" panose="02040503050406030204" pitchFamily="18" charset="0"/>
              </a:rPr>
              <a:t>Sreejeet</a:t>
            </a:r>
            <a:r>
              <a:rPr lang="en-IN" b="1" dirty="0">
                <a:latin typeface="Cambria Math" panose="02040503050406030204" pitchFamily="18" charset="0"/>
                <a:ea typeface="Cambria Math" panose="02040503050406030204" pitchFamily="18" charset="0"/>
              </a:rPr>
              <a:t> Maity    </a:t>
            </a:r>
            <a:r>
              <a:rPr lang="en-IN" dirty="0">
                <a:latin typeface="Cambria Math" panose="02040503050406030204" pitchFamily="18" charset="0"/>
                <a:ea typeface="Cambria Math" panose="02040503050406030204" pitchFamily="18" charset="0"/>
              </a:rPr>
              <a:t>Aritra Mitra</a:t>
            </a:r>
          </a:p>
          <a:p>
            <a:r>
              <a:rPr lang="en-IN" dirty="0">
                <a:latin typeface="Cambria Math" panose="02040503050406030204" pitchFamily="18" charset="0"/>
                <a:ea typeface="Cambria Math" panose="02040503050406030204" pitchFamily="18" charset="0"/>
              </a:rPr>
              <a:t> Department of Electrical and Computer Engineering</a:t>
            </a:r>
          </a:p>
          <a:p>
            <a:r>
              <a:rPr lang="en-IN" dirty="0">
                <a:latin typeface="Cambria Math" panose="02040503050406030204" pitchFamily="18" charset="0"/>
                <a:ea typeface="Cambria Math" panose="02040503050406030204" pitchFamily="18" charset="0"/>
              </a:rPr>
              <a:t>North Carolina State University, Raleigh        </a:t>
            </a:r>
          </a:p>
        </p:txBody>
      </p:sp>
      <p:pic>
        <p:nvPicPr>
          <p:cNvPr id="11" name="Picture 10">
            <a:extLst>
              <a:ext uri="{FF2B5EF4-FFF2-40B4-BE49-F238E27FC236}">
                <a16:creationId xmlns:a16="http://schemas.microsoft.com/office/drawing/2014/main" id="{AD5F71E0-651D-1FC2-679F-2B7232532345}"/>
              </a:ext>
            </a:extLst>
          </p:cNvPr>
          <p:cNvPicPr>
            <a:picLocks noChangeAspect="1"/>
          </p:cNvPicPr>
          <p:nvPr/>
        </p:nvPicPr>
        <p:blipFill>
          <a:blip r:embed="rId4"/>
          <a:stretch>
            <a:fillRect/>
          </a:stretch>
        </p:blipFill>
        <p:spPr>
          <a:xfrm>
            <a:off x="10429469" y="5887587"/>
            <a:ext cx="1645343" cy="892216"/>
          </a:xfrm>
          <a:prstGeom prst="rect">
            <a:avLst/>
          </a:prstGeom>
        </p:spPr>
      </p:pic>
      <p:pic>
        <p:nvPicPr>
          <p:cNvPr id="6" name="Graphic 5">
            <a:extLst>
              <a:ext uri="{FF2B5EF4-FFF2-40B4-BE49-F238E27FC236}">
                <a16:creationId xmlns:a16="http://schemas.microsoft.com/office/drawing/2014/main" id="{E63FE957-D73C-59AB-A56A-076D8138307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651325" y="5865403"/>
            <a:ext cx="2638425" cy="914400"/>
          </a:xfrm>
          <a:prstGeom prst="rect">
            <a:avLst/>
          </a:prstGeom>
        </p:spPr>
      </p:pic>
    </p:spTree>
    <p:extLst>
      <p:ext uri="{BB962C8B-B14F-4D97-AF65-F5344CB8AC3E}">
        <p14:creationId xmlns:p14="http://schemas.microsoft.com/office/powerpoint/2010/main" val="172938662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09FCEFD-2B1C-8648-FB71-19E385145FD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1F30ECC-6D42-B19A-B37F-67FC7DCE31D8}"/>
              </a:ext>
            </a:extLst>
          </p:cNvPr>
          <p:cNvSpPr>
            <a:spLocks noGrp="1"/>
          </p:cNvSpPr>
          <p:nvPr>
            <p:ph type="sldNum" sz="quarter" idx="12"/>
          </p:nvPr>
        </p:nvSpPr>
        <p:spPr>
          <a:xfrm>
            <a:off x="11116127" y="6487841"/>
            <a:ext cx="914400" cy="320040"/>
          </a:xfrm>
        </p:spPr>
        <p:txBody>
          <a:bodyPr/>
          <a:lstStyle/>
          <a:p>
            <a:fld id="{6D22F896-40B5-4ADD-8801-0D06FADFA095}" type="slidenum">
              <a:rPr lang="en-US" smtClean="0"/>
              <a:t>2</a:t>
            </a:fld>
            <a:endParaRPr lang="en-US" dirty="0"/>
          </a:p>
        </p:txBody>
      </p:sp>
      <p:sp>
        <p:nvSpPr>
          <p:cNvPr id="2" name="Title 1">
            <a:extLst>
              <a:ext uri="{FF2B5EF4-FFF2-40B4-BE49-F238E27FC236}">
                <a16:creationId xmlns:a16="http://schemas.microsoft.com/office/drawing/2014/main" id="{A9EF906C-DA94-1E0A-CE85-45ACB1D7E41C}"/>
              </a:ext>
            </a:extLst>
          </p:cNvPr>
          <p:cNvSpPr txBox="1">
            <a:spLocks/>
          </p:cNvSpPr>
          <p:nvPr/>
        </p:nvSpPr>
        <p:spPr>
          <a:xfrm>
            <a:off x="838200" y="365125"/>
            <a:ext cx="10515600" cy="850217"/>
          </a:xfrm>
          <a:prstGeom prst="rect">
            <a:avLst/>
          </a:prstGeom>
        </p:spPr>
        <p:txBody>
          <a:bodyPr/>
          <a:lstStyle>
            <a:lvl1pPr algn="ctr" defTabSz="914400" rtl="0" eaLnBrk="1" latinLnBrk="0" hangingPunct="1">
              <a:lnSpc>
                <a:spcPct val="85000"/>
              </a:lnSpc>
              <a:spcBef>
                <a:spcPct val="0"/>
              </a:spcBef>
              <a:buNone/>
              <a:defRPr sz="4000" b="0" i="0" kern="1200" cap="none" spc="-150">
                <a:solidFill>
                  <a:schemeClr val="tx1"/>
                </a:solidFill>
                <a:effectLst/>
                <a:latin typeface="+mj-lt"/>
                <a:ea typeface="+mj-ea"/>
                <a:cs typeface="+mj-cs"/>
              </a:defRPr>
            </a:lvl1pPr>
          </a:lstStyle>
          <a:p>
            <a:r>
              <a:rPr lang="en-US" dirty="0">
                <a:solidFill>
                  <a:srgbClr val="002060"/>
                </a:solidFill>
                <a:latin typeface="+mn-lt"/>
              </a:rPr>
              <a:t>Are RL algorithms </a:t>
            </a:r>
            <a:r>
              <a:rPr lang="en-US" b="1" i="1" dirty="0">
                <a:solidFill>
                  <a:schemeClr val="accent1"/>
                </a:solidFill>
                <a:latin typeface="+mn-lt"/>
              </a:rPr>
              <a:t>always</a:t>
            </a:r>
            <a:r>
              <a:rPr lang="en-US" dirty="0">
                <a:solidFill>
                  <a:srgbClr val="002060"/>
                </a:solidFill>
                <a:latin typeface="+mn-lt"/>
              </a:rPr>
              <a:t> trustworthy ?</a:t>
            </a:r>
            <a:endParaRPr lang="en-IN" dirty="0">
              <a:solidFill>
                <a:srgbClr val="002060"/>
              </a:solidFill>
              <a:latin typeface="+mn-lt"/>
            </a:endParaRPr>
          </a:p>
        </p:txBody>
      </p:sp>
      <p:sp>
        <p:nvSpPr>
          <p:cNvPr id="3" name="Content Placeholder 2">
            <a:extLst>
              <a:ext uri="{FF2B5EF4-FFF2-40B4-BE49-F238E27FC236}">
                <a16:creationId xmlns:a16="http://schemas.microsoft.com/office/drawing/2014/main" id="{205347F6-07A4-F8AE-00BA-3B559446E65B}"/>
              </a:ext>
            </a:extLst>
          </p:cNvPr>
          <p:cNvSpPr txBox="1">
            <a:spLocks/>
          </p:cNvSpPr>
          <p:nvPr/>
        </p:nvSpPr>
        <p:spPr>
          <a:xfrm>
            <a:off x="719478" y="1128906"/>
            <a:ext cx="5006418" cy="4706938"/>
          </a:xfrm>
          <a:prstGeom prst="rect">
            <a:avLst/>
          </a:prstGeom>
        </p:spPr>
        <p:txBody>
          <a:bodyPr>
            <a:noAutofit/>
          </a:bodyPr>
          <a:lstStyle>
            <a:lvl1pPr marL="228600" indent="-228600" algn="l" defTabSz="914400" rtl="0" eaLnBrk="1" latinLnBrk="0" hangingPunct="1">
              <a:lnSpc>
                <a:spcPct val="120000"/>
              </a:lnSpc>
              <a:spcBef>
                <a:spcPts val="1000"/>
              </a:spcBef>
              <a:buClr>
                <a:schemeClr val="accent1"/>
              </a:buClr>
              <a:buSzPct val="110000"/>
              <a:buFont typeface="Wingdings" panose="05000000000000000000" pitchFamily="2" charset="2"/>
              <a:buChar char="§"/>
              <a:defRPr sz="18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600" kern="120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4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9pPr>
          </a:lstStyle>
          <a:p>
            <a:pPr marL="0" indent="0">
              <a:buNone/>
            </a:pPr>
            <a:endParaRPr lang="en-US" sz="2200" dirty="0"/>
          </a:p>
          <a:p>
            <a:pPr>
              <a:buFont typeface="Wingdings" panose="05000000000000000000" pitchFamily="2" charset="2"/>
              <a:buChar char="q"/>
            </a:pPr>
            <a:r>
              <a:rPr lang="en-US" sz="2200" dirty="0"/>
              <a:t> RL algorithms learn from feedback.</a:t>
            </a:r>
          </a:p>
          <a:p>
            <a:pPr>
              <a:buFont typeface="Wingdings" panose="05000000000000000000" pitchFamily="2" charset="2"/>
              <a:buChar char="q"/>
            </a:pPr>
            <a:r>
              <a:rPr lang="en-US" sz="2200" dirty="0"/>
              <a:t> How critical is the assumption of “</a:t>
            </a:r>
            <a:r>
              <a:rPr lang="en-US" sz="2200" b="1" dirty="0">
                <a:solidFill>
                  <a:srgbClr val="11651F"/>
                </a:solidFill>
              </a:rPr>
              <a:t>perfect</a:t>
            </a:r>
            <a:r>
              <a:rPr lang="en-US" sz="2200" dirty="0"/>
              <a:t>”</a:t>
            </a:r>
            <a:r>
              <a:rPr lang="en-US" sz="2200" dirty="0">
                <a:solidFill>
                  <a:srgbClr val="0070C0"/>
                </a:solidFill>
              </a:rPr>
              <a:t> </a:t>
            </a:r>
            <a:r>
              <a:rPr lang="en-US" sz="2200" dirty="0"/>
              <a:t>feedback</a:t>
            </a:r>
            <a:r>
              <a:rPr lang="en-US" sz="2200" dirty="0">
                <a:solidFill>
                  <a:srgbClr val="0070C0"/>
                </a:solidFill>
              </a:rPr>
              <a:t> </a:t>
            </a:r>
            <a:r>
              <a:rPr lang="en-US" sz="2200" dirty="0"/>
              <a:t>in practical scenarios?</a:t>
            </a:r>
          </a:p>
          <a:p>
            <a:pPr>
              <a:buFont typeface="Wingdings" panose="05000000000000000000" pitchFamily="2" charset="2"/>
              <a:buChar char="q"/>
            </a:pPr>
            <a:r>
              <a:rPr lang="en-US" sz="2200" dirty="0"/>
              <a:t> In real-world settings, feedback can be </a:t>
            </a:r>
            <a:r>
              <a:rPr lang="en-US" sz="2200" b="1" dirty="0">
                <a:solidFill>
                  <a:srgbClr val="C00000"/>
                </a:solidFill>
              </a:rPr>
              <a:t>noisy</a:t>
            </a:r>
            <a:r>
              <a:rPr lang="en-US" sz="2200" dirty="0"/>
              <a:t>, contain </a:t>
            </a:r>
            <a:r>
              <a:rPr lang="en-US" sz="2200" b="1" dirty="0">
                <a:solidFill>
                  <a:srgbClr val="C00000"/>
                </a:solidFill>
              </a:rPr>
              <a:t>outliers</a:t>
            </a:r>
            <a:r>
              <a:rPr lang="en-US" sz="2200" dirty="0"/>
              <a:t>, or even be maliciously </a:t>
            </a:r>
            <a:r>
              <a:rPr lang="en-US" sz="2200" b="1" dirty="0">
                <a:solidFill>
                  <a:srgbClr val="C00000"/>
                </a:solidFill>
              </a:rPr>
              <a:t>corrupted</a:t>
            </a:r>
            <a:r>
              <a:rPr lang="en-US" sz="2200" b="1" dirty="0">
                <a:solidFill>
                  <a:schemeClr val="tx1">
                    <a:lumMod val="95000"/>
                    <a:lumOff val="5000"/>
                  </a:schemeClr>
                </a:solidFill>
              </a:rPr>
              <a:t>.</a:t>
            </a:r>
            <a:endParaRPr lang="en-IN" sz="2200" b="1" dirty="0">
              <a:solidFill>
                <a:schemeClr val="tx1">
                  <a:lumMod val="95000"/>
                  <a:lumOff val="5000"/>
                </a:schemeClr>
              </a:solidFill>
            </a:endParaRPr>
          </a:p>
        </p:txBody>
      </p:sp>
      <p:sp>
        <p:nvSpPr>
          <p:cNvPr id="25" name="TextBox 24">
            <a:extLst>
              <a:ext uri="{FF2B5EF4-FFF2-40B4-BE49-F238E27FC236}">
                <a16:creationId xmlns:a16="http://schemas.microsoft.com/office/drawing/2014/main" id="{02D14676-D29B-5D9E-FBE2-B16385B22069}"/>
              </a:ext>
            </a:extLst>
          </p:cNvPr>
          <p:cNvSpPr txBox="1"/>
          <p:nvPr/>
        </p:nvSpPr>
        <p:spPr>
          <a:xfrm>
            <a:off x="775228" y="5867026"/>
            <a:ext cx="8846524" cy="461665"/>
          </a:xfrm>
          <a:prstGeom prst="rect">
            <a:avLst/>
          </a:prstGeom>
          <a:noFill/>
        </p:spPr>
        <p:txBody>
          <a:bodyPr wrap="none" rtlCol="0">
            <a:spAutoFit/>
          </a:bodyPr>
          <a:lstStyle/>
          <a:p>
            <a:r>
              <a:rPr lang="en-US" sz="2400" dirty="0"/>
              <a:t>How</a:t>
            </a:r>
            <a:r>
              <a:rPr lang="en-US" sz="2400" dirty="0">
                <a:solidFill>
                  <a:srgbClr val="C00000"/>
                </a:solidFill>
              </a:rPr>
              <a:t> “reliable” </a:t>
            </a:r>
            <a:r>
              <a:rPr lang="en-US" sz="2400" dirty="0"/>
              <a:t>are RL Algorithms in such real-world settings ?</a:t>
            </a:r>
            <a:endParaRPr lang="en-IN" sz="2400" dirty="0"/>
          </a:p>
        </p:txBody>
      </p:sp>
      <p:sp>
        <p:nvSpPr>
          <p:cNvPr id="30" name="Rectangle 29">
            <a:extLst>
              <a:ext uri="{FF2B5EF4-FFF2-40B4-BE49-F238E27FC236}">
                <a16:creationId xmlns:a16="http://schemas.microsoft.com/office/drawing/2014/main" id="{6C713946-7346-7372-A249-7B208BDC6B9E}"/>
              </a:ext>
            </a:extLst>
          </p:cNvPr>
          <p:cNvSpPr/>
          <p:nvPr/>
        </p:nvSpPr>
        <p:spPr>
          <a:xfrm>
            <a:off x="761429" y="5835844"/>
            <a:ext cx="8758870" cy="567887"/>
          </a:xfrm>
          <a:custGeom>
            <a:avLst/>
            <a:gdLst>
              <a:gd name="csX0" fmla="*/ 0 w 8758870"/>
              <a:gd name="csY0" fmla="*/ 0 h 567887"/>
              <a:gd name="csX1" fmla="*/ 759102 w 8758870"/>
              <a:gd name="csY1" fmla="*/ 0 h 567887"/>
              <a:gd name="csX2" fmla="*/ 1167849 w 8758870"/>
              <a:gd name="csY2" fmla="*/ 0 h 567887"/>
              <a:gd name="csX3" fmla="*/ 1664185 w 8758870"/>
              <a:gd name="csY3" fmla="*/ 0 h 567887"/>
              <a:gd name="csX4" fmla="*/ 2335699 w 8758870"/>
              <a:gd name="csY4" fmla="*/ 0 h 567887"/>
              <a:gd name="csX5" fmla="*/ 2919623 w 8758870"/>
              <a:gd name="csY5" fmla="*/ 0 h 567887"/>
              <a:gd name="csX6" fmla="*/ 3678725 w 8758870"/>
              <a:gd name="csY6" fmla="*/ 0 h 567887"/>
              <a:gd name="csX7" fmla="*/ 3999884 w 8758870"/>
              <a:gd name="csY7" fmla="*/ 0 h 567887"/>
              <a:gd name="csX8" fmla="*/ 4583809 w 8758870"/>
              <a:gd name="csY8" fmla="*/ 0 h 567887"/>
              <a:gd name="csX9" fmla="*/ 5255322 w 8758870"/>
              <a:gd name="csY9" fmla="*/ 0 h 567887"/>
              <a:gd name="csX10" fmla="*/ 5839247 w 8758870"/>
              <a:gd name="csY10" fmla="*/ 0 h 567887"/>
              <a:gd name="csX11" fmla="*/ 6247994 w 8758870"/>
              <a:gd name="csY11" fmla="*/ 0 h 567887"/>
              <a:gd name="csX12" fmla="*/ 6656741 w 8758870"/>
              <a:gd name="csY12" fmla="*/ 0 h 567887"/>
              <a:gd name="csX13" fmla="*/ 7065488 w 8758870"/>
              <a:gd name="csY13" fmla="*/ 0 h 567887"/>
              <a:gd name="csX14" fmla="*/ 7649413 w 8758870"/>
              <a:gd name="csY14" fmla="*/ 0 h 567887"/>
              <a:gd name="csX15" fmla="*/ 8145749 w 8758870"/>
              <a:gd name="csY15" fmla="*/ 0 h 567887"/>
              <a:gd name="csX16" fmla="*/ 8758870 w 8758870"/>
              <a:gd name="csY16" fmla="*/ 0 h 567887"/>
              <a:gd name="csX17" fmla="*/ 8758870 w 8758870"/>
              <a:gd name="csY17" fmla="*/ 567887 h 567887"/>
              <a:gd name="csX18" fmla="*/ 8262534 w 8758870"/>
              <a:gd name="csY18" fmla="*/ 567887 h 567887"/>
              <a:gd name="csX19" fmla="*/ 7766198 w 8758870"/>
              <a:gd name="csY19" fmla="*/ 567887 h 567887"/>
              <a:gd name="csX20" fmla="*/ 7182273 w 8758870"/>
              <a:gd name="csY20" fmla="*/ 567887 h 567887"/>
              <a:gd name="csX21" fmla="*/ 6773526 w 8758870"/>
              <a:gd name="csY21" fmla="*/ 567887 h 567887"/>
              <a:gd name="csX22" fmla="*/ 6364779 w 8758870"/>
              <a:gd name="csY22" fmla="*/ 567887 h 567887"/>
              <a:gd name="csX23" fmla="*/ 5868443 w 8758870"/>
              <a:gd name="csY23" fmla="*/ 567887 h 567887"/>
              <a:gd name="csX24" fmla="*/ 5109341 w 8758870"/>
              <a:gd name="csY24" fmla="*/ 567887 h 567887"/>
              <a:gd name="csX25" fmla="*/ 4788182 w 8758870"/>
              <a:gd name="csY25" fmla="*/ 567887 h 567887"/>
              <a:gd name="csX26" fmla="*/ 4029080 w 8758870"/>
              <a:gd name="csY26" fmla="*/ 567887 h 567887"/>
              <a:gd name="csX27" fmla="*/ 3707922 w 8758870"/>
              <a:gd name="csY27" fmla="*/ 567887 h 567887"/>
              <a:gd name="csX28" fmla="*/ 3123997 w 8758870"/>
              <a:gd name="csY28" fmla="*/ 567887 h 567887"/>
              <a:gd name="csX29" fmla="*/ 2540072 w 8758870"/>
              <a:gd name="csY29" fmla="*/ 567887 h 567887"/>
              <a:gd name="csX30" fmla="*/ 2131325 w 8758870"/>
              <a:gd name="csY30" fmla="*/ 567887 h 567887"/>
              <a:gd name="csX31" fmla="*/ 1547400 w 8758870"/>
              <a:gd name="csY31" fmla="*/ 567887 h 567887"/>
              <a:gd name="csX32" fmla="*/ 1226242 w 8758870"/>
              <a:gd name="csY32" fmla="*/ 567887 h 567887"/>
              <a:gd name="csX33" fmla="*/ 554728 w 8758870"/>
              <a:gd name="csY33" fmla="*/ 567887 h 567887"/>
              <a:gd name="csX34" fmla="*/ 0 w 8758870"/>
              <a:gd name="csY34" fmla="*/ 567887 h 567887"/>
              <a:gd name="csX35" fmla="*/ 0 w 8758870"/>
              <a:gd name="csY35" fmla="*/ 0 h 56788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8758870" h="567887" fill="none" extrusionOk="0">
                <a:moveTo>
                  <a:pt x="0" y="0"/>
                </a:moveTo>
                <a:cubicBezTo>
                  <a:pt x="367356" y="-88754"/>
                  <a:pt x="577451" y="30613"/>
                  <a:pt x="759102" y="0"/>
                </a:cubicBezTo>
                <a:cubicBezTo>
                  <a:pt x="940753" y="-30613"/>
                  <a:pt x="974685" y="20728"/>
                  <a:pt x="1167849" y="0"/>
                </a:cubicBezTo>
                <a:cubicBezTo>
                  <a:pt x="1361013" y="-20728"/>
                  <a:pt x="1443548" y="3202"/>
                  <a:pt x="1664185" y="0"/>
                </a:cubicBezTo>
                <a:cubicBezTo>
                  <a:pt x="1884822" y="-3202"/>
                  <a:pt x="2142306" y="36300"/>
                  <a:pt x="2335699" y="0"/>
                </a:cubicBezTo>
                <a:cubicBezTo>
                  <a:pt x="2529092" y="-36300"/>
                  <a:pt x="2701234" y="39643"/>
                  <a:pt x="2919623" y="0"/>
                </a:cubicBezTo>
                <a:cubicBezTo>
                  <a:pt x="3138012" y="-39643"/>
                  <a:pt x="3387070" y="34722"/>
                  <a:pt x="3678725" y="0"/>
                </a:cubicBezTo>
                <a:cubicBezTo>
                  <a:pt x="3970380" y="-34722"/>
                  <a:pt x="3847876" y="5997"/>
                  <a:pt x="3999884" y="0"/>
                </a:cubicBezTo>
                <a:cubicBezTo>
                  <a:pt x="4151892" y="-5997"/>
                  <a:pt x="4365553" y="31163"/>
                  <a:pt x="4583809" y="0"/>
                </a:cubicBezTo>
                <a:cubicBezTo>
                  <a:pt x="4802065" y="-31163"/>
                  <a:pt x="4936569" y="20681"/>
                  <a:pt x="5255322" y="0"/>
                </a:cubicBezTo>
                <a:cubicBezTo>
                  <a:pt x="5574075" y="-20681"/>
                  <a:pt x="5676110" y="14689"/>
                  <a:pt x="5839247" y="0"/>
                </a:cubicBezTo>
                <a:cubicBezTo>
                  <a:pt x="6002384" y="-14689"/>
                  <a:pt x="6135523" y="15519"/>
                  <a:pt x="6247994" y="0"/>
                </a:cubicBezTo>
                <a:cubicBezTo>
                  <a:pt x="6360465" y="-15519"/>
                  <a:pt x="6511968" y="16924"/>
                  <a:pt x="6656741" y="0"/>
                </a:cubicBezTo>
                <a:cubicBezTo>
                  <a:pt x="6801514" y="-16924"/>
                  <a:pt x="6908997" y="14439"/>
                  <a:pt x="7065488" y="0"/>
                </a:cubicBezTo>
                <a:cubicBezTo>
                  <a:pt x="7221979" y="-14439"/>
                  <a:pt x="7378495" y="43762"/>
                  <a:pt x="7649413" y="0"/>
                </a:cubicBezTo>
                <a:cubicBezTo>
                  <a:pt x="7920331" y="-43762"/>
                  <a:pt x="8013040" y="51866"/>
                  <a:pt x="8145749" y="0"/>
                </a:cubicBezTo>
                <a:cubicBezTo>
                  <a:pt x="8278458" y="-51866"/>
                  <a:pt x="8545801" y="46270"/>
                  <a:pt x="8758870" y="0"/>
                </a:cubicBezTo>
                <a:cubicBezTo>
                  <a:pt x="8810183" y="117341"/>
                  <a:pt x="8716512" y="354920"/>
                  <a:pt x="8758870" y="567887"/>
                </a:cubicBezTo>
                <a:cubicBezTo>
                  <a:pt x="8545192" y="583818"/>
                  <a:pt x="8488366" y="510436"/>
                  <a:pt x="8262534" y="567887"/>
                </a:cubicBezTo>
                <a:cubicBezTo>
                  <a:pt x="8036702" y="625338"/>
                  <a:pt x="7880072" y="554154"/>
                  <a:pt x="7766198" y="567887"/>
                </a:cubicBezTo>
                <a:cubicBezTo>
                  <a:pt x="7652324" y="581620"/>
                  <a:pt x="7357653" y="550307"/>
                  <a:pt x="7182273" y="567887"/>
                </a:cubicBezTo>
                <a:cubicBezTo>
                  <a:pt x="7006893" y="585467"/>
                  <a:pt x="6975590" y="563620"/>
                  <a:pt x="6773526" y="567887"/>
                </a:cubicBezTo>
                <a:cubicBezTo>
                  <a:pt x="6571462" y="572154"/>
                  <a:pt x="6519613" y="529055"/>
                  <a:pt x="6364779" y="567887"/>
                </a:cubicBezTo>
                <a:cubicBezTo>
                  <a:pt x="6209945" y="606719"/>
                  <a:pt x="6069783" y="539501"/>
                  <a:pt x="5868443" y="567887"/>
                </a:cubicBezTo>
                <a:cubicBezTo>
                  <a:pt x="5667103" y="596273"/>
                  <a:pt x="5361713" y="495287"/>
                  <a:pt x="5109341" y="567887"/>
                </a:cubicBezTo>
                <a:cubicBezTo>
                  <a:pt x="4856969" y="640487"/>
                  <a:pt x="4918798" y="550191"/>
                  <a:pt x="4788182" y="567887"/>
                </a:cubicBezTo>
                <a:cubicBezTo>
                  <a:pt x="4657566" y="585583"/>
                  <a:pt x="4265662" y="561016"/>
                  <a:pt x="4029080" y="567887"/>
                </a:cubicBezTo>
                <a:cubicBezTo>
                  <a:pt x="3792498" y="574758"/>
                  <a:pt x="3848809" y="545452"/>
                  <a:pt x="3707922" y="567887"/>
                </a:cubicBezTo>
                <a:cubicBezTo>
                  <a:pt x="3567035" y="590322"/>
                  <a:pt x="3245014" y="504083"/>
                  <a:pt x="3123997" y="567887"/>
                </a:cubicBezTo>
                <a:cubicBezTo>
                  <a:pt x="3002980" y="631691"/>
                  <a:pt x="2822401" y="535550"/>
                  <a:pt x="2540072" y="567887"/>
                </a:cubicBezTo>
                <a:cubicBezTo>
                  <a:pt x="2257743" y="600224"/>
                  <a:pt x="2262765" y="543891"/>
                  <a:pt x="2131325" y="567887"/>
                </a:cubicBezTo>
                <a:cubicBezTo>
                  <a:pt x="1999885" y="591883"/>
                  <a:pt x="1782969" y="548767"/>
                  <a:pt x="1547400" y="567887"/>
                </a:cubicBezTo>
                <a:cubicBezTo>
                  <a:pt x="1311832" y="587007"/>
                  <a:pt x="1355763" y="535581"/>
                  <a:pt x="1226242" y="567887"/>
                </a:cubicBezTo>
                <a:cubicBezTo>
                  <a:pt x="1096721" y="600193"/>
                  <a:pt x="823946" y="503801"/>
                  <a:pt x="554728" y="567887"/>
                </a:cubicBezTo>
                <a:cubicBezTo>
                  <a:pt x="285510" y="631973"/>
                  <a:pt x="214712" y="519144"/>
                  <a:pt x="0" y="567887"/>
                </a:cubicBezTo>
                <a:cubicBezTo>
                  <a:pt x="-57821" y="399121"/>
                  <a:pt x="45688" y="241628"/>
                  <a:pt x="0" y="0"/>
                </a:cubicBezTo>
                <a:close/>
              </a:path>
              <a:path w="8758870" h="567887" stroke="0" extrusionOk="0">
                <a:moveTo>
                  <a:pt x="0" y="0"/>
                </a:moveTo>
                <a:cubicBezTo>
                  <a:pt x="166479" y="-10416"/>
                  <a:pt x="416855" y="60430"/>
                  <a:pt x="583925" y="0"/>
                </a:cubicBezTo>
                <a:cubicBezTo>
                  <a:pt x="750995" y="-60430"/>
                  <a:pt x="844574" y="33421"/>
                  <a:pt x="1080261" y="0"/>
                </a:cubicBezTo>
                <a:cubicBezTo>
                  <a:pt x="1315948" y="-33421"/>
                  <a:pt x="1491794" y="71303"/>
                  <a:pt x="1751774" y="0"/>
                </a:cubicBezTo>
                <a:cubicBezTo>
                  <a:pt x="2011754" y="-71303"/>
                  <a:pt x="2145512" y="48157"/>
                  <a:pt x="2335699" y="0"/>
                </a:cubicBezTo>
                <a:cubicBezTo>
                  <a:pt x="2525886" y="-48157"/>
                  <a:pt x="2569556" y="19202"/>
                  <a:pt x="2744446" y="0"/>
                </a:cubicBezTo>
                <a:cubicBezTo>
                  <a:pt x="2919336" y="-19202"/>
                  <a:pt x="3226045" y="52224"/>
                  <a:pt x="3415959" y="0"/>
                </a:cubicBezTo>
                <a:cubicBezTo>
                  <a:pt x="3605873" y="-52224"/>
                  <a:pt x="3870536" y="33667"/>
                  <a:pt x="3999884" y="0"/>
                </a:cubicBezTo>
                <a:cubicBezTo>
                  <a:pt x="4129232" y="-33667"/>
                  <a:pt x="4385720" y="83330"/>
                  <a:pt x="4758986" y="0"/>
                </a:cubicBezTo>
                <a:cubicBezTo>
                  <a:pt x="5132252" y="-83330"/>
                  <a:pt x="5114112" y="2522"/>
                  <a:pt x="5255322" y="0"/>
                </a:cubicBezTo>
                <a:cubicBezTo>
                  <a:pt x="5396532" y="-2522"/>
                  <a:pt x="5704705" y="87841"/>
                  <a:pt x="6014424" y="0"/>
                </a:cubicBezTo>
                <a:cubicBezTo>
                  <a:pt x="6324143" y="-87841"/>
                  <a:pt x="6402170" y="15816"/>
                  <a:pt x="6510760" y="0"/>
                </a:cubicBezTo>
                <a:cubicBezTo>
                  <a:pt x="6619350" y="-15816"/>
                  <a:pt x="6942460" y="60710"/>
                  <a:pt x="7094685" y="0"/>
                </a:cubicBezTo>
                <a:cubicBezTo>
                  <a:pt x="7246910" y="-60710"/>
                  <a:pt x="7406296" y="42044"/>
                  <a:pt x="7503432" y="0"/>
                </a:cubicBezTo>
                <a:cubicBezTo>
                  <a:pt x="7600568" y="-42044"/>
                  <a:pt x="7809729" y="8441"/>
                  <a:pt x="7912179" y="0"/>
                </a:cubicBezTo>
                <a:cubicBezTo>
                  <a:pt x="8014629" y="-8441"/>
                  <a:pt x="8339249" y="28641"/>
                  <a:pt x="8758870" y="0"/>
                </a:cubicBezTo>
                <a:cubicBezTo>
                  <a:pt x="8767507" y="234304"/>
                  <a:pt x="8745364" y="400260"/>
                  <a:pt x="8758870" y="567887"/>
                </a:cubicBezTo>
                <a:cubicBezTo>
                  <a:pt x="8428777" y="569780"/>
                  <a:pt x="8238858" y="558787"/>
                  <a:pt x="7999768" y="567887"/>
                </a:cubicBezTo>
                <a:cubicBezTo>
                  <a:pt x="7760678" y="576987"/>
                  <a:pt x="7800811" y="560119"/>
                  <a:pt x="7678609" y="567887"/>
                </a:cubicBezTo>
                <a:cubicBezTo>
                  <a:pt x="7556407" y="575655"/>
                  <a:pt x="7348465" y="545867"/>
                  <a:pt x="7094685" y="567887"/>
                </a:cubicBezTo>
                <a:cubicBezTo>
                  <a:pt x="6840905" y="589907"/>
                  <a:pt x="6630428" y="555546"/>
                  <a:pt x="6510760" y="567887"/>
                </a:cubicBezTo>
                <a:cubicBezTo>
                  <a:pt x="6391093" y="580228"/>
                  <a:pt x="6108637" y="519572"/>
                  <a:pt x="5926835" y="567887"/>
                </a:cubicBezTo>
                <a:cubicBezTo>
                  <a:pt x="5745033" y="616202"/>
                  <a:pt x="5629103" y="562692"/>
                  <a:pt x="5430499" y="567887"/>
                </a:cubicBezTo>
                <a:cubicBezTo>
                  <a:pt x="5231895" y="573082"/>
                  <a:pt x="5114949" y="523442"/>
                  <a:pt x="5021752" y="567887"/>
                </a:cubicBezTo>
                <a:cubicBezTo>
                  <a:pt x="4928555" y="612332"/>
                  <a:pt x="4808522" y="552657"/>
                  <a:pt x="4613005" y="567887"/>
                </a:cubicBezTo>
                <a:cubicBezTo>
                  <a:pt x="4417488" y="583117"/>
                  <a:pt x="4142908" y="497660"/>
                  <a:pt x="3853903" y="567887"/>
                </a:cubicBezTo>
                <a:cubicBezTo>
                  <a:pt x="3564898" y="638114"/>
                  <a:pt x="3651532" y="563882"/>
                  <a:pt x="3532744" y="567887"/>
                </a:cubicBezTo>
                <a:cubicBezTo>
                  <a:pt x="3413956" y="571892"/>
                  <a:pt x="3192060" y="520311"/>
                  <a:pt x="3036408" y="567887"/>
                </a:cubicBezTo>
                <a:cubicBezTo>
                  <a:pt x="2880756" y="615463"/>
                  <a:pt x="2829730" y="532204"/>
                  <a:pt x="2715250" y="567887"/>
                </a:cubicBezTo>
                <a:cubicBezTo>
                  <a:pt x="2600770" y="603570"/>
                  <a:pt x="2451299" y="564599"/>
                  <a:pt x="2306502" y="567887"/>
                </a:cubicBezTo>
                <a:cubicBezTo>
                  <a:pt x="2161705" y="571175"/>
                  <a:pt x="1923516" y="533652"/>
                  <a:pt x="1810166" y="567887"/>
                </a:cubicBezTo>
                <a:cubicBezTo>
                  <a:pt x="1696816" y="602122"/>
                  <a:pt x="1574661" y="527751"/>
                  <a:pt x="1401419" y="567887"/>
                </a:cubicBezTo>
                <a:cubicBezTo>
                  <a:pt x="1228177" y="608023"/>
                  <a:pt x="1101543" y="511462"/>
                  <a:pt x="817495" y="567887"/>
                </a:cubicBezTo>
                <a:cubicBezTo>
                  <a:pt x="533447" y="624312"/>
                  <a:pt x="654445" y="531301"/>
                  <a:pt x="496336" y="567887"/>
                </a:cubicBezTo>
                <a:cubicBezTo>
                  <a:pt x="338227" y="604473"/>
                  <a:pt x="109101" y="513794"/>
                  <a:pt x="0" y="567887"/>
                </a:cubicBezTo>
                <a:cubicBezTo>
                  <a:pt x="-18777" y="303305"/>
                  <a:pt x="60404" y="224893"/>
                  <a:pt x="0" y="0"/>
                </a:cubicBezTo>
                <a:close/>
              </a:path>
            </a:pathLst>
          </a:custGeom>
          <a:solidFill>
            <a:srgbClr val="92D050">
              <a:alpha val="15000"/>
            </a:srgbClr>
          </a:solidFill>
          <a:ln>
            <a:prstDash val="lgDashDot"/>
            <a:extLst>
              <a:ext uri="{C807C97D-BFC1-408E-A445-0C87EB9F89A2}">
                <ask:lineSketchStyleProps xmlns:ask="http://schemas.microsoft.com/office/drawing/2018/sketchyshapes" sd="2922943447">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2" name="Graphic 31" descr="Robot with solid fill">
            <a:extLst>
              <a:ext uri="{FF2B5EF4-FFF2-40B4-BE49-F238E27FC236}">
                <a16:creationId xmlns:a16="http://schemas.microsoft.com/office/drawing/2014/main" id="{F5B43B01-6ADA-D28D-2DBC-2E15E4199DF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891635" y="2234826"/>
            <a:ext cx="1064851" cy="1064851"/>
          </a:xfrm>
          <a:prstGeom prst="rect">
            <a:avLst/>
          </a:prstGeom>
        </p:spPr>
      </p:pic>
      <p:grpSp>
        <p:nvGrpSpPr>
          <p:cNvPr id="35" name="Graphic 33" descr="Earth globe: Americas with solid fill">
            <a:extLst>
              <a:ext uri="{FF2B5EF4-FFF2-40B4-BE49-F238E27FC236}">
                <a16:creationId xmlns:a16="http://schemas.microsoft.com/office/drawing/2014/main" id="{4A1AE49F-688C-6258-DA16-1E73F6F1B62D}"/>
              </a:ext>
            </a:extLst>
          </p:cNvPr>
          <p:cNvGrpSpPr/>
          <p:nvPr/>
        </p:nvGrpSpPr>
        <p:grpSpPr>
          <a:xfrm>
            <a:off x="8993157" y="2292660"/>
            <a:ext cx="936731" cy="936731"/>
            <a:chOff x="8782657" y="2822552"/>
            <a:chExt cx="936731" cy="936731"/>
          </a:xfrm>
          <a:solidFill>
            <a:srgbClr val="002060"/>
          </a:solidFill>
        </p:grpSpPr>
        <p:sp>
          <p:nvSpPr>
            <p:cNvPr id="36" name="Freeform: Shape 35">
              <a:extLst>
                <a:ext uri="{FF2B5EF4-FFF2-40B4-BE49-F238E27FC236}">
                  <a16:creationId xmlns:a16="http://schemas.microsoft.com/office/drawing/2014/main" id="{E0601BC6-EF68-26B4-5D40-18BF7A29B32F}"/>
                </a:ext>
              </a:extLst>
            </p:cNvPr>
            <p:cNvSpPr/>
            <p:nvPr/>
          </p:nvSpPr>
          <p:spPr>
            <a:xfrm>
              <a:off x="8782657" y="2822552"/>
              <a:ext cx="936731" cy="936731"/>
            </a:xfrm>
            <a:custGeom>
              <a:avLst/>
              <a:gdLst>
                <a:gd name="csX0" fmla="*/ 468366 w 936731"/>
                <a:gd name="csY0" fmla="*/ 0 h 936731"/>
                <a:gd name="csX1" fmla="*/ 0 w 936731"/>
                <a:gd name="csY1" fmla="*/ 468366 h 936731"/>
                <a:gd name="csX2" fmla="*/ 468366 w 936731"/>
                <a:gd name="csY2" fmla="*/ 936732 h 936731"/>
                <a:gd name="csX3" fmla="*/ 936732 w 936731"/>
                <a:gd name="csY3" fmla="*/ 468366 h 936731"/>
                <a:gd name="csX4" fmla="*/ 468366 w 936731"/>
                <a:gd name="csY4" fmla="*/ 0 h 936731"/>
                <a:gd name="csX5" fmla="*/ 49302 w 936731"/>
                <a:gd name="csY5" fmla="*/ 468366 h 936731"/>
                <a:gd name="csX6" fmla="*/ 160230 w 936731"/>
                <a:gd name="csY6" fmla="*/ 184881 h 936731"/>
                <a:gd name="csX7" fmla="*/ 184881 w 936731"/>
                <a:gd name="csY7" fmla="*/ 209532 h 936731"/>
                <a:gd name="csX8" fmla="*/ 184881 w 936731"/>
                <a:gd name="csY8" fmla="*/ 287182 h 936731"/>
                <a:gd name="csX9" fmla="*/ 189811 w 936731"/>
                <a:gd name="csY9" fmla="*/ 301973 h 936731"/>
                <a:gd name="csX10" fmla="*/ 271159 w 936731"/>
                <a:gd name="csY10" fmla="*/ 406739 h 936731"/>
                <a:gd name="csX11" fmla="*/ 277322 w 936731"/>
                <a:gd name="csY11" fmla="*/ 400576 h 936731"/>
                <a:gd name="csX12" fmla="*/ 279787 w 936731"/>
                <a:gd name="csY12" fmla="*/ 385786 h 936731"/>
                <a:gd name="csX13" fmla="*/ 264996 w 936731"/>
                <a:gd name="csY13" fmla="*/ 361135 h 936731"/>
                <a:gd name="csX14" fmla="*/ 279787 w 936731"/>
                <a:gd name="csY14" fmla="*/ 342647 h 936731"/>
                <a:gd name="csX15" fmla="*/ 287182 w 936731"/>
                <a:gd name="csY15" fmla="*/ 348809 h 936731"/>
                <a:gd name="csX16" fmla="*/ 327856 w 936731"/>
                <a:gd name="csY16" fmla="*/ 428925 h 936731"/>
                <a:gd name="csX17" fmla="*/ 348809 w 936731"/>
                <a:gd name="csY17" fmla="*/ 447413 h 936731"/>
                <a:gd name="csX18" fmla="*/ 403041 w 936731"/>
                <a:gd name="csY18" fmla="*/ 465901 h 936731"/>
                <a:gd name="csX19" fmla="*/ 410436 w 936731"/>
                <a:gd name="csY19" fmla="*/ 472063 h 936731"/>
                <a:gd name="csX20" fmla="*/ 414134 w 936731"/>
                <a:gd name="csY20" fmla="*/ 478226 h 936731"/>
                <a:gd name="csX21" fmla="*/ 436320 w 936731"/>
                <a:gd name="csY21" fmla="*/ 491784 h 936731"/>
                <a:gd name="csX22" fmla="*/ 451110 w 936731"/>
                <a:gd name="csY22" fmla="*/ 491784 h 936731"/>
                <a:gd name="csX23" fmla="*/ 460971 w 936731"/>
                <a:gd name="csY23" fmla="*/ 496714 h 936731"/>
                <a:gd name="csX24" fmla="*/ 476994 w 936731"/>
                <a:gd name="csY24" fmla="*/ 520133 h 936731"/>
                <a:gd name="csX25" fmla="*/ 491784 w 936731"/>
                <a:gd name="csY25" fmla="*/ 529993 h 936731"/>
                <a:gd name="csX26" fmla="*/ 517668 w 936731"/>
                <a:gd name="csY26" fmla="*/ 536156 h 936731"/>
                <a:gd name="csX27" fmla="*/ 526295 w 936731"/>
                <a:gd name="csY27" fmla="*/ 552179 h 936731"/>
                <a:gd name="csX28" fmla="*/ 506575 w 936731"/>
                <a:gd name="csY28" fmla="*/ 600248 h 936731"/>
                <a:gd name="csX29" fmla="*/ 580527 w 936731"/>
                <a:gd name="csY29" fmla="*/ 723502 h 936731"/>
                <a:gd name="csX30" fmla="*/ 569434 w 936731"/>
                <a:gd name="csY30" fmla="*/ 871407 h 936731"/>
                <a:gd name="csX31" fmla="*/ 469598 w 936731"/>
                <a:gd name="csY31" fmla="*/ 883732 h 936731"/>
                <a:gd name="csX32" fmla="*/ 49302 w 936731"/>
                <a:gd name="csY32" fmla="*/ 468366 h 936731"/>
                <a:gd name="csX33" fmla="*/ 626131 w 936731"/>
                <a:gd name="csY33" fmla="*/ 856616 h 936731"/>
                <a:gd name="csX34" fmla="*/ 714874 w 936731"/>
                <a:gd name="csY34" fmla="*/ 776501 h 936731"/>
                <a:gd name="csX35" fmla="*/ 739525 w 936731"/>
                <a:gd name="csY35" fmla="*/ 714874 h 936731"/>
                <a:gd name="csX36" fmla="*/ 825803 w 936731"/>
                <a:gd name="csY36" fmla="*/ 628596 h 936731"/>
                <a:gd name="csX37" fmla="*/ 739525 w 936731"/>
                <a:gd name="csY37" fmla="*/ 566969 h 936731"/>
                <a:gd name="csX38" fmla="*/ 591620 w 936731"/>
                <a:gd name="csY38" fmla="*/ 493017 h 936731"/>
                <a:gd name="csX39" fmla="*/ 529993 w 936731"/>
                <a:gd name="csY39" fmla="*/ 517668 h 936731"/>
                <a:gd name="csX40" fmla="*/ 505342 w 936731"/>
                <a:gd name="csY40" fmla="*/ 505342 h 936731"/>
                <a:gd name="csX41" fmla="*/ 505342 w 936731"/>
                <a:gd name="csY41" fmla="*/ 468366 h 936731"/>
                <a:gd name="csX42" fmla="*/ 493017 w 936731"/>
                <a:gd name="csY42" fmla="*/ 456040 h 936731"/>
                <a:gd name="csX43" fmla="*/ 468366 w 936731"/>
                <a:gd name="csY43" fmla="*/ 456040 h 936731"/>
                <a:gd name="csX44" fmla="*/ 468366 w 936731"/>
                <a:gd name="csY44" fmla="*/ 419064 h 936731"/>
                <a:gd name="csX45" fmla="*/ 456040 w 936731"/>
                <a:gd name="csY45" fmla="*/ 406739 h 936731"/>
                <a:gd name="csX46" fmla="*/ 443715 w 936731"/>
                <a:gd name="csY46" fmla="*/ 406739 h 936731"/>
                <a:gd name="csX47" fmla="*/ 430157 w 936731"/>
                <a:gd name="csY47" fmla="*/ 415367 h 936731"/>
                <a:gd name="csX48" fmla="*/ 394413 w 936731"/>
                <a:gd name="csY48" fmla="*/ 405506 h 936731"/>
                <a:gd name="csX49" fmla="*/ 382088 w 936731"/>
                <a:gd name="csY49" fmla="*/ 380855 h 936731"/>
                <a:gd name="csX50" fmla="*/ 443715 w 936731"/>
                <a:gd name="csY50" fmla="*/ 331554 h 936731"/>
                <a:gd name="csX51" fmla="*/ 470831 w 936731"/>
                <a:gd name="csY51" fmla="*/ 331554 h 936731"/>
                <a:gd name="csX52" fmla="*/ 483156 w 936731"/>
                <a:gd name="csY52" fmla="*/ 341414 h 936731"/>
                <a:gd name="csX53" fmla="*/ 490552 w 936731"/>
                <a:gd name="csY53" fmla="*/ 372228 h 936731"/>
                <a:gd name="csX54" fmla="*/ 502877 w 936731"/>
                <a:gd name="csY54" fmla="*/ 382088 h 936731"/>
                <a:gd name="csX55" fmla="*/ 507807 w 936731"/>
                <a:gd name="csY55" fmla="*/ 382088 h 936731"/>
                <a:gd name="csX56" fmla="*/ 520133 w 936731"/>
                <a:gd name="csY56" fmla="*/ 372228 h 936731"/>
                <a:gd name="csX57" fmla="*/ 528760 w 936731"/>
                <a:gd name="csY57" fmla="*/ 326624 h 936731"/>
                <a:gd name="csX58" fmla="*/ 533691 w 936731"/>
                <a:gd name="csY58" fmla="*/ 315531 h 936731"/>
                <a:gd name="csX59" fmla="*/ 568202 w 936731"/>
                <a:gd name="csY59" fmla="*/ 272392 h 936731"/>
                <a:gd name="csX60" fmla="*/ 596550 w 936731"/>
                <a:gd name="csY60" fmla="*/ 258834 h 936731"/>
                <a:gd name="csX61" fmla="*/ 628596 w 936731"/>
                <a:gd name="csY61" fmla="*/ 258834 h 936731"/>
                <a:gd name="csX62" fmla="*/ 640922 w 936731"/>
                <a:gd name="csY62" fmla="*/ 246508 h 936731"/>
                <a:gd name="csX63" fmla="*/ 640922 w 936731"/>
                <a:gd name="csY63" fmla="*/ 234183 h 936731"/>
                <a:gd name="csX64" fmla="*/ 637224 w 936731"/>
                <a:gd name="csY64" fmla="*/ 230485 h 936731"/>
                <a:gd name="csX65" fmla="*/ 645852 w 936731"/>
                <a:gd name="csY65" fmla="*/ 209532 h 936731"/>
                <a:gd name="csX66" fmla="*/ 653247 w 936731"/>
                <a:gd name="csY66" fmla="*/ 209532 h 936731"/>
                <a:gd name="csX67" fmla="*/ 665573 w 936731"/>
                <a:gd name="csY67" fmla="*/ 221858 h 936731"/>
                <a:gd name="csX68" fmla="*/ 677898 w 936731"/>
                <a:gd name="csY68" fmla="*/ 234183 h 936731"/>
                <a:gd name="csX69" fmla="*/ 690223 w 936731"/>
                <a:gd name="csY69" fmla="*/ 234183 h 936731"/>
                <a:gd name="csX70" fmla="*/ 697619 w 936731"/>
                <a:gd name="csY70" fmla="*/ 202137 h 936731"/>
                <a:gd name="csX71" fmla="*/ 686526 w 936731"/>
                <a:gd name="csY71" fmla="*/ 175021 h 936731"/>
                <a:gd name="csX72" fmla="*/ 581760 w 936731"/>
                <a:gd name="csY72" fmla="*/ 112161 h 936731"/>
                <a:gd name="csX73" fmla="*/ 575597 w 936731"/>
                <a:gd name="csY73" fmla="*/ 110929 h 936731"/>
                <a:gd name="csX74" fmla="*/ 554644 w 936731"/>
                <a:gd name="csY74" fmla="*/ 110929 h 936731"/>
                <a:gd name="csX75" fmla="*/ 529993 w 936731"/>
                <a:gd name="csY75" fmla="*/ 135580 h 936731"/>
                <a:gd name="csX76" fmla="*/ 529993 w 936731"/>
                <a:gd name="csY76" fmla="*/ 147905 h 936731"/>
                <a:gd name="csX77" fmla="*/ 517668 w 936731"/>
                <a:gd name="csY77" fmla="*/ 160230 h 936731"/>
                <a:gd name="csX78" fmla="*/ 505342 w 936731"/>
                <a:gd name="csY78" fmla="*/ 160230 h 936731"/>
                <a:gd name="csX79" fmla="*/ 493017 w 936731"/>
                <a:gd name="csY79" fmla="*/ 147905 h 936731"/>
                <a:gd name="csX80" fmla="*/ 456040 w 936731"/>
                <a:gd name="csY80" fmla="*/ 147905 h 936731"/>
                <a:gd name="csX81" fmla="*/ 443715 w 936731"/>
                <a:gd name="csY81" fmla="*/ 135580 h 936731"/>
                <a:gd name="csX82" fmla="*/ 443715 w 936731"/>
                <a:gd name="csY82" fmla="*/ 104766 h 936731"/>
                <a:gd name="csX83" fmla="*/ 448645 w 936731"/>
                <a:gd name="csY83" fmla="*/ 94906 h 936731"/>
                <a:gd name="csX84" fmla="*/ 527528 w 936731"/>
                <a:gd name="csY84" fmla="*/ 61627 h 936731"/>
                <a:gd name="csX85" fmla="*/ 539853 w 936731"/>
                <a:gd name="csY85" fmla="*/ 82580 h 936731"/>
                <a:gd name="csX86" fmla="*/ 548481 w 936731"/>
                <a:gd name="csY86" fmla="*/ 86278 h 936731"/>
                <a:gd name="csX87" fmla="*/ 579295 w 936731"/>
                <a:gd name="csY87" fmla="*/ 86278 h 936731"/>
                <a:gd name="csX88" fmla="*/ 591620 w 936731"/>
                <a:gd name="csY88" fmla="*/ 73953 h 936731"/>
                <a:gd name="csX89" fmla="*/ 591620 w 936731"/>
                <a:gd name="csY89" fmla="*/ 67790 h 936731"/>
                <a:gd name="csX90" fmla="*/ 887430 w 936731"/>
                <a:gd name="csY90" fmla="*/ 468366 h 936731"/>
                <a:gd name="csX91" fmla="*/ 626131 w 936731"/>
                <a:gd name="csY91" fmla="*/ 856616 h 9367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Lst>
              <a:rect l="l" t="t" r="r" b="b"/>
              <a:pathLst>
                <a:path w="936731" h="936731">
                  <a:moveTo>
                    <a:pt x="468366" y="0"/>
                  </a:moveTo>
                  <a:cubicBezTo>
                    <a:pt x="209532" y="0"/>
                    <a:pt x="0" y="209532"/>
                    <a:pt x="0" y="468366"/>
                  </a:cubicBezTo>
                  <a:cubicBezTo>
                    <a:pt x="0" y="727200"/>
                    <a:pt x="209532" y="936732"/>
                    <a:pt x="468366" y="936732"/>
                  </a:cubicBezTo>
                  <a:cubicBezTo>
                    <a:pt x="727200" y="936732"/>
                    <a:pt x="936732" y="727200"/>
                    <a:pt x="936732" y="468366"/>
                  </a:cubicBezTo>
                  <a:cubicBezTo>
                    <a:pt x="936732" y="209532"/>
                    <a:pt x="727200" y="0"/>
                    <a:pt x="468366" y="0"/>
                  </a:cubicBezTo>
                  <a:close/>
                  <a:moveTo>
                    <a:pt x="49302" y="468366"/>
                  </a:moveTo>
                  <a:cubicBezTo>
                    <a:pt x="49302" y="358670"/>
                    <a:pt x="91208" y="260066"/>
                    <a:pt x="160230" y="184881"/>
                  </a:cubicBezTo>
                  <a:cubicBezTo>
                    <a:pt x="171323" y="191044"/>
                    <a:pt x="182416" y="200904"/>
                    <a:pt x="184881" y="209532"/>
                  </a:cubicBezTo>
                  <a:lnTo>
                    <a:pt x="184881" y="287182"/>
                  </a:lnTo>
                  <a:cubicBezTo>
                    <a:pt x="184881" y="292112"/>
                    <a:pt x="186114" y="298275"/>
                    <a:pt x="189811" y="301973"/>
                  </a:cubicBezTo>
                  <a:lnTo>
                    <a:pt x="271159" y="406739"/>
                  </a:lnTo>
                  <a:lnTo>
                    <a:pt x="277322" y="400576"/>
                  </a:lnTo>
                  <a:cubicBezTo>
                    <a:pt x="281020" y="396878"/>
                    <a:pt x="282252" y="390716"/>
                    <a:pt x="279787" y="385786"/>
                  </a:cubicBezTo>
                  <a:lnTo>
                    <a:pt x="264996" y="361135"/>
                  </a:lnTo>
                  <a:cubicBezTo>
                    <a:pt x="258834" y="351274"/>
                    <a:pt x="268694" y="338949"/>
                    <a:pt x="279787" y="342647"/>
                  </a:cubicBezTo>
                  <a:cubicBezTo>
                    <a:pt x="283485" y="343879"/>
                    <a:pt x="285950" y="346344"/>
                    <a:pt x="287182" y="348809"/>
                  </a:cubicBezTo>
                  <a:lnTo>
                    <a:pt x="327856" y="428925"/>
                  </a:lnTo>
                  <a:cubicBezTo>
                    <a:pt x="332786" y="437552"/>
                    <a:pt x="340181" y="444948"/>
                    <a:pt x="348809" y="447413"/>
                  </a:cubicBezTo>
                  <a:lnTo>
                    <a:pt x="403041" y="465901"/>
                  </a:lnTo>
                  <a:cubicBezTo>
                    <a:pt x="406739" y="467133"/>
                    <a:pt x="409204" y="469598"/>
                    <a:pt x="410436" y="472063"/>
                  </a:cubicBezTo>
                  <a:lnTo>
                    <a:pt x="414134" y="478226"/>
                  </a:lnTo>
                  <a:cubicBezTo>
                    <a:pt x="417832" y="486854"/>
                    <a:pt x="426459" y="491784"/>
                    <a:pt x="436320" y="491784"/>
                  </a:cubicBezTo>
                  <a:lnTo>
                    <a:pt x="451110" y="491784"/>
                  </a:lnTo>
                  <a:cubicBezTo>
                    <a:pt x="454808" y="491784"/>
                    <a:pt x="458506" y="494249"/>
                    <a:pt x="460971" y="496714"/>
                  </a:cubicBezTo>
                  <a:lnTo>
                    <a:pt x="476994" y="520133"/>
                  </a:lnTo>
                  <a:cubicBezTo>
                    <a:pt x="480691" y="525063"/>
                    <a:pt x="485621" y="528760"/>
                    <a:pt x="491784" y="529993"/>
                  </a:cubicBezTo>
                  <a:lnTo>
                    <a:pt x="517668" y="536156"/>
                  </a:lnTo>
                  <a:cubicBezTo>
                    <a:pt x="525063" y="537388"/>
                    <a:pt x="528760" y="546016"/>
                    <a:pt x="526295" y="552179"/>
                  </a:cubicBezTo>
                  <a:cubicBezTo>
                    <a:pt x="526295" y="552179"/>
                    <a:pt x="506575" y="571899"/>
                    <a:pt x="506575" y="600248"/>
                  </a:cubicBezTo>
                  <a:cubicBezTo>
                    <a:pt x="506575" y="681596"/>
                    <a:pt x="580527" y="705014"/>
                    <a:pt x="580527" y="723502"/>
                  </a:cubicBezTo>
                  <a:cubicBezTo>
                    <a:pt x="580527" y="774036"/>
                    <a:pt x="573132" y="844291"/>
                    <a:pt x="569434" y="871407"/>
                  </a:cubicBezTo>
                  <a:cubicBezTo>
                    <a:pt x="537388" y="878802"/>
                    <a:pt x="504110" y="883732"/>
                    <a:pt x="469598" y="883732"/>
                  </a:cubicBezTo>
                  <a:cubicBezTo>
                    <a:pt x="237881" y="887430"/>
                    <a:pt x="49302" y="698851"/>
                    <a:pt x="49302" y="468366"/>
                  </a:cubicBezTo>
                  <a:close/>
                  <a:moveTo>
                    <a:pt x="626131" y="856616"/>
                  </a:moveTo>
                  <a:cubicBezTo>
                    <a:pt x="653247" y="833198"/>
                    <a:pt x="698851" y="793757"/>
                    <a:pt x="714874" y="776501"/>
                  </a:cubicBezTo>
                  <a:cubicBezTo>
                    <a:pt x="735827" y="753083"/>
                    <a:pt x="739525" y="714874"/>
                    <a:pt x="739525" y="714874"/>
                  </a:cubicBezTo>
                  <a:cubicBezTo>
                    <a:pt x="739525" y="714874"/>
                    <a:pt x="825803" y="691456"/>
                    <a:pt x="825803" y="628596"/>
                  </a:cubicBezTo>
                  <a:cubicBezTo>
                    <a:pt x="825803" y="585457"/>
                    <a:pt x="739525" y="566969"/>
                    <a:pt x="739525" y="566969"/>
                  </a:cubicBezTo>
                  <a:cubicBezTo>
                    <a:pt x="724735" y="518900"/>
                    <a:pt x="652015" y="493017"/>
                    <a:pt x="591620" y="493017"/>
                  </a:cubicBezTo>
                  <a:cubicBezTo>
                    <a:pt x="578062" y="493017"/>
                    <a:pt x="529993" y="517668"/>
                    <a:pt x="529993" y="517668"/>
                  </a:cubicBezTo>
                  <a:lnTo>
                    <a:pt x="505342" y="505342"/>
                  </a:lnTo>
                  <a:lnTo>
                    <a:pt x="505342" y="468366"/>
                  </a:lnTo>
                  <a:cubicBezTo>
                    <a:pt x="505342" y="460971"/>
                    <a:pt x="500412" y="456040"/>
                    <a:pt x="493017" y="456040"/>
                  </a:cubicBezTo>
                  <a:lnTo>
                    <a:pt x="468366" y="456040"/>
                  </a:lnTo>
                  <a:lnTo>
                    <a:pt x="468366" y="419064"/>
                  </a:lnTo>
                  <a:cubicBezTo>
                    <a:pt x="468366" y="411669"/>
                    <a:pt x="463436" y="406739"/>
                    <a:pt x="456040" y="406739"/>
                  </a:cubicBezTo>
                  <a:lnTo>
                    <a:pt x="443715" y="406739"/>
                  </a:lnTo>
                  <a:lnTo>
                    <a:pt x="430157" y="415367"/>
                  </a:lnTo>
                  <a:cubicBezTo>
                    <a:pt x="417832" y="423994"/>
                    <a:pt x="400576" y="419064"/>
                    <a:pt x="394413" y="405506"/>
                  </a:cubicBezTo>
                  <a:cubicBezTo>
                    <a:pt x="394413" y="405506"/>
                    <a:pt x="382088" y="388251"/>
                    <a:pt x="382088" y="380855"/>
                  </a:cubicBezTo>
                  <a:cubicBezTo>
                    <a:pt x="382088" y="327856"/>
                    <a:pt x="443715" y="331554"/>
                    <a:pt x="443715" y="331554"/>
                  </a:cubicBezTo>
                  <a:lnTo>
                    <a:pt x="470831" y="331554"/>
                  </a:lnTo>
                  <a:cubicBezTo>
                    <a:pt x="476994" y="331554"/>
                    <a:pt x="481924" y="335251"/>
                    <a:pt x="483156" y="341414"/>
                  </a:cubicBezTo>
                  <a:lnTo>
                    <a:pt x="490552" y="372228"/>
                  </a:lnTo>
                  <a:cubicBezTo>
                    <a:pt x="491784" y="377158"/>
                    <a:pt x="496714" y="382088"/>
                    <a:pt x="502877" y="382088"/>
                  </a:cubicBezTo>
                  <a:lnTo>
                    <a:pt x="507807" y="382088"/>
                  </a:lnTo>
                  <a:cubicBezTo>
                    <a:pt x="513970" y="382088"/>
                    <a:pt x="518900" y="378390"/>
                    <a:pt x="520133" y="372228"/>
                  </a:cubicBezTo>
                  <a:lnTo>
                    <a:pt x="528760" y="326624"/>
                  </a:lnTo>
                  <a:cubicBezTo>
                    <a:pt x="529993" y="322926"/>
                    <a:pt x="531225" y="319228"/>
                    <a:pt x="533691" y="315531"/>
                  </a:cubicBezTo>
                  <a:lnTo>
                    <a:pt x="568202" y="272392"/>
                  </a:lnTo>
                  <a:cubicBezTo>
                    <a:pt x="575597" y="263764"/>
                    <a:pt x="585457" y="258834"/>
                    <a:pt x="596550" y="258834"/>
                  </a:cubicBezTo>
                  <a:lnTo>
                    <a:pt x="628596" y="258834"/>
                  </a:lnTo>
                  <a:cubicBezTo>
                    <a:pt x="635992" y="258834"/>
                    <a:pt x="640922" y="253904"/>
                    <a:pt x="640922" y="246508"/>
                  </a:cubicBezTo>
                  <a:lnTo>
                    <a:pt x="640922" y="234183"/>
                  </a:lnTo>
                  <a:lnTo>
                    <a:pt x="637224" y="230485"/>
                  </a:lnTo>
                  <a:cubicBezTo>
                    <a:pt x="629829" y="223090"/>
                    <a:pt x="634759" y="209532"/>
                    <a:pt x="645852" y="209532"/>
                  </a:cubicBezTo>
                  <a:lnTo>
                    <a:pt x="653247" y="209532"/>
                  </a:lnTo>
                  <a:cubicBezTo>
                    <a:pt x="660642" y="209532"/>
                    <a:pt x="665573" y="214462"/>
                    <a:pt x="665573" y="221858"/>
                  </a:cubicBezTo>
                  <a:cubicBezTo>
                    <a:pt x="665573" y="229253"/>
                    <a:pt x="670503" y="234183"/>
                    <a:pt x="677898" y="234183"/>
                  </a:cubicBezTo>
                  <a:lnTo>
                    <a:pt x="690223" y="234183"/>
                  </a:lnTo>
                  <a:lnTo>
                    <a:pt x="697619" y="202137"/>
                  </a:lnTo>
                  <a:cubicBezTo>
                    <a:pt x="700084" y="191044"/>
                    <a:pt x="695154" y="181184"/>
                    <a:pt x="686526" y="175021"/>
                  </a:cubicBezTo>
                  <a:lnTo>
                    <a:pt x="581760" y="112161"/>
                  </a:lnTo>
                  <a:cubicBezTo>
                    <a:pt x="580527" y="110929"/>
                    <a:pt x="578062" y="110929"/>
                    <a:pt x="575597" y="110929"/>
                  </a:cubicBezTo>
                  <a:lnTo>
                    <a:pt x="554644" y="110929"/>
                  </a:lnTo>
                  <a:cubicBezTo>
                    <a:pt x="541086" y="110929"/>
                    <a:pt x="529993" y="122022"/>
                    <a:pt x="529993" y="135580"/>
                  </a:cubicBezTo>
                  <a:lnTo>
                    <a:pt x="529993" y="147905"/>
                  </a:lnTo>
                  <a:cubicBezTo>
                    <a:pt x="529993" y="155300"/>
                    <a:pt x="525063" y="160230"/>
                    <a:pt x="517668" y="160230"/>
                  </a:cubicBezTo>
                  <a:lnTo>
                    <a:pt x="505342" y="160230"/>
                  </a:lnTo>
                  <a:lnTo>
                    <a:pt x="493017" y="147905"/>
                  </a:lnTo>
                  <a:lnTo>
                    <a:pt x="456040" y="147905"/>
                  </a:lnTo>
                  <a:cubicBezTo>
                    <a:pt x="448645" y="147905"/>
                    <a:pt x="443715" y="142975"/>
                    <a:pt x="443715" y="135580"/>
                  </a:cubicBezTo>
                  <a:lnTo>
                    <a:pt x="443715" y="104766"/>
                  </a:lnTo>
                  <a:cubicBezTo>
                    <a:pt x="443715" y="101068"/>
                    <a:pt x="444948" y="97371"/>
                    <a:pt x="448645" y="94906"/>
                  </a:cubicBezTo>
                  <a:lnTo>
                    <a:pt x="527528" y="61627"/>
                  </a:lnTo>
                  <a:lnTo>
                    <a:pt x="539853" y="82580"/>
                  </a:lnTo>
                  <a:cubicBezTo>
                    <a:pt x="542318" y="85045"/>
                    <a:pt x="544783" y="86278"/>
                    <a:pt x="548481" y="86278"/>
                  </a:cubicBezTo>
                  <a:lnTo>
                    <a:pt x="579295" y="86278"/>
                  </a:lnTo>
                  <a:cubicBezTo>
                    <a:pt x="586690" y="86278"/>
                    <a:pt x="591620" y="81348"/>
                    <a:pt x="591620" y="73953"/>
                  </a:cubicBezTo>
                  <a:lnTo>
                    <a:pt x="591620" y="67790"/>
                  </a:lnTo>
                  <a:cubicBezTo>
                    <a:pt x="762943" y="120789"/>
                    <a:pt x="887430" y="279787"/>
                    <a:pt x="887430" y="468366"/>
                  </a:cubicBezTo>
                  <a:cubicBezTo>
                    <a:pt x="887430" y="643387"/>
                    <a:pt x="778966" y="793757"/>
                    <a:pt x="626131" y="856616"/>
                  </a:cubicBezTo>
                  <a:close/>
                </a:path>
              </a:pathLst>
            </a:custGeom>
            <a:grpFill/>
            <a:ln w="12303" cap="flat">
              <a:solidFill>
                <a:srgbClr val="002060"/>
              </a:solidFill>
              <a:prstDash val="solid"/>
              <a:miter/>
            </a:ln>
          </p:spPr>
        </p:sp>
        <p:sp>
          <p:nvSpPr>
            <p:cNvPr id="37" name="Freeform: Shape 36">
              <a:extLst>
                <a:ext uri="{FF2B5EF4-FFF2-40B4-BE49-F238E27FC236}">
                  <a16:creationId xmlns:a16="http://schemas.microsoft.com/office/drawing/2014/main" id="{6E6BC246-CA60-F2D1-CC58-6F6810584EB2}"/>
                </a:ext>
              </a:extLst>
            </p:cNvPr>
            <p:cNvSpPr/>
            <p:nvPr/>
          </p:nvSpPr>
          <p:spPr>
            <a:xfrm>
              <a:off x="9284747" y="3218506"/>
              <a:ext cx="126505" cy="42239"/>
            </a:xfrm>
            <a:custGeom>
              <a:avLst/>
              <a:gdLst>
                <a:gd name="csX0" fmla="*/ 117878 w 126505"/>
                <a:gd name="csY0" fmla="*/ 20645 h 42239"/>
                <a:gd name="csX1" fmla="*/ 58716 w 126505"/>
                <a:gd name="csY1" fmla="*/ 924 h 42239"/>
                <a:gd name="csX2" fmla="*/ 45158 w 126505"/>
                <a:gd name="csY2" fmla="*/ 924 h 42239"/>
                <a:gd name="csX3" fmla="*/ 3252 w 126505"/>
                <a:gd name="csY3" fmla="*/ 10785 h 42239"/>
                <a:gd name="csX4" fmla="*/ 3252 w 126505"/>
                <a:gd name="csY4" fmla="*/ 23110 h 42239"/>
                <a:gd name="csX5" fmla="*/ 59949 w 126505"/>
                <a:gd name="csY5" fmla="*/ 23110 h 42239"/>
                <a:gd name="csX6" fmla="*/ 68576 w 126505"/>
                <a:gd name="csY6" fmla="*/ 24343 h 42239"/>
                <a:gd name="csX7" fmla="*/ 111715 w 126505"/>
                <a:gd name="csY7" fmla="*/ 41598 h 42239"/>
                <a:gd name="csX8" fmla="*/ 126506 w 126505"/>
                <a:gd name="csY8" fmla="*/ 31738 h 42239"/>
                <a:gd name="csX9" fmla="*/ 117878 w 126505"/>
                <a:gd name="csY9" fmla="*/ 20645 h 4223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26505" h="42239">
                  <a:moveTo>
                    <a:pt x="117878" y="20645"/>
                  </a:moveTo>
                  <a:lnTo>
                    <a:pt x="58716" y="924"/>
                  </a:lnTo>
                  <a:cubicBezTo>
                    <a:pt x="53786" y="-308"/>
                    <a:pt x="50088" y="-308"/>
                    <a:pt x="45158" y="924"/>
                  </a:cubicBezTo>
                  <a:lnTo>
                    <a:pt x="3252" y="10785"/>
                  </a:lnTo>
                  <a:cubicBezTo>
                    <a:pt x="-446" y="13250"/>
                    <a:pt x="-1678" y="18180"/>
                    <a:pt x="3252" y="23110"/>
                  </a:cubicBezTo>
                  <a:lnTo>
                    <a:pt x="59949" y="23110"/>
                  </a:lnTo>
                  <a:cubicBezTo>
                    <a:pt x="63646" y="23110"/>
                    <a:pt x="66111" y="23110"/>
                    <a:pt x="68576" y="24343"/>
                  </a:cubicBezTo>
                  <a:lnTo>
                    <a:pt x="111715" y="41598"/>
                  </a:lnTo>
                  <a:cubicBezTo>
                    <a:pt x="119111" y="44063"/>
                    <a:pt x="126506" y="39133"/>
                    <a:pt x="126506" y="31738"/>
                  </a:cubicBezTo>
                  <a:cubicBezTo>
                    <a:pt x="126506" y="26808"/>
                    <a:pt x="122808" y="21878"/>
                    <a:pt x="117878" y="20645"/>
                  </a:cubicBezTo>
                  <a:close/>
                </a:path>
              </a:pathLst>
            </a:custGeom>
            <a:grpFill/>
            <a:ln w="12303" cap="flat">
              <a:solidFill>
                <a:srgbClr val="002060"/>
              </a:solidFill>
              <a:prstDash val="solid"/>
              <a:miter/>
            </a:ln>
          </p:spPr>
        </p:sp>
      </p:grpSp>
      <p:sp>
        <p:nvSpPr>
          <p:cNvPr id="38" name="TextBox 37">
            <a:extLst>
              <a:ext uri="{FF2B5EF4-FFF2-40B4-BE49-F238E27FC236}">
                <a16:creationId xmlns:a16="http://schemas.microsoft.com/office/drawing/2014/main" id="{95740AE2-1BAF-D2BD-AD81-5ECA25EDD996}"/>
              </a:ext>
            </a:extLst>
          </p:cNvPr>
          <p:cNvSpPr txBox="1"/>
          <p:nvPr/>
        </p:nvSpPr>
        <p:spPr>
          <a:xfrm>
            <a:off x="7013435" y="3266965"/>
            <a:ext cx="843693" cy="369332"/>
          </a:xfrm>
          <a:prstGeom prst="rect">
            <a:avLst/>
          </a:prstGeom>
          <a:noFill/>
        </p:spPr>
        <p:txBody>
          <a:bodyPr wrap="none" rtlCol="0">
            <a:spAutoFit/>
          </a:bodyPr>
          <a:lstStyle/>
          <a:p>
            <a:r>
              <a:rPr lang="en-US" b="1" dirty="0"/>
              <a:t>Agent</a:t>
            </a:r>
            <a:endParaRPr lang="en-IN" b="1" dirty="0"/>
          </a:p>
        </p:txBody>
      </p:sp>
      <p:sp>
        <p:nvSpPr>
          <p:cNvPr id="39" name="TextBox 38">
            <a:extLst>
              <a:ext uri="{FF2B5EF4-FFF2-40B4-BE49-F238E27FC236}">
                <a16:creationId xmlns:a16="http://schemas.microsoft.com/office/drawing/2014/main" id="{0E6CDF85-722B-A1B9-166F-E2B3D16A5DCA}"/>
              </a:ext>
            </a:extLst>
          </p:cNvPr>
          <p:cNvSpPr txBox="1"/>
          <p:nvPr/>
        </p:nvSpPr>
        <p:spPr>
          <a:xfrm>
            <a:off x="8727310" y="3266965"/>
            <a:ext cx="1662378" cy="369332"/>
          </a:xfrm>
          <a:prstGeom prst="rect">
            <a:avLst/>
          </a:prstGeom>
          <a:noFill/>
        </p:spPr>
        <p:txBody>
          <a:bodyPr wrap="none" rtlCol="0">
            <a:spAutoFit/>
          </a:bodyPr>
          <a:lstStyle/>
          <a:p>
            <a:r>
              <a:rPr lang="en-US" b="1" dirty="0"/>
              <a:t>Environment</a:t>
            </a:r>
            <a:endParaRPr lang="en-IN" b="1" dirty="0"/>
          </a:p>
        </p:txBody>
      </p:sp>
      <p:sp>
        <p:nvSpPr>
          <p:cNvPr id="40" name="Arrow: U-Turn 39">
            <a:extLst>
              <a:ext uri="{FF2B5EF4-FFF2-40B4-BE49-F238E27FC236}">
                <a16:creationId xmlns:a16="http://schemas.microsoft.com/office/drawing/2014/main" id="{056B46D9-29B6-D19D-8FAD-E2431F36E361}"/>
              </a:ext>
            </a:extLst>
          </p:cNvPr>
          <p:cNvSpPr/>
          <p:nvPr/>
        </p:nvSpPr>
        <p:spPr>
          <a:xfrm>
            <a:off x="7374078" y="1588531"/>
            <a:ext cx="2146221" cy="608722"/>
          </a:xfrm>
          <a:prstGeom prst="uturnArrow">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41" name="Arrow: Left 40">
            <a:extLst>
              <a:ext uri="{FF2B5EF4-FFF2-40B4-BE49-F238E27FC236}">
                <a16:creationId xmlns:a16="http://schemas.microsoft.com/office/drawing/2014/main" id="{EA94B81A-BCF3-BF5A-597A-CD58A606B3F7}"/>
              </a:ext>
            </a:extLst>
          </p:cNvPr>
          <p:cNvSpPr/>
          <p:nvPr/>
        </p:nvSpPr>
        <p:spPr>
          <a:xfrm>
            <a:off x="8084565" y="2608837"/>
            <a:ext cx="657547" cy="376354"/>
          </a:xfrm>
          <a:prstGeom prst="leftArrow">
            <a:avLst/>
          </a:prstGeom>
          <a:solidFill>
            <a:srgbClr val="002060">
              <a:alpha val="85000"/>
            </a:srgbClr>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 name="TextBox 41">
            <a:extLst>
              <a:ext uri="{FF2B5EF4-FFF2-40B4-BE49-F238E27FC236}">
                <a16:creationId xmlns:a16="http://schemas.microsoft.com/office/drawing/2014/main" id="{C859B9BB-1D15-563F-847F-26F84B4895B3}"/>
              </a:ext>
            </a:extLst>
          </p:cNvPr>
          <p:cNvSpPr txBox="1"/>
          <p:nvPr/>
        </p:nvSpPr>
        <p:spPr>
          <a:xfrm>
            <a:off x="7956486" y="1188707"/>
            <a:ext cx="915635" cy="369332"/>
          </a:xfrm>
          <a:prstGeom prst="rect">
            <a:avLst/>
          </a:prstGeom>
          <a:noFill/>
        </p:spPr>
        <p:txBody>
          <a:bodyPr wrap="none" rtlCol="0">
            <a:spAutoFit/>
          </a:bodyPr>
          <a:lstStyle/>
          <a:p>
            <a:r>
              <a:rPr lang="en-US" b="1" dirty="0">
                <a:solidFill>
                  <a:srgbClr val="C00000"/>
                </a:solidFill>
              </a:rPr>
              <a:t>Action</a:t>
            </a:r>
            <a:endParaRPr lang="en-IN" b="1" dirty="0">
              <a:solidFill>
                <a:srgbClr val="C00000"/>
              </a:solidFill>
            </a:endParaRPr>
          </a:p>
        </p:txBody>
      </p:sp>
      <p:sp>
        <p:nvSpPr>
          <p:cNvPr id="43" name="TextBox 42">
            <a:extLst>
              <a:ext uri="{FF2B5EF4-FFF2-40B4-BE49-F238E27FC236}">
                <a16:creationId xmlns:a16="http://schemas.microsoft.com/office/drawing/2014/main" id="{E2A1F0C8-DE8B-9456-0682-EF60C150BF55}"/>
              </a:ext>
            </a:extLst>
          </p:cNvPr>
          <p:cNvSpPr txBox="1"/>
          <p:nvPr/>
        </p:nvSpPr>
        <p:spPr>
          <a:xfrm>
            <a:off x="7809481" y="2225448"/>
            <a:ext cx="1275414" cy="369332"/>
          </a:xfrm>
          <a:prstGeom prst="rect">
            <a:avLst/>
          </a:prstGeom>
          <a:noFill/>
        </p:spPr>
        <p:txBody>
          <a:bodyPr wrap="none" rtlCol="0">
            <a:spAutoFit/>
          </a:bodyPr>
          <a:lstStyle/>
          <a:p>
            <a:r>
              <a:rPr lang="en-US" b="1" dirty="0">
                <a:solidFill>
                  <a:srgbClr val="002060"/>
                </a:solidFill>
              </a:rPr>
              <a:t>Feedback</a:t>
            </a:r>
            <a:endParaRPr lang="en-IN" b="1" dirty="0">
              <a:solidFill>
                <a:srgbClr val="002060"/>
              </a:solidFill>
            </a:endParaRPr>
          </a:p>
        </p:txBody>
      </p:sp>
      <p:sp>
        <p:nvSpPr>
          <p:cNvPr id="49" name="Freeform: Shape 48">
            <a:extLst>
              <a:ext uri="{FF2B5EF4-FFF2-40B4-BE49-F238E27FC236}">
                <a16:creationId xmlns:a16="http://schemas.microsoft.com/office/drawing/2014/main" id="{64EBFA24-DD52-9F84-1A60-71B0DA97BC74}"/>
              </a:ext>
            </a:extLst>
          </p:cNvPr>
          <p:cNvSpPr/>
          <p:nvPr/>
        </p:nvSpPr>
        <p:spPr>
          <a:xfrm>
            <a:off x="7167237" y="3878526"/>
            <a:ext cx="1316434" cy="778430"/>
          </a:xfrm>
          <a:custGeom>
            <a:avLst/>
            <a:gdLst>
              <a:gd name="connsiteX0" fmla="*/ 0 w 1894334"/>
              <a:gd name="connsiteY0" fmla="*/ 832580 h 832580"/>
              <a:gd name="connsiteX1" fmla="*/ 459475 w 1894334"/>
              <a:gd name="connsiteY1" fmla="*/ 705201 h 832580"/>
              <a:gd name="connsiteX2" fmla="*/ 718782 w 1894334"/>
              <a:gd name="connsiteY2" fmla="*/ 209332 h 832580"/>
              <a:gd name="connsiteX3" fmla="*/ 932597 w 1894334"/>
              <a:gd name="connsiteY3" fmla="*/ 67 h 832580"/>
              <a:gd name="connsiteX4" fmla="*/ 1150961 w 1894334"/>
              <a:gd name="connsiteY4" fmla="*/ 191135 h 832580"/>
              <a:gd name="connsiteX5" fmla="*/ 1360227 w 1894334"/>
              <a:gd name="connsiteY5" fmla="*/ 564174 h 832580"/>
              <a:gd name="connsiteX6" fmla="*/ 1514902 w 1894334"/>
              <a:gd name="connsiteY6" fmla="*/ 732497 h 832580"/>
              <a:gd name="connsiteX7" fmla="*/ 1851546 w 1894334"/>
              <a:gd name="connsiteY7" fmla="*/ 787088 h 832580"/>
              <a:gd name="connsiteX8" fmla="*/ 1878842 w 1894334"/>
              <a:gd name="connsiteY8" fmla="*/ 773440 h 832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4334" h="832580">
                <a:moveTo>
                  <a:pt x="0" y="832580"/>
                </a:moveTo>
                <a:cubicBezTo>
                  <a:pt x="169839" y="820828"/>
                  <a:pt x="339678" y="809076"/>
                  <a:pt x="459475" y="705201"/>
                </a:cubicBezTo>
                <a:cubicBezTo>
                  <a:pt x="579272" y="601326"/>
                  <a:pt x="639928" y="326854"/>
                  <a:pt x="718782" y="209332"/>
                </a:cubicBezTo>
                <a:cubicBezTo>
                  <a:pt x="797636" y="91810"/>
                  <a:pt x="860567" y="3100"/>
                  <a:pt x="932597" y="67"/>
                </a:cubicBezTo>
                <a:cubicBezTo>
                  <a:pt x="1004627" y="-2966"/>
                  <a:pt x="1079689" y="97117"/>
                  <a:pt x="1150961" y="191135"/>
                </a:cubicBezTo>
                <a:cubicBezTo>
                  <a:pt x="1222233" y="285153"/>
                  <a:pt x="1299570" y="473947"/>
                  <a:pt x="1360227" y="564174"/>
                </a:cubicBezTo>
                <a:cubicBezTo>
                  <a:pt x="1420884" y="654401"/>
                  <a:pt x="1433016" y="695345"/>
                  <a:pt x="1514902" y="732497"/>
                </a:cubicBezTo>
                <a:cubicBezTo>
                  <a:pt x="1596788" y="769649"/>
                  <a:pt x="1790890" y="780264"/>
                  <a:pt x="1851546" y="787088"/>
                </a:cubicBezTo>
                <a:cubicBezTo>
                  <a:pt x="1912202" y="793912"/>
                  <a:pt x="1895522" y="783676"/>
                  <a:pt x="1878842" y="773440"/>
                </a:cubicBezTo>
              </a:path>
            </a:pathLst>
          </a:custGeom>
          <a:noFill/>
          <a:ln w="222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0" name="Picture 49" descr="Shape&#10;&#10;Description automatically generated with low confidence">
            <a:extLst>
              <a:ext uri="{FF2B5EF4-FFF2-40B4-BE49-F238E27FC236}">
                <a16:creationId xmlns:a16="http://schemas.microsoft.com/office/drawing/2014/main" id="{120FE15B-EAC6-1CDE-8773-726F2BFC500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75871" y="3808818"/>
            <a:ext cx="917846" cy="917846"/>
          </a:xfrm>
          <a:prstGeom prst="rect">
            <a:avLst/>
          </a:prstGeom>
          <a:solidFill>
            <a:schemeClr val="bg1"/>
          </a:solidFill>
          <a:ln>
            <a:noFill/>
          </a:ln>
        </p:spPr>
      </p:pic>
      <p:sp>
        <p:nvSpPr>
          <p:cNvPr id="51" name="Arrow: Left 50">
            <a:extLst>
              <a:ext uri="{FF2B5EF4-FFF2-40B4-BE49-F238E27FC236}">
                <a16:creationId xmlns:a16="http://schemas.microsoft.com/office/drawing/2014/main" id="{5576ABC9-18F0-DD31-259D-52C33605FB42}"/>
              </a:ext>
            </a:extLst>
          </p:cNvPr>
          <p:cNvSpPr/>
          <p:nvPr/>
        </p:nvSpPr>
        <p:spPr>
          <a:xfrm rot="5400000">
            <a:off x="6369344" y="4070611"/>
            <a:ext cx="657547" cy="376354"/>
          </a:xfrm>
          <a:prstGeom prst="leftArrow">
            <a:avLst/>
          </a:prstGeom>
          <a:solidFill>
            <a:srgbClr val="002060">
              <a:alpha val="85000"/>
            </a:srgbClr>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502756B8-B1F1-211C-4B4B-948E9DC11CA0}"/>
                  </a:ext>
                </a:extLst>
              </p:cNvPr>
              <p:cNvSpPr txBox="1"/>
              <p:nvPr/>
            </p:nvSpPr>
            <p:spPr>
              <a:xfrm>
                <a:off x="6901720" y="4067985"/>
                <a:ext cx="61307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en-IN" dirty="0"/>
              </a:p>
            </p:txBody>
          </p:sp>
        </mc:Choice>
        <mc:Fallback xmlns="">
          <p:sp>
            <p:nvSpPr>
              <p:cNvPr id="53" name="TextBox 52">
                <a:extLst>
                  <a:ext uri="{FF2B5EF4-FFF2-40B4-BE49-F238E27FC236}">
                    <a16:creationId xmlns:a16="http://schemas.microsoft.com/office/drawing/2014/main" id="{502756B8-B1F1-211C-4B4B-948E9DC11CA0}"/>
                  </a:ext>
                </a:extLst>
              </p:cNvPr>
              <p:cNvSpPr txBox="1">
                <a:spLocks noRot="1" noChangeAspect="1" noMove="1" noResize="1" noEditPoints="1" noAdjustHandles="1" noChangeArrowheads="1" noChangeShapeType="1" noTextEdit="1"/>
              </p:cNvSpPr>
              <p:nvPr/>
            </p:nvSpPr>
            <p:spPr>
              <a:xfrm>
                <a:off x="6901720" y="4067985"/>
                <a:ext cx="613073" cy="369332"/>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D0C982F4-2C59-6CFB-5038-53A0624B4408}"/>
                  </a:ext>
                </a:extLst>
              </p:cNvPr>
              <p:cNvSpPr txBox="1"/>
              <p:nvPr/>
            </p:nvSpPr>
            <p:spPr>
              <a:xfrm>
                <a:off x="8131259" y="4059675"/>
                <a:ext cx="61307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en-IN" dirty="0"/>
              </a:p>
            </p:txBody>
          </p:sp>
        </mc:Choice>
        <mc:Fallback xmlns="">
          <p:sp>
            <p:nvSpPr>
              <p:cNvPr id="54" name="TextBox 53">
                <a:extLst>
                  <a:ext uri="{FF2B5EF4-FFF2-40B4-BE49-F238E27FC236}">
                    <a16:creationId xmlns:a16="http://schemas.microsoft.com/office/drawing/2014/main" id="{D0C982F4-2C59-6CFB-5038-53A0624B4408}"/>
                  </a:ext>
                </a:extLst>
              </p:cNvPr>
              <p:cNvSpPr txBox="1">
                <a:spLocks noRot="1" noChangeAspect="1" noMove="1" noResize="1" noEditPoints="1" noAdjustHandles="1" noChangeArrowheads="1" noChangeShapeType="1" noTextEdit="1"/>
              </p:cNvSpPr>
              <p:nvPr/>
            </p:nvSpPr>
            <p:spPr>
              <a:xfrm>
                <a:off x="8131259" y="4059675"/>
                <a:ext cx="613073" cy="369332"/>
              </a:xfrm>
              <a:prstGeom prst="rect">
                <a:avLst/>
              </a:prstGeom>
              <a:blipFill>
                <a:blip r:embed="rId6"/>
                <a:stretch>
                  <a:fillRect/>
                </a:stretch>
              </a:blipFill>
            </p:spPr>
            <p:txBody>
              <a:bodyPr/>
              <a:lstStyle/>
              <a:p>
                <a:r>
                  <a:rPr lang="en-IN">
                    <a:noFill/>
                  </a:rPr>
                  <a:t> </a:t>
                </a:r>
              </a:p>
            </p:txBody>
          </p:sp>
        </mc:Fallback>
      </mc:AlternateContent>
      <p:sp>
        <p:nvSpPr>
          <p:cNvPr id="55" name="TextBox 54">
            <a:extLst>
              <a:ext uri="{FF2B5EF4-FFF2-40B4-BE49-F238E27FC236}">
                <a16:creationId xmlns:a16="http://schemas.microsoft.com/office/drawing/2014/main" id="{CE4310FF-21F8-9F9D-17C7-FC71059705E0}"/>
              </a:ext>
            </a:extLst>
          </p:cNvPr>
          <p:cNvSpPr txBox="1"/>
          <p:nvPr/>
        </p:nvSpPr>
        <p:spPr>
          <a:xfrm>
            <a:off x="9590333" y="4081496"/>
            <a:ext cx="396262" cy="369332"/>
          </a:xfrm>
          <a:prstGeom prst="rect">
            <a:avLst/>
          </a:prstGeom>
          <a:noFill/>
        </p:spPr>
        <p:txBody>
          <a:bodyPr wrap="none" rtlCol="0">
            <a:spAutoFit/>
          </a:bodyPr>
          <a:lstStyle/>
          <a:p>
            <a:r>
              <a:rPr lang="en-US" dirty="0"/>
              <a:t>= </a:t>
            </a:r>
            <a:endParaRPr lang="en-IN" dirty="0"/>
          </a:p>
        </p:txBody>
      </p:sp>
      <p:sp>
        <p:nvSpPr>
          <p:cNvPr id="56" name="Arrow: Left 55">
            <a:extLst>
              <a:ext uri="{FF2B5EF4-FFF2-40B4-BE49-F238E27FC236}">
                <a16:creationId xmlns:a16="http://schemas.microsoft.com/office/drawing/2014/main" id="{ADD5ABD1-EDC6-EC14-24D0-875C9A9DF450}"/>
              </a:ext>
            </a:extLst>
          </p:cNvPr>
          <p:cNvSpPr/>
          <p:nvPr/>
        </p:nvSpPr>
        <p:spPr>
          <a:xfrm rot="5400000">
            <a:off x="9960110" y="4084653"/>
            <a:ext cx="657547" cy="376354"/>
          </a:xfrm>
          <a:prstGeom prst="leftArrow">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IN"/>
          </a:p>
        </p:txBody>
      </p:sp>
      <p:sp>
        <p:nvSpPr>
          <p:cNvPr id="57" name="TextBox 56">
            <a:extLst>
              <a:ext uri="{FF2B5EF4-FFF2-40B4-BE49-F238E27FC236}">
                <a16:creationId xmlns:a16="http://schemas.microsoft.com/office/drawing/2014/main" id="{8F4AB581-AE0C-9961-804B-805930143DB7}"/>
              </a:ext>
            </a:extLst>
          </p:cNvPr>
          <p:cNvSpPr txBox="1"/>
          <p:nvPr/>
        </p:nvSpPr>
        <p:spPr>
          <a:xfrm>
            <a:off x="7457375" y="4661749"/>
            <a:ext cx="832279" cy="369332"/>
          </a:xfrm>
          <a:prstGeom prst="rect">
            <a:avLst/>
          </a:prstGeom>
          <a:noFill/>
        </p:spPr>
        <p:txBody>
          <a:bodyPr wrap="none" rtlCol="0">
            <a:spAutoFit/>
          </a:bodyPr>
          <a:lstStyle/>
          <a:p>
            <a:r>
              <a:rPr lang="en-US" b="1" dirty="0"/>
              <a:t>Noise</a:t>
            </a:r>
            <a:endParaRPr lang="en-IN" b="1" dirty="0"/>
          </a:p>
        </p:txBody>
      </p:sp>
      <p:sp>
        <p:nvSpPr>
          <p:cNvPr id="58" name="TextBox 57">
            <a:extLst>
              <a:ext uri="{FF2B5EF4-FFF2-40B4-BE49-F238E27FC236}">
                <a16:creationId xmlns:a16="http://schemas.microsoft.com/office/drawing/2014/main" id="{E8591B50-0FDB-D237-5ECE-14DF6779E220}"/>
              </a:ext>
            </a:extLst>
          </p:cNvPr>
          <p:cNvSpPr txBox="1"/>
          <p:nvPr/>
        </p:nvSpPr>
        <p:spPr>
          <a:xfrm>
            <a:off x="8405157" y="4655973"/>
            <a:ext cx="1359475" cy="369332"/>
          </a:xfrm>
          <a:prstGeom prst="rect">
            <a:avLst/>
          </a:prstGeom>
          <a:noFill/>
        </p:spPr>
        <p:txBody>
          <a:bodyPr wrap="none" rtlCol="0">
            <a:spAutoFit/>
          </a:bodyPr>
          <a:lstStyle/>
          <a:p>
            <a:r>
              <a:rPr lang="en-US" b="1" dirty="0"/>
              <a:t>Adversary</a:t>
            </a:r>
            <a:endParaRPr lang="en-IN" b="1" dirty="0"/>
          </a:p>
        </p:txBody>
      </p:sp>
      <p:sp>
        <p:nvSpPr>
          <p:cNvPr id="59" name="TextBox 58">
            <a:extLst>
              <a:ext uri="{FF2B5EF4-FFF2-40B4-BE49-F238E27FC236}">
                <a16:creationId xmlns:a16="http://schemas.microsoft.com/office/drawing/2014/main" id="{98458E70-9B65-6B54-02DF-851AA643F38F}"/>
              </a:ext>
            </a:extLst>
          </p:cNvPr>
          <p:cNvSpPr txBox="1"/>
          <p:nvPr/>
        </p:nvSpPr>
        <p:spPr>
          <a:xfrm>
            <a:off x="9700158" y="4643904"/>
            <a:ext cx="2574960" cy="646331"/>
          </a:xfrm>
          <a:prstGeom prst="rect">
            <a:avLst/>
          </a:prstGeom>
          <a:noFill/>
        </p:spPr>
        <p:txBody>
          <a:bodyPr wrap="square" rtlCol="0">
            <a:spAutoFit/>
          </a:bodyPr>
          <a:lstStyle/>
          <a:p>
            <a:r>
              <a:rPr lang="en-US" dirty="0">
                <a:solidFill>
                  <a:srgbClr val="C00000"/>
                </a:solidFill>
              </a:rPr>
              <a:t>Corrupted </a:t>
            </a:r>
          </a:p>
          <a:p>
            <a:r>
              <a:rPr lang="en-US" dirty="0">
                <a:solidFill>
                  <a:srgbClr val="C00000"/>
                </a:solidFill>
              </a:rPr>
              <a:t>Feedback</a:t>
            </a:r>
            <a:endParaRPr lang="en-IN" dirty="0">
              <a:solidFill>
                <a:srgbClr val="C00000"/>
              </a:solidFill>
            </a:endParaRPr>
          </a:p>
        </p:txBody>
      </p:sp>
      <p:sp>
        <p:nvSpPr>
          <p:cNvPr id="61" name="TextBox 60">
            <a:extLst>
              <a:ext uri="{FF2B5EF4-FFF2-40B4-BE49-F238E27FC236}">
                <a16:creationId xmlns:a16="http://schemas.microsoft.com/office/drawing/2014/main" id="{4EED4CCD-ED7A-09B8-61EE-CA640D66B885}"/>
              </a:ext>
            </a:extLst>
          </p:cNvPr>
          <p:cNvSpPr txBox="1"/>
          <p:nvPr/>
        </p:nvSpPr>
        <p:spPr>
          <a:xfrm>
            <a:off x="6134330" y="4634683"/>
            <a:ext cx="6138808" cy="646331"/>
          </a:xfrm>
          <a:prstGeom prst="rect">
            <a:avLst/>
          </a:prstGeom>
          <a:noFill/>
        </p:spPr>
        <p:txBody>
          <a:bodyPr wrap="square">
            <a:spAutoFit/>
          </a:bodyPr>
          <a:lstStyle/>
          <a:p>
            <a:r>
              <a:rPr lang="en-US" dirty="0">
                <a:solidFill>
                  <a:srgbClr val="002060"/>
                </a:solidFill>
              </a:rPr>
              <a:t>    True </a:t>
            </a:r>
          </a:p>
          <a:p>
            <a:r>
              <a:rPr lang="en-US" dirty="0">
                <a:solidFill>
                  <a:srgbClr val="002060"/>
                </a:solidFill>
              </a:rPr>
              <a:t>Feedback</a:t>
            </a:r>
            <a:endParaRPr lang="en-IN" dirty="0">
              <a:solidFill>
                <a:srgbClr val="002060"/>
              </a:solidFill>
            </a:endParaRPr>
          </a:p>
        </p:txBody>
      </p:sp>
      <p:sp>
        <p:nvSpPr>
          <p:cNvPr id="62" name="Arrow: Left 61">
            <a:extLst>
              <a:ext uri="{FF2B5EF4-FFF2-40B4-BE49-F238E27FC236}">
                <a16:creationId xmlns:a16="http://schemas.microsoft.com/office/drawing/2014/main" id="{6BF7C715-CB1E-0A06-B7E6-E3F4A8C2DED1}"/>
              </a:ext>
            </a:extLst>
          </p:cNvPr>
          <p:cNvSpPr/>
          <p:nvPr/>
        </p:nvSpPr>
        <p:spPr>
          <a:xfrm>
            <a:off x="8076383" y="2588783"/>
            <a:ext cx="657547" cy="425850"/>
          </a:xfrm>
          <a:prstGeom prst="leftArrow">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500763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2">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4"/>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5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6"/>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0" presetClass="exit" presetSubtype="0" fill="hold" grpId="1" nodeType="clickEffect">
                                  <p:stCondLst>
                                    <p:cond delay="0"/>
                                  </p:stCondLst>
                                  <p:childTnLst>
                                    <p:animEffect transition="out" filter="fade">
                                      <p:cBhvr>
                                        <p:cTn id="54" dur="500"/>
                                        <p:tgtEl>
                                          <p:spTgt spid="41"/>
                                        </p:tgtEl>
                                      </p:cBhvr>
                                    </p:animEffect>
                                    <p:set>
                                      <p:cBhvr>
                                        <p:cTn id="55" dur="1" fill="hold">
                                          <p:stCondLst>
                                            <p:cond delay="499"/>
                                          </p:stCondLst>
                                        </p:cTn>
                                        <p:tgtEl>
                                          <p:spTgt spid="41"/>
                                        </p:tgtEl>
                                        <p:attrNameLst>
                                          <p:attrName>style.visibility</p:attrName>
                                        </p:attrNameLst>
                                      </p:cBhvr>
                                      <p:to>
                                        <p:strVal val="hidden"/>
                                      </p:to>
                                    </p:set>
                                  </p:childTnLst>
                                </p:cTn>
                              </p:par>
                              <p:par>
                                <p:cTn id="56" presetID="1" presetClass="exit" presetSubtype="0" fill="hold" grpId="1" nodeType="withEffect">
                                  <p:stCondLst>
                                    <p:cond delay="0"/>
                                  </p:stCondLst>
                                  <p:childTnLst>
                                    <p:set>
                                      <p:cBhvr>
                                        <p:cTn id="57" dur="1" fill="hold">
                                          <p:stCondLst>
                                            <p:cond delay="0"/>
                                          </p:stCondLst>
                                        </p:cTn>
                                        <p:tgtEl>
                                          <p:spTgt spid="43"/>
                                        </p:tgtEl>
                                        <p:attrNameLst>
                                          <p:attrName>style.visibility</p:attrName>
                                        </p:attrNameLst>
                                      </p:cBhvr>
                                      <p:to>
                                        <p:strVal val="hidden"/>
                                      </p:to>
                                    </p:se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62"/>
                                        </p:tgtEl>
                                        <p:attrNameLst>
                                          <p:attrName>style.visibility</p:attrName>
                                        </p:attrNameLst>
                                      </p:cBhvr>
                                      <p:to>
                                        <p:strVal val="visible"/>
                                      </p:to>
                                    </p:set>
                                    <p:animEffect transition="in" filter="fade">
                                      <p:cBhvr>
                                        <p:cTn id="62" dur="500"/>
                                        <p:tgtEl>
                                          <p:spTgt spid="62"/>
                                        </p:tgtEl>
                                      </p:cBhvr>
                                    </p:animEffec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25">
                                            <p:txEl>
                                              <p:pRg st="0" end="0"/>
                                            </p:txEl>
                                          </p:spTgt>
                                        </p:tgtEl>
                                        <p:attrNameLst>
                                          <p:attrName>style.visibility</p:attrName>
                                        </p:attrNameLst>
                                      </p:cBhvr>
                                      <p:to>
                                        <p:strVal val="visible"/>
                                      </p:to>
                                    </p:set>
                                  </p:childTnLst>
                                </p:cTn>
                              </p:par>
                              <p:par>
                                <p:cTn id="67" presetID="16" presetClass="entr" presetSubtype="21" fill="hold" grpId="0" nodeType="withEffect">
                                  <p:stCondLst>
                                    <p:cond delay="0"/>
                                  </p:stCondLst>
                                  <p:childTnLst>
                                    <p:set>
                                      <p:cBhvr>
                                        <p:cTn id="68" dur="1" fill="hold">
                                          <p:stCondLst>
                                            <p:cond delay="0"/>
                                          </p:stCondLst>
                                        </p:cTn>
                                        <p:tgtEl>
                                          <p:spTgt spid="30"/>
                                        </p:tgtEl>
                                        <p:attrNameLst>
                                          <p:attrName>style.visibility</p:attrName>
                                        </p:attrNameLst>
                                      </p:cBhvr>
                                      <p:to>
                                        <p:strVal val="visible"/>
                                      </p:to>
                                    </p:set>
                                    <p:animEffect transition="in" filter="barn(inVertical)">
                                      <p:cBhvr>
                                        <p:cTn id="69"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40" grpId="0" animBg="1"/>
      <p:bldP spid="41" grpId="0" animBg="1"/>
      <p:bldP spid="41" grpId="1" animBg="1"/>
      <p:bldP spid="43" grpId="0"/>
      <p:bldP spid="43" grpId="1"/>
      <p:bldP spid="49" grpId="0" animBg="1"/>
      <p:bldP spid="51" grpId="0" animBg="1"/>
      <p:bldP spid="53" grpId="0"/>
      <p:bldP spid="54" grpId="0"/>
      <p:bldP spid="55" grpId="0"/>
      <p:bldP spid="56" grpId="0" animBg="1"/>
      <p:bldP spid="57" grpId="0"/>
      <p:bldP spid="58" grpId="0"/>
      <p:bldP spid="59" grpId="0"/>
      <p:bldP spid="61" grpId="0"/>
      <p:bldP spid="6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E85637D-DDC6-BBEB-4D4F-38EABBBC6EF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0092A4B-B806-DD77-EBAD-CAE92AFC88A2}"/>
              </a:ext>
            </a:extLst>
          </p:cNvPr>
          <p:cNvSpPr>
            <a:spLocks noGrp="1"/>
          </p:cNvSpPr>
          <p:nvPr>
            <p:ph type="sldNum" sz="quarter" idx="12"/>
          </p:nvPr>
        </p:nvSpPr>
        <p:spPr>
          <a:xfrm>
            <a:off x="11116127" y="6487841"/>
            <a:ext cx="914400" cy="320040"/>
          </a:xfrm>
        </p:spPr>
        <p:txBody>
          <a:bodyPr/>
          <a:lstStyle/>
          <a:p>
            <a:fld id="{6D22F896-40B5-4ADD-8801-0D06FADFA095}" type="slidenum">
              <a:rPr lang="en-US" smtClean="0"/>
              <a:t>3</a:t>
            </a:fld>
            <a:endParaRPr lang="en-US" dirty="0"/>
          </a:p>
        </p:txBody>
      </p:sp>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9786782-A049-93EF-DC57-51FCCA298C8A}"/>
                  </a:ext>
                </a:extLst>
              </p:cNvPr>
              <p:cNvSpPr txBox="1">
                <a:spLocks/>
              </p:cNvSpPr>
              <p:nvPr/>
            </p:nvSpPr>
            <p:spPr>
              <a:xfrm>
                <a:off x="838200" y="365125"/>
                <a:ext cx="10515600" cy="850217"/>
              </a:xfrm>
              <a:prstGeom prst="rect">
                <a:avLst/>
              </a:prstGeom>
            </p:spPr>
            <p:txBody>
              <a:bodyPr/>
              <a:lstStyle>
                <a:lvl1pPr algn="ctr" defTabSz="914400" rtl="0" eaLnBrk="1" latinLnBrk="0" hangingPunct="1">
                  <a:lnSpc>
                    <a:spcPct val="85000"/>
                  </a:lnSpc>
                  <a:spcBef>
                    <a:spcPct val="0"/>
                  </a:spcBef>
                  <a:buNone/>
                  <a:defRPr sz="4000" b="0" i="0" kern="1200" cap="none" spc="-150">
                    <a:solidFill>
                      <a:schemeClr val="tx1"/>
                    </a:solidFill>
                    <a:effectLst/>
                    <a:latin typeface="+mj-lt"/>
                    <a:ea typeface="+mj-ea"/>
                    <a:cs typeface="+mj-cs"/>
                  </a:defRPr>
                </a:lvl1pPr>
              </a:lstStyle>
              <a:p>
                <a14:m>
                  <m:oMath xmlns:m="http://schemas.openxmlformats.org/officeDocument/2006/math">
                    <m:r>
                      <a:rPr lang="en-US" b="0" i="1" smtClean="0">
                        <a:solidFill>
                          <a:srgbClr val="002060"/>
                        </a:solidFill>
                        <a:latin typeface="Cambria Math" panose="02040503050406030204" pitchFamily="18" charset="0"/>
                      </a:rPr>
                      <m:t>𝑄</m:t>
                    </m:r>
                    <m:r>
                      <a:rPr lang="en-US" b="0" i="1" smtClean="0">
                        <a:solidFill>
                          <a:srgbClr val="002060"/>
                        </a:solidFill>
                        <a:latin typeface="Cambria Math" panose="02040503050406030204" pitchFamily="18" charset="0"/>
                      </a:rPr>
                      <m:t>− </m:t>
                    </m:r>
                  </m:oMath>
                </a14:m>
                <a:r>
                  <a:rPr lang="en-IN" dirty="0">
                    <a:solidFill>
                      <a:srgbClr val="002060"/>
                    </a:solidFill>
                    <a:latin typeface="+mn-lt"/>
                  </a:rPr>
                  <a:t>Learning: </a:t>
                </a:r>
                <a:r>
                  <a:rPr lang="en-IN" dirty="0">
                    <a:solidFill>
                      <a:srgbClr val="C00000"/>
                    </a:solidFill>
                    <a:latin typeface="+mn-lt"/>
                  </a:rPr>
                  <a:t>Estimating Action Values</a:t>
                </a:r>
              </a:p>
            </p:txBody>
          </p:sp>
        </mc:Choice>
        <mc:Fallback xmlns="">
          <p:sp>
            <p:nvSpPr>
              <p:cNvPr id="2" name="Title 1">
                <a:extLst>
                  <a:ext uri="{FF2B5EF4-FFF2-40B4-BE49-F238E27FC236}">
                    <a16:creationId xmlns:a16="http://schemas.microsoft.com/office/drawing/2014/main" id="{D9786782-A049-93EF-DC57-51FCCA298C8A}"/>
                  </a:ext>
                </a:extLst>
              </p:cNvPr>
              <p:cNvSpPr txBox="1">
                <a:spLocks noRot="1" noChangeAspect="1" noMove="1" noResize="1" noEditPoints="1" noAdjustHandles="1" noChangeArrowheads="1" noChangeShapeType="1" noTextEdit="1"/>
              </p:cNvSpPr>
              <p:nvPr/>
            </p:nvSpPr>
            <p:spPr>
              <a:xfrm>
                <a:off x="838200" y="365125"/>
                <a:ext cx="10515600" cy="850217"/>
              </a:xfrm>
              <a:prstGeom prst="rect">
                <a:avLst/>
              </a:prstGeom>
              <a:blipFill>
                <a:blip r:embed="rId3"/>
                <a:stretch>
                  <a:fillRect t="-23741" b="-2878"/>
                </a:stretch>
              </a:blipFill>
            </p:spPr>
            <p:txBody>
              <a:bodyPr/>
              <a:lstStyle/>
              <a:p>
                <a:r>
                  <a:rPr lang="en-IN">
                    <a:noFill/>
                  </a:rPr>
                  <a:t> </a:t>
                </a:r>
              </a:p>
            </p:txBody>
          </p:sp>
        </mc:Fallback>
      </mc:AlternateContent>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37702770-48B6-47A6-45EC-B0FF73E5FDB7}"/>
                  </a:ext>
                </a:extLst>
              </p:cNvPr>
              <p:cNvSpPr txBox="1">
                <a:spLocks/>
              </p:cNvSpPr>
              <p:nvPr/>
            </p:nvSpPr>
            <p:spPr>
              <a:xfrm>
                <a:off x="665559" y="3775608"/>
                <a:ext cx="6365065" cy="5744505"/>
              </a:xfrm>
              <a:prstGeom prst="rect">
                <a:avLst/>
              </a:prstGeom>
            </p:spPr>
            <p:txBody>
              <a:bodyPr>
                <a:noAutofit/>
              </a:bodyPr>
              <a:lstStyle>
                <a:lvl1pPr marL="228600" indent="-228600" algn="l" defTabSz="914400" rtl="0" eaLnBrk="1" latinLnBrk="0" hangingPunct="1">
                  <a:lnSpc>
                    <a:spcPct val="120000"/>
                  </a:lnSpc>
                  <a:spcBef>
                    <a:spcPts val="1000"/>
                  </a:spcBef>
                  <a:buClr>
                    <a:schemeClr val="accent1"/>
                  </a:buClr>
                  <a:buSzPct val="110000"/>
                  <a:buFont typeface="Wingdings" panose="05000000000000000000" pitchFamily="2" charset="2"/>
                  <a:buChar char="§"/>
                  <a:defRPr sz="18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600" kern="120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4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9pPr>
              </a:lstStyle>
              <a:p>
                <a:pPr marL="0" indent="0">
                  <a:buNone/>
                </a:pPr>
                <a:endParaRPr lang="en-US" sz="2200" dirty="0"/>
              </a:p>
              <a:p>
                <a:pPr marL="0" indent="0">
                  <a:buNone/>
                </a:pPr>
                <a:r>
                  <a:rPr lang="en-US" sz="2000" dirty="0"/>
                  <a:t>For a fixed policy </a:t>
                </a:r>
                <a14:m>
                  <m:oMath xmlns:m="http://schemas.openxmlformats.org/officeDocument/2006/math">
                    <m:r>
                      <a:rPr lang="en-US" sz="2000" b="0" i="1" smtClean="0">
                        <a:latin typeface="Cambria Math" panose="02040503050406030204" pitchFamily="18" charset="0"/>
                      </a:rPr>
                      <m:t>𝜋</m:t>
                    </m:r>
                  </m:oMath>
                </a14:m>
                <a:r>
                  <a:rPr lang="en-US" sz="2000" dirty="0"/>
                  <a:t>, we define </a:t>
                </a:r>
                <a14:m>
                  <m:oMath xmlns:m="http://schemas.openxmlformats.org/officeDocument/2006/math">
                    <m:sSub>
                      <m:sSubPr>
                        <m:ctrlPr>
                          <a:rPr lang="en-US" sz="2000" i="1">
                            <a:solidFill>
                              <a:schemeClr val="accent1"/>
                            </a:solidFill>
                            <a:latin typeface="Cambria Math" panose="02040503050406030204" pitchFamily="18" charset="0"/>
                          </a:rPr>
                        </m:ctrlPr>
                      </m:sSubPr>
                      <m:e>
                        <m:r>
                          <a:rPr lang="en-US" sz="2000" i="1">
                            <a:solidFill>
                              <a:schemeClr val="accent1"/>
                            </a:solidFill>
                            <a:latin typeface="Cambria Math" panose="02040503050406030204" pitchFamily="18" charset="0"/>
                          </a:rPr>
                          <m:t>𝑄</m:t>
                        </m:r>
                      </m:e>
                      <m:sub>
                        <m:r>
                          <a:rPr lang="en-US" sz="2000" i="1" smtClean="0">
                            <a:solidFill>
                              <a:srgbClr val="002060"/>
                            </a:solidFill>
                            <a:latin typeface="Cambria Math" panose="02040503050406030204" pitchFamily="18" charset="0"/>
                          </a:rPr>
                          <m:t>𝜋</m:t>
                        </m:r>
                      </m:sub>
                    </m:sSub>
                    <m:r>
                      <a:rPr lang="en-US" sz="2000" i="1">
                        <a:solidFill>
                          <a:schemeClr val="accent1"/>
                        </a:solidFill>
                        <a:latin typeface="Cambria Math" panose="02040503050406030204" pitchFamily="18" charset="0"/>
                      </a:rPr>
                      <m:t>:</m:t>
                    </m:r>
                    <m:r>
                      <a:rPr lang="en-US" sz="2000" i="1">
                        <a:latin typeface="Cambria Math" panose="02040503050406030204" pitchFamily="18" charset="0"/>
                      </a:rPr>
                      <m:t>𝑆</m:t>
                    </m:r>
                    <m:r>
                      <a:rPr lang="en-US" sz="2000" i="1">
                        <a:latin typeface="Cambria Math" panose="02040503050406030204" pitchFamily="18" charset="0"/>
                      </a:rPr>
                      <m:t>×</m:t>
                    </m:r>
                    <m:r>
                      <a:rPr lang="en-US" sz="2000" i="1">
                        <a:latin typeface="Cambria Math" panose="02040503050406030204" pitchFamily="18" charset="0"/>
                      </a:rPr>
                      <m:t>𝐴</m:t>
                    </m:r>
                    <m:r>
                      <a:rPr lang="en-US" sz="2000" i="1">
                        <a:latin typeface="Cambria Math" panose="02040503050406030204" pitchFamily="18" charset="0"/>
                      </a:rPr>
                      <m:t>↦</m:t>
                    </m:r>
                    <m:r>
                      <a:rPr lang="en-US" sz="2000" i="1">
                        <a:latin typeface="Cambria Math" panose="02040503050406030204" pitchFamily="18" charset="0"/>
                        <a:ea typeface="Cambria Math" panose="02040503050406030204" pitchFamily="18" charset="0"/>
                      </a:rPr>
                      <m:t>ℝ</m:t>
                    </m:r>
                    <m:r>
                      <a:rPr lang="en-US" sz="2000" i="1">
                        <a:latin typeface="Cambria Math" panose="02040503050406030204" pitchFamily="18" charset="0"/>
                        <a:ea typeface="Cambria Math" panose="02040503050406030204" pitchFamily="18" charset="0"/>
                      </a:rPr>
                      <m:t> </m:t>
                    </m:r>
                  </m:oMath>
                </a14:m>
                <a:r>
                  <a:rPr lang="en-US" sz="2000" dirty="0"/>
                  <a:t>:</a:t>
                </a:r>
                <a:endParaRPr lang="en-US" sz="2000" dirty="0">
                  <a:solidFill>
                    <a:schemeClr val="accent1"/>
                  </a:solidFill>
                </a:endParaRPr>
              </a:p>
              <a:p>
                <a:pPr marL="0" indent="0">
                  <a:buNone/>
                </a:pPr>
                <a:r>
                  <a:rPr lang="en-US" sz="2000" dirty="0"/>
                  <a:t>   </a:t>
                </a:r>
                <a14:m>
                  <m:oMath xmlns:m="http://schemas.openxmlformats.org/officeDocument/2006/math">
                    <m:sSub>
                      <m:sSubPr>
                        <m:ctrlPr>
                          <a:rPr lang="en-US" sz="2000" i="1" smtClean="0">
                            <a:solidFill>
                              <a:srgbClr val="C00000"/>
                            </a:solidFill>
                            <a:latin typeface="Cambria Math" panose="02040503050406030204" pitchFamily="18" charset="0"/>
                          </a:rPr>
                        </m:ctrlPr>
                      </m:sSubPr>
                      <m:e>
                        <m:r>
                          <a:rPr lang="en-US" sz="2000" i="1">
                            <a:solidFill>
                              <a:srgbClr val="C00000"/>
                            </a:solidFill>
                            <a:latin typeface="Cambria Math" panose="02040503050406030204" pitchFamily="18" charset="0"/>
                          </a:rPr>
                          <m:t>        </m:t>
                        </m:r>
                        <m:r>
                          <a:rPr lang="en-US" sz="2000" i="1">
                            <a:solidFill>
                              <a:srgbClr val="C00000"/>
                            </a:solidFill>
                            <a:latin typeface="Cambria Math" panose="02040503050406030204" pitchFamily="18" charset="0"/>
                          </a:rPr>
                          <m:t>𝑄</m:t>
                        </m:r>
                      </m:e>
                      <m:sub>
                        <m:r>
                          <a:rPr lang="en-US" sz="2000" i="1" smtClean="0">
                            <a:solidFill>
                              <a:srgbClr val="002060"/>
                            </a:solidFill>
                            <a:latin typeface="Cambria Math" panose="02040503050406030204" pitchFamily="18" charset="0"/>
                          </a:rPr>
                          <m:t>𝜋</m:t>
                        </m:r>
                      </m:sub>
                    </m:sSub>
                    <m:d>
                      <m:dPr>
                        <m:ctrlPr>
                          <a:rPr lang="en-US" sz="2000" i="1">
                            <a:latin typeface="Cambria Math" panose="02040503050406030204" pitchFamily="18" charset="0"/>
                          </a:rPr>
                        </m:ctrlPr>
                      </m:dPr>
                      <m:e>
                        <m:r>
                          <a:rPr lang="en-US" sz="2000" i="1">
                            <a:latin typeface="Cambria Math" panose="02040503050406030204" pitchFamily="18" charset="0"/>
                          </a:rPr>
                          <m:t>𝑠</m:t>
                        </m:r>
                        <m:r>
                          <a:rPr lang="en-US" sz="2000" i="1">
                            <a:latin typeface="Cambria Math" panose="02040503050406030204" pitchFamily="18" charset="0"/>
                          </a:rPr>
                          <m:t>,</m:t>
                        </m:r>
                        <m:r>
                          <a:rPr lang="en-US" sz="2000" i="1">
                            <a:latin typeface="Cambria Math" panose="02040503050406030204" pitchFamily="18" charset="0"/>
                          </a:rPr>
                          <m:t>𝑎</m:t>
                        </m:r>
                      </m:e>
                    </m:d>
                    <m:r>
                      <a:rPr lang="en-US" sz="2000" i="1">
                        <a:latin typeface="Cambria Math" panose="02040503050406030204" pitchFamily="18" charset="0"/>
                      </a:rPr>
                      <m:t>=</m:t>
                    </m:r>
                    <m:r>
                      <a:rPr lang="en-US" sz="2000" i="1">
                        <a:latin typeface="Cambria Math" panose="02040503050406030204" pitchFamily="18" charset="0"/>
                      </a:rPr>
                      <m:t>𝔼</m:t>
                    </m:r>
                    <m:r>
                      <a:rPr lang="en-US" sz="2000" i="1">
                        <a:latin typeface="Cambria Math" panose="02040503050406030204" pitchFamily="18" charset="0"/>
                      </a:rPr>
                      <m:t> </m:t>
                    </m:r>
                    <m:d>
                      <m:dPr>
                        <m:begChr m:val="["/>
                        <m:endChr m:val="]"/>
                        <m:ctrlPr>
                          <a:rPr lang="en-US" sz="2000" i="1">
                            <a:latin typeface="Cambria Math" panose="02040503050406030204" pitchFamily="18" charset="0"/>
                          </a:rPr>
                        </m:ctrlPr>
                      </m:dPr>
                      <m:e>
                        <m:nary>
                          <m:naryPr>
                            <m:chr m:val="∑"/>
                            <m:ctrlPr>
                              <a:rPr lang="en-US" sz="2000" i="1">
                                <a:latin typeface="Cambria Math" panose="02040503050406030204" pitchFamily="18" charset="0"/>
                              </a:rPr>
                            </m:ctrlPr>
                          </m:naryPr>
                          <m:sub>
                            <m:r>
                              <m:rPr>
                                <m:brk m:alnAt="23"/>
                              </m:rPr>
                              <a:rPr lang="en-US" sz="2000" i="1">
                                <a:latin typeface="Cambria Math" panose="02040503050406030204" pitchFamily="18" charset="0"/>
                              </a:rPr>
                              <m:t>𝑡</m:t>
                            </m:r>
                            <m:r>
                              <a:rPr lang="en-US" sz="2000" i="1">
                                <a:latin typeface="Cambria Math" panose="02040503050406030204" pitchFamily="18" charset="0"/>
                              </a:rPr>
                              <m:t>=0</m:t>
                            </m:r>
                          </m:sub>
                          <m:sup>
                            <m:r>
                              <a:rPr lang="en-US" sz="2000" i="1">
                                <a:latin typeface="Cambria Math" panose="02040503050406030204" pitchFamily="18" charset="0"/>
                              </a:rPr>
                              <m:t>∞</m:t>
                            </m:r>
                          </m:sup>
                          <m:e>
                            <m:sSup>
                              <m:sSupPr>
                                <m:ctrlPr>
                                  <a:rPr lang="en-US" sz="2000" i="1">
                                    <a:latin typeface="Cambria Math" panose="02040503050406030204" pitchFamily="18" charset="0"/>
                                  </a:rPr>
                                </m:ctrlPr>
                              </m:sSupPr>
                              <m:e>
                                <m:r>
                                  <a:rPr lang="en-US" sz="2000" i="1">
                                    <a:latin typeface="Cambria Math" panose="02040503050406030204" pitchFamily="18" charset="0"/>
                                  </a:rPr>
                                  <m:t>𝛾</m:t>
                                </m:r>
                              </m:e>
                              <m:sup>
                                <m:r>
                                  <a:rPr lang="en-US" sz="2000" i="1">
                                    <a:latin typeface="Cambria Math" panose="02040503050406030204" pitchFamily="18" charset="0"/>
                                  </a:rPr>
                                  <m:t>𝑡</m:t>
                                </m:r>
                              </m:sup>
                            </m:sSup>
                            <m:r>
                              <a:rPr lang="en-US" sz="2000" i="1">
                                <a:latin typeface="Cambria Math" panose="02040503050406030204" pitchFamily="18" charset="0"/>
                              </a:rPr>
                              <m:t>𝑅</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𝑠</m:t>
                                    </m:r>
                                  </m:e>
                                  <m:sub>
                                    <m:r>
                                      <a:rPr lang="en-US" sz="2000" i="1">
                                        <a:latin typeface="Cambria Math" panose="02040503050406030204" pitchFamily="18" charset="0"/>
                                      </a:rPr>
                                      <m:t>𝑡</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𝑎</m:t>
                                    </m:r>
                                  </m:e>
                                  <m:sub>
                                    <m:r>
                                      <a:rPr lang="en-US" sz="2000" i="1">
                                        <a:latin typeface="Cambria Math" panose="02040503050406030204" pitchFamily="18" charset="0"/>
                                      </a:rPr>
                                      <m:t>𝑡</m:t>
                                    </m:r>
                                  </m:sub>
                                </m:sSub>
                              </m:e>
                            </m:d>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𝑠</m:t>
                                </m:r>
                              </m:e>
                              <m:sub>
                                <m:r>
                                  <a:rPr lang="en-US" sz="2000" i="1">
                                    <a:latin typeface="Cambria Math" panose="02040503050406030204" pitchFamily="18" charset="0"/>
                                  </a:rPr>
                                  <m:t>0</m:t>
                                </m:r>
                              </m:sub>
                            </m:sSub>
                            <m:r>
                              <a:rPr lang="en-US" sz="2000" i="1">
                                <a:latin typeface="Cambria Math" panose="02040503050406030204" pitchFamily="18" charset="0"/>
                              </a:rPr>
                              <m:t>=</m:t>
                            </m:r>
                            <m:r>
                              <a:rPr lang="en-US" sz="2000" i="1">
                                <a:latin typeface="Cambria Math" panose="02040503050406030204" pitchFamily="18" charset="0"/>
                              </a:rPr>
                              <m:t>𝑠</m:t>
                            </m:r>
                          </m:e>
                        </m:nary>
                        <m:r>
                          <a:rPr lang="en-US" sz="2000" i="1">
                            <a:latin typeface="Cambria Math" panose="02040503050406030204" pitchFamily="18" charset="0"/>
                          </a:rPr>
                          <m:t>, </m:t>
                        </m:r>
                        <m:sSub>
                          <m:sSubPr>
                            <m:ctrlPr>
                              <a:rPr lang="en-US" sz="2000" i="1">
                                <a:latin typeface="Cambria Math" panose="02040503050406030204" pitchFamily="18" charset="0"/>
                              </a:rPr>
                            </m:ctrlPr>
                          </m:sSubPr>
                          <m:e>
                            <m:r>
                              <a:rPr lang="en-US" sz="2000" i="1">
                                <a:latin typeface="Cambria Math" panose="02040503050406030204" pitchFamily="18" charset="0"/>
                              </a:rPr>
                              <m:t>𝑎</m:t>
                            </m:r>
                          </m:e>
                          <m:sub>
                            <m:r>
                              <a:rPr lang="en-US" sz="2000" i="1">
                                <a:latin typeface="Cambria Math" panose="02040503050406030204" pitchFamily="18" charset="0"/>
                              </a:rPr>
                              <m:t>0</m:t>
                            </m:r>
                          </m:sub>
                        </m:sSub>
                        <m:r>
                          <a:rPr lang="en-US" sz="2000" i="1">
                            <a:latin typeface="Cambria Math" panose="02040503050406030204" pitchFamily="18" charset="0"/>
                          </a:rPr>
                          <m:t>=</m:t>
                        </m:r>
                        <m:r>
                          <a:rPr lang="en-US" sz="2000" i="1">
                            <a:latin typeface="Cambria Math" panose="02040503050406030204" pitchFamily="18" charset="0"/>
                          </a:rPr>
                          <m:t>𝑎</m:t>
                        </m:r>
                        <m:r>
                          <a:rPr lang="en-US" sz="2000" i="1">
                            <a:latin typeface="Cambria Math" panose="02040503050406030204" pitchFamily="18" charset="0"/>
                          </a:rPr>
                          <m:t>, </m:t>
                        </m:r>
                        <m:r>
                          <a:rPr lang="en-US" sz="2000" i="1">
                            <a:latin typeface="Cambria Math" panose="02040503050406030204" pitchFamily="18" charset="0"/>
                          </a:rPr>
                          <m:t>𝜋</m:t>
                        </m:r>
                      </m:e>
                    </m:d>
                  </m:oMath>
                </a14:m>
                <a:r>
                  <a:rPr lang="en-US" sz="2000" dirty="0"/>
                  <a:t>.</a:t>
                </a:r>
              </a:p>
              <a:p>
                <a:pPr marL="0" indent="0">
                  <a:buNone/>
                </a:pPr>
                <a:br>
                  <a:rPr lang="en-US" sz="2000" dirty="0"/>
                </a:br>
                <a14:m>
                  <m:oMathPara xmlns:m="http://schemas.openxmlformats.org/officeDocument/2006/math">
                    <m:oMathParaPr>
                      <m:jc m:val="centerGroup"/>
                    </m:oMathParaPr>
                    <m:oMath xmlns:m="http://schemas.openxmlformats.org/officeDocument/2006/math">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      </m:t>
                          </m:r>
                          <m:r>
                            <a:rPr lang="en-US" sz="2000" b="0" i="1" smtClean="0">
                              <a:latin typeface="Cambria Math" panose="02040503050406030204" pitchFamily="18" charset="0"/>
                            </a:rPr>
                            <m:t>𝑄</m:t>
                          </m:r>
                        </m:e>
                        <m:sup>
                          <m:r>
                            <a:rPr lang="en-US" sz="2000" b="0" i="1" smtClean="0">
                              <a:latin typeface="Cambria Math" panose="02040503050406030204" pitchFamily="18" charset="0"/>
                            </a:rPr>
                            <m:t>∗</m:t>
                          </m:r>
                        </m:sup>
                      </m:sSup>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𝑠</m:t>
                          </m:r>
                          <m:r>
                            <a:rPr lang="en-US" sz="2000" b="0" i="1" smtClean="0">
                              <a:latin typeface="Cambria Math" panose="02040503050406030204" pitchFamily="18" charset="0"/>
                            </a:rPr>
                            <m:t>,</m:t>
                          </m:r>
                          <m:r>
                            <a:rPr lang="en-US" sz="2000" b="0" i="1" smtClean="0">
                              <a:latin typeface="Cambria Math" panose="02040503050406030204" pitchFamily="18" charset="0"/>
                            </a:rPr>
                            <m:t>𝑎</m:t>
                          </m:r>
                        </m:e>
                      </m:d>
                      <m:r>
                        <a:rPr lang="en-US" sz="2000" b="0" i="1" smtClean="0">
                          <a:latin typeface="Cambria Math" panose="02040503050406030204" pitchFamily="18" charset="0"/>
                        </a:rPr>
                        <m:t>=</m:t>
                      </m:r>
                      <m:limLow>
                        <m:limLowPr>
                          <m:ctrlPr>
                            <a:rPr lang="en-US" sz="2000" b="0" i="1" smtClean="0">
                              <a:solidFill>
                                <a:schemeClr val="accent1"/>
                              </a:solidFill>
                              <a:latin typeface="Cambria Math" panose="02040503050406030204" pitchFamily="18" charset="0"/>
                            </a:rPr>
                          </m:ctrlPr>
                        </m:limLowPr>
                        <m:e>
                          <m:r>
                            <m:rPr>
                              <m:sty m:val="p"/>
                            </m:rPr>
                            <a:rPr lang="en-US" sz="2000" b="0" i="0" smtClean="0">
                              <a:solidFill>
                                <a:schemeClr val="accent1"/>
                              </a:solidFill>
                              <a:latin typeface="Cambria Math" panose="02040503050406030204" pitchFamily="18" charset="0"/>
                            </a:rPr>
                            <m:t>max</m:t>
                          </m:r>
                        </m:e>
                        <m:lim>
                          <m:r>
                            <a:rPr lang="en-US" sz="2000" b="0" i="1" smtClean="0">
                              <a:solidFill>
                                <a:srgbClr val="002060"/>
                              </a:solidFill>
                              <a:latin typeface="Cambria Math" panose="02040503050406030204" pitchFamily="18" charset="0"/>
                            </a:rPr>
                            <m:t>𝜋</m:t>
                          </m:r>
                        </m:lim>
                      </m:limLow>
                      <m:sSub>
                        <m:sSubPr>
                          <m:ctrlPr>
                            <a:rPr lang="en-US" sz="2000" i="1">
                              <a:solidFill>
                                <a:srgbClr val="C00000"/>
                              </a:solidFill>
                              <a:latin typeface="Cambria Math" panose="02040503050406030204" pitchFamily="18" charset="0"/>
                            </a:rPr>
                          </m:ctrlPr>
                        </m:sSubPr>
                        <m:e>
                          <m:r>
                            <a:rPr lang="en-US" sz="2000" i="1">
                              <a:solidFill>
                                <a:srgbClr val="C00000"/>
                              </a:solidFill>
                              <a:latin typeface="Cambria Math" panose="02040503050406030204" pitchFamily="18" charset="0"/>
                            </a:rPr>
                            <m:t> </m:t>
                          </m:r>
                          <m:r>
                            <a:rPr lang="en-US" sz="2000" i="1">
                              <a:solidFill>
                                <a:srgbClr val="C00000"/>
                              </a:solidFill>
                              <a:latin typeface="Cambria Math" panose="02040503050406030204" pitchFamily="18" charset="0"/>
                            </a:rPr>
                            <m:t>𝑄</m:t>
                          </m:r>
                        </m:e>
                        <m:sub>
                          <m:r>
                            <a:rPr lang="en-US" sz="2000" i="1">
                              <a:solidFill>
                                <a:srgbClr val="002060"/>
                              </a:solidFill>
                              <a:latin typeface="Cambria Math" panose="02040503050406030204" pitchFamily="18" charset="0"/>
                            </a:rPr>
                            <m:t>𝜋</m:t>
                          </m:r>
                        </m:sub>
                      </m:sSub>
                      <m:d>
                        <m:dPr>
                          <m:ctrlPr>
                            <a:rPr lang="en-US" sz="2000" i="1">
                              <a:latin typeface="Cambria Math" panose="02040503050406030204" pitchFamily="18" charset="0"/>
                            </a:rPr>
                          </m:ctrlPr>
                        </m:dPr>
                        <m:e>
                          <m:r>
                            <a:rPr lang="en-US" sz="2000" i="1">
                              <a:latin typeface="Cambria Math" panose="02040503050406030204" pitchFamily="18" charset="0"/>
                            </a:rPr>
                            <m:t>𝑠</m:t>
                          </m:r>
                          <m:r>
                            <a:rPr lang="en-US" sz="2000" i="1">
                              <a:latin typeface="Cambria Math" panose="02040503050406030204" pitchFamily="18" charset="0"/>
                            </a:rPr>
                            <m:t>,</m:t>
                          </m:r>
                          <m:r>
                            <a:rPr lang="en-US" sz="2000" i="1">
                              <a:latin typeface="Cambria Math" panose="02040503050406030204" pitchFamily="18" charset="0"/>
                            </a:rPr>
                            <m:t>𝑎</m:t>
                          </m:r>
                        </m:e>
                      </m:d>
                      <m:r>
                        <a:rPr lang="en-US" sz="2000" b="0" i="0" smtClean="0">
                          <a:latin typeface="Cambria Math" panose="02040503050406030204" pitchFamily="18" charset="0"/>
                        </a:rPr>
                        <m:t>; </m:t>
                      </m:r>
                      <m:sSup>
                        <m:sSupPr>
                          <m:ctrlPr>
                            <a:rPr lang="en-IN" sz="2000" i="1">
                              <a:solidFill>
                                <a:srgbClr val="C00000"/>
                              </a:solidFill>
                              <a:latin typeface="Cambria Math" panose="02040503050406030204" pitchFamily="18" charset="0"/>
                            </a:rPr>
                          </m:ctrlPr>
                        </m:sSupPr>
                        <m:e>
                          <m:r>
                            <a:rPr lang="en-IN" sz="2000" i="1">
                              <a:solidFill>
                                <a:srgbClr val="C00000"/>
                              </a:solidFill>
                              <a:latin typeface="Cambria Math" panose="02040503050406030204" pitchFamily="18" charset="0"/>
                            </a:rPr>
                            <m:t>𝜋</m:t>
                          </m:r>
                        </m:e>
                        <m:sup>
                          <m:r>
                            <a:rPr lang="en-IN" sz="2000" i="1">
                              <a:solidFill>
                                <a:srgbClr val="C00000"/>
                              </a:solidFill>
                              <a:latin typeface="Cambria Math" panose="02040503050406030204" pitchFamily="18" charset="0"/>
                            </a:rPr>
                            <m:t>∗</m:t>
                          </m:r>
                        </m:sup>
                      </m:sSup>
                      <m:d>
                        <m:dPr>
                          <m:ctrlPr>
                            <a:rPr lang="en-IN" sz="2000" i="1">
                              <a:latin typeface="Cambria Math" panose="02040503050406030204" pitchFamily="18" charset="0"/>
                            </a:rPr>
                          </m:ctrlPr>
                        </m:dPr>
                        <m:e>
                          <m:r>
                            <a:rPr lang="en-IN" sz="2000" i="1">
                              <a:latin typeface="Cambria Math" panose="02040503050406030204" pitchFamily="18" charset="0"/>
                            </a:rPr>
                            <m:t>𝑠</m:t>
                          </m:r>
                        </m:e>
                      </m:d>
                      <m:r>
                        <a:rPr lang="en-IN" sz="2000" i="1">
                          <a:latin typeface="Cambria Math" panose="02040503050406030204" pitchFamily="18" charset="0"/>
                        </a:rPr>
                        <m:t>=</m:t>
                      </m:r>
                      <m:func>
                        <m:funcPr>
                          <m:ctrlPr>
                            <a:rPr lang="en-IN" sz="2000" i="1">
                              <a:latin typeface="Cambria Math" panose="02040503050406030204" pitchFamily="18" charset="0"/>
                            </a:rPr>
                          </m:ctrlPr>
                        </m:funcPr>
                        <m:fName>
                          <m:limLow>
                            <m:limLowPr>
                              <m:ctrlPr>
                                <a:rPr lang="en-IN" sz="2000" i="1">
                                  <a:latin typeface="Cambria Math" panose="02040503050406030204" pitchFamily="18" charset="0"/>
                                </a:rPr>
                              </m:ctrlPr>
                            </m:limLowPr>
                            <m:e>
                              <m:r>
                                <m:rPr>
                                  <m:sty m:val="p"/>
                                </m:rPr>
                                <a:rPr lang="en-IN" sz="2000">
                                  <a:latin typeface="Cambria Math" panose="02040503050406030204" pitchFamily="18" charset="0"/>
                                </a:rPr>
                                <m:t>arg</m:t>
                              </m:r>
                              <m:r>
                                <a:rPr lang="en-IN" sz="2000">
                                  <a:latin typeface="Cambria Math" panose="02040503050406030204" pitchFamily="18" charset="0"/>
                                </a:rPr>
                                <m:t> </m:t>
                              </m:r>
                              <m:r>
                                <m:rPr>
                                  <m:sty m:val="p"/>
                                </m:rPr>
                                <a:rPr lang="en-IN" sz="2000">
                                  <a:latin typeface="Cambria Math" panose="02040503050406030204" pitchFamily="18" charset="0"/>
                                </a:rPr>
                                <m:t>max</m:t>
                              </m:r>
                            </m:e>
                            <m:lim>
                              <m:r>
                                <a:rPr lang="en-IN" sz="2000" i="1">
                                  <a:latin typeface="Cambria Math" panose="02040503050406030204" pitchFamily="18" charset="0"/>
                                </a:rPr>
                                <m:t> </m:t>
                              </m:r>
                              <m:r>
                                <a:rPr lang="en-IN" sz="2000" i="1">
                                  <a:latin typeface="Cambria Math" panose="02040503050406030204" pitchFamily="18" charset="0"/>
                                </a:rPr>
                                <m:t>𝑎</m:t>
                              </m:r>
                              <m:r>
                                <a:rPr lang="en-US" sz="2000" i="1">
                                  <a:latin typeface="Cambria Math" panose="02040503050406030204" pitchFamily="18" charset="0"/>
                                </a:rPr>
                                <m:t>∈</m:t>
                              </m:r>
                              <m:r>
                                <a:rPr lang="en-US" sz="2000" i="1">
                                  <a:latin typeface="Cambria Math" panose="02040503050406030204" pitchFamily="18" charset="0"/>
                                </a:rPr>
                                <m:t>𝐴</m:t>
                              </m:r>
                              <m:r>
                                <a:rPr lang="en-IN" sz="2000" i="1">
                                  <a:latin typeface="Cambria Math" panose="02040503050406030204" pitchFamily="18" charset="0"/>
                                </a:rPr>
                                <m:t> </m:t>
                              </m:r>
                            </m:lim>
                          </m:limLow>
                        </m:fName>
                        <m:e>
                          <m:sSup>
                            <m:sSupPr>
                              <m:ctrlPr>
                                <a:rPr lang="en-IN" sz="2000" i="1">
                                  <a:solidFill>
                                    <a:srgbClr val="C00000"/>
                                  </a:solidFill>
                                  <a:latin typeface="Cambria Math" panose="02040503050406030204" pitchFamily="18" charset="0"/>
                                </a:rPr>
                              </m:ctrlPr>
                            </m:sSupPr>
                            <m:e>
                              <m:r>
                                <a:rPr lang="en-IN" sz="2000" i="1">
                                  <a:solidFill>
                                    <a:srgbClr val="C00000"/>
                                  </a:solidFill>
                                  <a:latin typeface="Cambria Math" panose="02040503050406030204" pitchFamily="18" charset="0"/>
                                </a:rPr>
                                <m:t>𝑄</m:t>
                              </m:r>
                            </m:e>
                            <m:sup>
                              <m:r>
                                <a:rPr lang="en-IN" sz="2000" i="1">
                                  <a:solidFill>
                                    <a:srgbClr val="C00000"/>
                                  </a:solidFill>
                                  <a:latin typeface="Cambria Math" panose="02040503050406030204" pitchFamily="18" charset="0"/>
                                </a:rPr>
                                <m:t>∗</m:t>
                              </m:r>
                            </m:sup>
                          </m:sSup>
                          <m:d>
                            <m:dPr>
                              <m:ctrlPr>
                                <a:rPr lang="en-IN" sz="2000" i="1">
                                  <a:latin typeface="Cambria Math" panose="02040503050406030204" pitchFamily="18" charset="0"/>
                                </a:rPr>
                              </m:ctrlPr>
                            </m:dPr>
                            <m:e>
                              <m:r>
                                <a:rPr lang="en-IN" sz="2000" i="1">
                                  <a:latin typeface="Cambria Math" panose="02040503050406030204" pitchFamily="18" charset="0"/>
                                </a:rPr>
                                <m:t>𝑠</m:t>
                              </m:r>
                              <m:r>
                                <a:rPr lang="en-IN" sz="2000" i="1">
                                  <a:latin typeface="Cambria Math" panose="02040503050406030204" pitchFamily="18" charset="0"/>
                                </a:rPr>
                                <m:t>,</m:t>
                              </m:r>
                              <m:r>
                                <a:rPr lang="en-IN" sz="2000" i="1">
                                  <a:latin typeface="Cambria Math" panose="02040503050406030204" pitchFamily="18" charset="0"/>
                                </a:rPr>
                                <m:t>𝑎</m:t>
                              </m:r>
                            </m:e>
                          </m:d>
                        </m:e>
                      </m:func>
                      <m:r>
                        <a:rPr lang="en-US" sz="2000" b="0" i="0" smtClean="0">
                          <a:latin typeface="Cambria Math" panose="02040503050406030204" pitchFamily="18" charset="0"/>
                        </a:rPr>
                        <m:t>.</m:t>
                      </m:r>
                    </m:oMath>
                  </m:oMathPara>
                </a14:m>
                <a:endParaRPr lang="en-US" sz="2000" dirty="0">
                  <a:latin typeface="Brush Script MT" panose="03060802040406070304" pitchFamily="66" charset="0"/>
                </a:endParaRPr>
              </a:p>
              <a:p>
                <a:pPr>
                  <a:buFont typeface="Wingdings" panose="05000000000000000000" pitchFamily="2" charset="2"/>
                  <a:buChar char="q"/>
                </a:pPr>
                <a:endParaRPr lang="en-US" sz="2200" dirty="0"/>
              </a:p>
              <a:p>
                <a:pPr>
                  <a:buFont typeface="Wingdings" panose="05000000000000000000" pitchFamily="2" charset="2"/>
                  <a:buChar char="q"/>
                </a:pPr>
                <a:endParaRPr lang="en-US" sz="2200" dirty="0"/>
              </a:p>
              <a:p>
                <a:pPr>
                  <a:buFont typeface="Wingdings" panose="05000000000000000000" pitchFamily="2" charset="2"/>
                  <a:buChar char="q"/>
                </a:pPr>
                <a:endParaRPr lang="en-IN" sz="2200" b="1" dirty="0">
                  <a:solidFill>
                    <a:schemeClr val="tx1">
                      <a:lumMod val="95000"/>
                      <a:lumOff val="5000"/>
                    </a:schemeClr>
                  </a:solidFill>
                </a:endParaRPr>
              </a:p>
            </p:txBody>
          </p:sp>
        </mc:Choice>
        <mc:Fallback>
          <p:sp>
            <p:nvSpPr>
              <p:cNvPr id="3" name="Content Placeholder 2">
                <a:extLst>
                  <a:ext uri="{FF2B5EF4-FFF2-40B4-BE49-F238E27FC236}">
                    <a16:creationId xmlns:a16="http://schemas.microsoft.com/office/drawing/2014/main" id="{37702770-48B6-47A6-45EC-B0FF73E5FDB7}"/>
                  </a:ext>
                </a:extLst>
              </p:cNvPr>
              <p:cNvSpPr txBox="1">
                <a:spLocks noRot="1" noChangeAspect="1" noMove="1" noResize="1" noEditPoints="1" noAdjustHandles="1" noChangeArrowheads="1" noChangeShapeType="1" noTextEdit="1"/>
              </p:cNvSpPr>
              <p:nvPr/>
            </p:nvSpPr>
            <p:spPr>
              <a:xfrm>
                <a:off x="665559" y="3775608"/>
                <a:ext cx="6365065" cy="5744505"/>
              </a:xfrm>
              <a:prstGeom prst="rect">
                <a:avLst/>
              </a:prstGeom>
              <a:blipFill>
                <a:blip r:embed="rId4"/>
                <a:stretch>
                  <a:fillRect l="-958"/>
                </a:stretch>
              </a:blipFill>
            </p:spPr>
            <p:txBody>
              <a:bodyPr/>
              <a:lstStyle/>
              <a:p>
                <a:r>
                  <a:rPr lang="en-IN">
                    <a:noFill/>
                  </a:rPr>
                  <a:t> </a:t>
                </a:r>
              </a:p>
            </p:txBody>
          </p:sp>
        </mc:Fallback>
      </mc:AlternateContent>
      <p:sp>
        <p:nvSpPr>
          <p:cNvPr id="18" name="Rectangle 17">
            <a:extLst>
              <a:ext uri="{FF2B5EF4-FFF2-40B4-BE49-F238E27FC236}">
                <a16:creationId xmlns:a16="http://schemas.microsoft.com/office/drawing/2014/main" id="{28B647C3-50DB-AD12-C161-28BF611D882F}"/>
              </a:ext>
            </a:extLst>
          </p:cNvPr>
          <p:cNvSpPr/>
          <p:nvPr/>
        </p:nvSpPr>
        <p:spPr>
          <a:xfrm>
            <a:off x="552449" y="4275408"/>
            <a:ext cx="6365065" cy="2125391"/>
          </a:xfrm>
          <a:custGeom>
            <a:avLst/>
            <a:gdLst>
              <a:gd name="csX0" fmla="*/ 0 w 6365065"/>
              <a:gd name="csY0" fmla="*/ 0 h 2125391"/>
              <a:gd name="csX1" fmla="*/ 642293 w 6365065"/>
              <a:gd name="csY1" fmla="*/ 0 h 2125391"/>
              <a:gd name="csX2" fmla="*/ 1157285 w 6365065"/>
              <a:gd name="csY2" fmla="*/ 0 h 2125391"/>
              <a:gd name="csX3" fmla="*/ 1735927 w 6365065"/>
              <a:gd name="csY3" fmla="*/ 0 h 2125391"/>
              <a:gd name="csX4" fmla="*/ 2441870 w 6365065"/>
              <a:gd name="csY4" fmla="*/ 0 h 2125391"/>
              <a:gd name="csX5" fmla="*/ 2893211 w 6365065"/>
              <a:gd name="csY5" fmla="*/ 0 h 2125391"/>
              <a:gd name="csX6" fmla="*/ 3535504 w 6365065"/>
              <a:gd name="csY6" fmla="*/ 0 h 2125391"/>
              <a:gd name="csX7" fmla="*/ 3986845 w 6365065"/>
              <a:gd name="csY7" fmla="*/ 0 h 2125391"/>
              <a:gd name="csX8" fmla="*/ 4565488 w 6365065"/>
              <a:gd name="csY8" fmla="*/ 0 h 2125391"/>
              <a:gd name="csX9" fmla="*/ 5207780 w 6365065"/>
              <a:gd name="csY9" fmla="*/ 0 h 2125391"/>
              <a:gd name="csX10" fmla="*/ 5595471 w 6365065"/>
              <a:gd name="csY10" fmla="*/ 0 h 2125391"/>
              <a:gd name="csX11" fmla="*/ 6365065 w 6365065"/>
              <a:gd name="csY11" fmla="*/ 0 h 2125391"/>
              <a:gd name="csX12" fmla="*/ 6365065 w 6365065"/>
              <a:gd name="csY12" fmla="*/ 573856 h 2125391"/>
              <a:gd name="csX13" fmla="*/ 6365065 w 6365065"/>
              <a:gd name="csY13" fmla="*/ 1147711 h 2125391"/>
              <a:gd name="csX14" fmla="*/ 6365065 w 6365065"/>
              <a:gd name="csY14" fmla="*/ 2125391 h 2125391"/>
              <a:gd name="csX15" fmla="*/ 5850073 w 6365065"/>
              <a:gd name="csY15" fmla="*/ 2125391 h 2125391"/>
              <a:gd name="csX16" fmla="*/ 5335082 w 6365065"/>
              <a:gd name="csY16" fmla="*/ 2125391 h 2125391"/>
              <a:gd name="csX17" fmla="*/ 4692789 w 6365065"/>
              <a:gd name="csY17" fmla="*/ 2125391 h 2125391"/>
              <a:gd name="csX18" fmla="*/ 4114147 w 6365065"/>
              <a:gd name="csY18" fmla="*/ 2125391 h 2125391"/>
              <a:gd name="csX19" fmla="*/ 3408203 w 6365065"/>
              <a:gd name="csY19" fmla="*/ 2125391 h 2125391"/>
              <a:gd name="csX20" fmla="*/ 2702259 w 6365065"/>
              <a:gd name="csY20" fmla="*/ 2125391 h 2125391"/>
              <a:gd name="csX21" fmla="*/ 2059966 w 6365065"/>
              <a:gd name="csY21" fmla="*/ 2125391 h 2125391"/>
              <a:gd name="csX22" fmla="*/ 1417674 w 6365065"/>
              <a:gd name="csY22" fmla="*/ 2125391 h 2125391"/>
              <a:gd name="csX23" fmla="*/ 775381 w 6365065"/>
              <a:gd name="csY23" fmla="*/ 2125391 h 2125391"/>
              <a:gd name="csX24" fmla="*/ 0 w 6365065"/>
              <a:gd name="csY24" fmla="*/ 2125391 h 2125391"/>
              <a:gd name="csX25" fmla="*/ 0 w 6365065"/>
              <a:gd name="csY25" fmla="*/ 1551535 h 2125391"/>
              <a:gd name="csX26" fmla="*/ 0 w 6365065"/>
              <a:gd name="csY26" fmla="*/ 1020188 h 2125391"/>
              <a:gd name="csX27" fmla="*/ 0 w 6365065"/>
              <a:gd name="csY27" fmla="*/ 552602 h 2125391"/>
              <a:gd name="csX28" fmla="*/ 0 w 6365065"/>
              <a:gd name="csY28" fmla="*/ 0 h 212539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6365065" h="2125391" fill="none" extrusionOk="0">
                <a:moveTo>
                  <a:pt x="0" y="0"/>
                </a:moveTo>
                <a:cubicBezTo>
                  <a:pt x="252775" y="-3789"/>
                  <a:pt x="392188" y="45879"/>
                  <a:pt x="642293" y="0"/>
                </a:cubicBezTo>
                <a:cubicBezTo>
                  <a:pt x="892398" y="-45879"/>
                  <a:pt x="1010079" y="13160"/>
                  <a:pt x="1157285" y="0"/>
                </a:cubicBezTo>
                <a:cubicBezTo>
                  <a:pt x="1304491" y="-13160"/>
                  <a:pt x="1556244" y="26617"/>
                  <a:pt x="1735927" y="0"/>
                </a:cubicBezTo>
                <a:cubicBezTo>
                  <a:pt x="1915610" y="-26617"/>
                  <a:pt x="2142938" y="2334"/>
                  <a:pt x="2441870" y="0"/>
                </a:cubicBezTo>
                <a:cubicBezTo>
                  <a:pt x="2740802" y="-2334"/>
                  <a:pt x="2732507" y="30461"/>
                  <a:pt x="2893211" y="0"/>
                </a:cubicBezTo>
                <a:cubicBezTo>
                  <a:pt x="3053915" y="-30461"/>
                  <a:pt x="3237477" y="40440"/>
                  <a:pt x="3535504" y="0"/>
                </a:cubicBezTo>
                <a:cubicBezTo>
                  <a:pt x="3833531" y="-40440"/>
                  <a:pt x="3763845" y="6759"/>
                  <a:pt x="3986845" y="0"/>
                </a:cubicBezTo>
                <a:cubicBezTo>
                  <a:pt x="4209845" y="-6759"/>
                  <a:pt x="4327205" y="51581"/>
                  <a:pt x="4565488" y="0"/>
                </a:cubicBezTo>
                <a:cubicBezTo>
                  <a:pt x="4803771" y="-51581"/>
                  <a:pt x="4914000" y="54370"/>
                  <a:pt x="5207780" y="0"/>
                </a:cubicBezTo>
                <a:cubicBezTo>
                  <a:pt x="5501560" y="-54370"/>
                  <a:pt x="5435819" y="27285"/>
                  <a:pt x="5595471" y="0"/>
                </a:cubicBezTo>
                <a:cubicBezTo>
                  <a:pt x="5755123" y="-27285"/>
                  <a:pt x="6200129" y="88106"/>
                  <a:pt x="6365065" y="0"/>
                </a:cubicBezTo>
                <a:cubicBezTo>
                  <a:pt x="6369840" y="263669"/>
                  <a:pt x="6331099" y="357275"/>
                  <a:pt x="6365065" y="573856"/>
                </a:cubicBezTo>
                <a:cubicBezTo>
                  <a:pt x="6399031" y="790437"/>
                  <a:pt x="6330074" y="875887"/>
                  <a:pt x="6365065" y="1147711"/>
                </a:cubicBezTo>
                <a:cubicBezTo>
                  <a:pt x="6400056" y="1419536"/>
                  <a:pt x="6256218" y="1858431"/>
                  <a:pt x="6365065" y="2125391"/>
                </a:cubicBezTo>
                <a:cubicBezTo>
                  <a:pt x="6128648" y="2182476"/>
                  <a:pt x="6025427" y="2063970"/>
                  <a:pt x="5850073" y="2125391"/>
                </a:cubicBezTo>
                <a:cubicBezTo>
                  <a:pt x="5674719" y="2186812"/>
                  <a:pt x="5525144" y="2074130"/>
                  <a:pt x="5335082" y="2125391"/>
                </a:cubicBezTo>
                <a:cubicBezTo>
                  <a:pt x="5145020" y="2176652"/>
                  <a:pt x="4912546" y="2054208"/>
                  <a:pt x="4692789" y="2125391"/>
                </a:cubicBezTo>
                <a:cubicBezTo>
                  <a:pt x="4473032" y="2196574"/>
                  <a:pt x="4387818" y="2065645"/>
                  <a:pt x="4114147" y="2125391"/>
                </a:cubicBezTo>
                <a:cubicBezTo>
                  <a:pt x="3840476" y="2185137"/>
                  <a:pt x="3757425" y="2084867"/>
                  <a:pt x="3408203" y="2125391"/>
                </a:cubicBezTo>
                <a:cubicBezTo>
                  <a:pt x="3058981" y="2165915"/>
                  <a:pt x="3043628" y="2061436"/>
                  <a:pt x="2702259" y="2125391"/>
                </a:cubicBezTo>
                <a:cubicBezTo>
                  <a:pt x="2360890" y="2189346"/>
                  <a:pt x="2200033" y="2067521"/>
                  <a:pt x="2059966" y="2125391"/>
                </a:cubicBezTo>
                <a:cubicBezTo>
                  <a:pt x="1919899" y="2183261"/>
                  <a:pt x="1626493" y="2097492"/>
                  <a:pt x="1417674" y="2125391"/>
                </a:cubicBezTo>
                <a:cubicBezTo>
                  <a:pt x="1208855" y="2153290"/>
                  <a:pt x="967779" y="2052145"/>
                  <a:pt x="775381" y="2125391"/>
                </a:cubicBezTo>
                <a:cubicBezTo>
                  <a:pt x="582983" y="2198637"/>
                  <a:pt x="294199" y="2121416"/>
                  <a:pt x="0" y="2125391"/>
                </a:cubicBezTo>
                <a:cubicBezTo>
                  <a:pt x="-63723" y="1920438"/>
                  <a:pt x="30136" y="1790315"/>
                  <a:pt x="0" y="1551535"/>
                </a:cubicBezTo>
                <a:cubicBezTo>
                  <a:pt x="-30136" y="1312755"/>
                  <a:pt x="36300" y="1238721"/>
                  <a:pt x="0" y="1020188"/>
                </a:cubicBezTo>
                <a:cubicBezTo>
                  <a:pt x="-36300" y="801655"/>
                  <a:pt x="55453" y="711209"/>
                  <a:pt x="0" y="552602"/>
                </a:cubicBezTo>
                <a:cubicBezTo>
                  <a:pt x="-55453" y="393995"/>
                  <a:pt x="50151" y="254163"/>
                  <a:pt x="0" y="0"/>
                </a:cubicBezTo>
                <a:close/>
              </a:path>
              <a:path w="6365065" h="2125391" stroke="0" extrusionOk="0">
                <a:moveTo>
                  <a:pt x="0" y="0"/>
                </a:moveTo>
                <a:cubicBezTo>
                  <a:pt x="120950" y="-43639"/>
                  <a:pt x="385172" y="59534"/>
                  <a:pt x="514992" y="0"/>
                </a:cubicBezTo>
                <a:cubicBezTo>
                  <a:pt x="644812" y="-59534"/>
                  <a:pt x="776220" y="18347"/>
                  <a:pt x="902682" y="0"/>
                </a:cubicBezTo>
                <a:cubicBezTo>
                  <a:pt x="1029144" y="-18347"/>
                  <a:pt x="1406641" y="75725"/>
                  <a:pt x="1608626" y="0"/>
                </a:cubicBezTo>
                <a:cubicBezTo>
                  <a:pt x="1810611" y="-75725"/>
                  <a:pt x="1950919" y="60399"/>
                  <a:pt x="2123617" y="0"/>
                </a:cubicBezTo>
                <a:cubicBezTo>
                  <a:pt x="2296315" y="-60399"/>
                  <a:pt x="2522887" y="26962"/>
                  <a:pt x="2638609" y="0"/>
                </a:cubicBezTo>
                <a:cubicBezTo>
                  <a:pt x="2754331" y="-26962"/>
                  <a:pt x="3013960" y="37808"/>
                  <a:pt x="3344552" y="0"/>
                </a:cubicBezTo>
                <a:cubicBezTo>
                  <a:pt x="3675144" y="-37808"/>
                  <a:pt x="3584051" y="40702"/>
                  <a:pt x="3795893" y="0"/>
                </a:cubicBezTo>
                <a:cubicBezTo>
                  <a:pt x="4007735" y="-40702"/>
                  <a:pt x="4216485" y="4388"/>
                  <a:pt x="4501837" y="0"/>
                </a:cubicBezTo>
                <a:cubicBezTo>
                  <a:pt x="4787189" y="-4388"/>
                  <a:pt x="5010551" y="75724"/>
                  <a:pt x="5207780" y="0"/>
                </a:cubicBezTo>
                <a:cubicBezTo>
                  <a:pt x="5405009" y="-75724"/>
                  <a:pt x="5643079" y="58468"/>
                  <a:pt x="5786423" y="0"/>
                </a:cubicBezTo>
                <a:cubicBezTo>
                  <a:pt x="5929767" y="-58468"/>
                  <a:pt x="6126235" y="19771"/>
                  <a:pt x="6365065" y="0"/>
                </a:cubicBezTo>
                <a:cubicBezTo>
                  <a:pt x="6378789" y="172204"/>
                  <a:pt x="6363071" y="389066"/>
                  <a:pt x="6365065" y="510094"/>
                </a:cubicBezTo>
                <a:cubicBezTo>
                  <a:pt x="6367059" y="631122"/>
                  <a:pt x="6330344" y="851636"/>
                  <a:pt x="6365065" y="977680"/>
                </a:cubicBezTo>
                <a:cubicBezTo>
                  <a:pt x="6399786" y="1103724"/>
                  <a:pt x="6332513" y="1355646"/>
                  <a:pt x="6365065" y="1509028"/>
                </a:cubicBezTo>
                <a:cubicBezTo>
                  <a:pt x="6397617" y="1662410"/>
                  <a:pt x="6349610" y="1908794"/>
                  <a:pt x="6365065" y="2125391"/>
                </a:cubicBezTo>
                <a:cubicBezTo>
                  <a:pt x="6211826" y="2169809"/>
                  <a:pt x="5910195" y="2071910"/>
                  <a:pt x="5786423" y="2125391"/>
                </a:cubicBezTo>
                <a:cubicBezTo>
                  <a:pt x="5662651" y="2178872"/>
                  <a:pt x="5398407" y="2121279"/>
                  <a:pt x="5080479" y="2125391"/>
                </a:cubicBezTo>
                <a:cubicBezTo>
                  <a:pt x="4762551" y="2129503"/>
                  <a:pt x="4759870" y="2098964"/>
                  <a:pt x="4501837" y="2125391"/>
                </a:cubicBezTo>
                <a:cubicBezTo>
                  <a:pt x="4243804" y="2151818"/>
                  <a:pt x="4292052" y="2083572"/>
                  <a:pt x="4114147" y="2125391"/>
                </a:cubicBezTo>
                <a:cubicBezTo>
                  <a:pt x="3936242" y="2167210"/>
                  <a:pt x="3803771" y="2120285"/>
                  <a:pt x="3662806" y="2125391"/>
                </a:cubicBezTo>
                <a:cubicBezTo>
                  <a:pt x="3521841" y="2130497"/>
                  <a:pt x="3199964" y="2043824"/>
                  <a:pt x="2956862" y="2125391"/>
                </a:cubicBezTo>
                <a:cubicBezTo>
                  <a:pt x="2713760" y="2206958"/>
                  <a:pt x="2655184" y="2086253"/>
                  <a:pt x="2378220" y="2125391"/>
                </a:cubicBezTo>
                <a:cubicBezTo>
                  <a:pt x="2101256" y="2164529"/>
                  <a:pt x="2117007" y="2101012"/>
                  <a:pt x="1926879" y="2125391"/>
                </a:cubicBezTo>
                <a:cubicBezTo>
                  <a:pt x="1736751" y="2149770"/>
                  <a:pt x="1556787" y="2104032"/>
                  <a:pt x="1348236" y="2125391"/>
                </a:cubicBezTo>
                <a:cubicBezTo>
                  <a:pt x="1139685" y="2146750"/>
                  <a:pt x="1043312" y="2102885"/>
                  <a:pt x="960546" y="2125391"/>
                </a:cubicBezTo>
                <a:cubicBezTo>
                  <a:pt x="877780" y="2147897"/>
                  <a:pt x="669176" y="2111802"/>
                  <a:pt x="572856" y="2125391"/>
                </a:cubicBezTo>
                <a:cubicBezTo>
                  <a:pt x="476536" y="2138980"/>
                  <a:pt x="144263" y="2110488"/>
                  <a:pt x="0" y="2125391"/>
                </a:cubicBezTo>
                <a:cubicBezTo>
                  <a:pt x="-42083" y="2012593"/>
                  <a:pt x="38729" y="1866688"/>
                  <a:pt x="0" y="1636551"/>
                </a:cubicBezTo>
                <a:cubicBezTo>
                  <a:pt x="-38729" y="1406414"/>
                  <a:pt x="17113" y="1193306"/>
                  <a:pt x="0" y="1062696"/>
                </a:cubicBezTo>
                <a:cubicBezTo>
                  <a:pt x="-17113" y="932087"/>
                  <a:pt x="24662" y="776906"/>
                  <a:pt x="0" y="552602"/>
                </a:cubicBezTo>
                <a:cubicBezTo>
                  <a:pt x="-24662" y="328298"/>
                  <a:pt x="11739" y="266487"/>
                  <a:pt x="0" y="0"/>
                </a:cubicBezTo>
                <a:close/>
              </a:path>
            </a:pathLst>
          </a:custGeom>
          <a:solidFill>
            <a:srgbClr val="002060">
              <a:alpha val="2000"/>
            </a:srgbClr>
          </a:solidFill>
          <a:ln>
            <a:solidFill>
              <a:schemeClr val="accent1">
                <a:shade val="15000"/>
                <a:shade val="90000"/>
                <a:alpha val="59000"/>
              </a:schemeClr>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Arrow: Left 18">
            <a:extLst>
              <a:ext uri="{FF2B5EF4-FFF2-40B4-BE49-F238E27FC236}">
                <a16:creationId xmlns:a16="http://schemas.microsoft.com/office/drawing/2014/main" id="{C5387BF4-2FF3-9EEE-7C44-83A129BA9D0F}"/>
              </a:ext>
            </a:extLst>
          </p:cNvPr>
          <p:cNvSpPr/>
          <p:nvPr/>
        </p:nvSpPr>
        <p:spPr>
          <a:xfrm rot="10800000">
            <a:off x="7171957" y="5084093"/>
            <a:ext cx="581025" cy="508019"/>
          </a:xfrm>
          <a:prstGeom prst="leftArrow">
            <a:avLst/>
          </a:prstGeom>
          <a:solidFill>
            <a:srgbClr val="11651F"/>
          </a:solidFill>
          <a:ln>
            <a:solidFill>
              <a:srgbClr val="0624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5B2BB805-1227-7704-4C2C-8A43DDE65043}"/>
                  </a:ext>
                </a:extLst>
              </p:cNvPr>
              <p:cNvSpPr txBox="1"/>
              <p:nvPr/>
            </p:nvSpPr>
            <p:spPr>
              <a:xfrm>
                <a:off x="7753482" y="5153437"/>
                <a:ext cx="4438518" cy="369332"/>
              </a:xfrm>
              <a:prstGeom prst="rect">
                <a:avLst/>
              </a:prstGeom>
              <a:noFill/>
            </p:spPr>
            <p:txBody>
              <a:bodyPr wrap="square" rtlCol="0">
                <a:spAutoFit/>
              </a:bodyPr>
              <a:lstStyle/>
              <a:p>
                <a:r>
                  <a:rPr lang="en-US" dirty="0"/>
                  <a:t> How to find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𝑄</m:t>
                        </m:r>
                      </m:e>
                      <m:sup>
                        <m:r>
                          <a:rPr lang="en-US" b="0" i="1" smtClean="0">
                            <a:latin typeface="Cambria Math" panose="02040503050406030204" pitchFamily="18" charset="0"/>
                          </a:rPr>
                          <m:t>∗</m:t>
                        </m:r>
                      </m:sup>
                    </m:sSup>
                    <m:r>
                      <a:rPr lang="en-US" b="0" i="1" smtClean="0">
                        <a:latin typeface="Cambria Math" panose="02040503050406030204" pitchFamily="18" charset="0"/>
                      </a:rPr>
                      <m:t> ? </m:t>
                    </m:r>
                  </m:oMath>
                </a14:m>
                <a:r>
                  <a:rPr lang="en-IN" dirty="0"/>
                  <a:t>(Watkins et al., 1988)</a:t>
                </a:r>
              </a:p>
            </p:txBody>
          </p:sp>
        </mc:Choice>
        <mc:Fallback xmlns="">
          <p:sp>
            <p:nvSpPr>
              <p:cNvPr id="20" name="TextBox 19">
                <a:extLst>
                  <a:ext uri="{FF2B5EF4-FFF2-40B4-BE49-F238E27FC236}">
                    <a16:creationId xmlns:a16="http://schemas.microsoft.com/office/drawing/2014/main" id="{5B2BB805-1227-7704-4C2C-8A43DDE65043}"/>
                  </a:ext>
                </a:extLst>
              </p:cNvPr>
              <p:cNvSpPr txBox="1">
                <a:spLocks noRot="1" noChangeAspect="1" noMove="1" noResize="1" noEditPoints="1" noAdjustHandles="1" noChangeArrowheads="1" noChangeShapeType="1" noTextEdit="1"/>
              </p:cNvSpPr>
              <p:nvPr/>
            </p:nvSpPr>
            <p:spPr>
              <a:xfrm>
                <a:off x="7753482" y="5153437"/>
                <a:ext cx="4438518" cy="369332"/>
              </a:xfrm>
              <a:prstGeom prst="rect">
                <a:avLst/>
              </a:prstGeom>
              <a:blipFill>
                <a:blip r:embed="rId7"/>
                <a:stretch>
                  <a:fillRect t="-8197" b="-24590"/>
                </a:stretch>
              </a:blipFill>
            </p:spPr>
            <p:txBody>
              <a:bodyPr/>
              <a:lstStyle/>
              <a:p>
                <a:r>
                  <a:rPr lang="en-IN">
                    <a:noFill/>
                  </a:rPr>
                  <a:t> </a:t>
                </a:r>
              </a:p>
            </p:txBody>
          </p:sp>
        </mc:Fallback>
      </mc:AlternateContent>
      <p:sp>
        <p:nvSpPr>
          <p:cNvPr id="21" name="Rectangle 20">
            <a:extLst>
              <a:ext uri="{FF2B5EF4-FFF2-40B4-BE49-F238E27FC236}">
                <a16:creationId xmlns:a16="http://schemas.microsoft.com/office/drawing/2014/main" id="{8D6447FF-52F9-2092-DE23-42C6E5C8B2A6}"/>
              </a:ext>
            </a:extLst>
          </p:cNvPr>
          <p:cNvSpPr/>
          <p:nvPr/>
        </p:nvSpPr>
        <p:spPr>
          <a:xfrm>
            <a:off x="7866592" y="5078503"/>
            <a:ext cx="3991977" cy="534717"/>
          </a:xfrm>
          <a:custGeom>
            <a:avLst/>
            <a:gdLst>
              <a:gd name="csX0" fmla="*/ 0 w 3991977"/>
              <a:gd name="csY0" fmla="*/ 0 h 534717"/>
              <a:gd name="csX1" fmla="*/ 530363 w 3991977"/>
              <a:gd name="csY1" fmla="*/ 0 h 534717"/>
              <a:gd name="csX2" fmla="*/ 980886 w 3991977"/>
              <a:gd name="csY2" fmla="*/ 0 h 534717"/>
              <a:gd name="csX3" fmla="*/ 1471329 w 3991977"/>
              <a:gd name="csY3" fmla="*/ 0 h 534717"/>
              <a:gd name="csX4" fmla="*/ 2081531 w 3991977"/>
              <a:gd name="csY4" fmla="*/ 0 h 534717"/>
              <a:gd name="csX5" fmla="*/ 2611894 w 3991977"/>
              <a:gd name="csY5" fmla="*/ 0 h 534717"/>
              <a:gd name="csX6" fmla="*/ 3102336 w 3991977"/>
              <a:gd name="csY6" fmla="*/ 0 h 534717"/>
              <a:gd name="csX7" fmla="*/ 3991977 w 3991977"/>
              <a:gd name="csY7" fmla="*/ 0 h 534717"/>
              <a:gd name="csX8" fmla="*/ 3991977 w 3991977"/>
              <a:gd name="csY8" fmla="*/ 534717 h 534717"/>
              <a:gd name="csX9" fmla="*/ 3421695 w 3991977"/>
              <a:gd name="csY9" fmla="*/ 534717 h 534717"/>
              <a:gd name="csX10" fmla="*/ 2931252 w 3991977"/>
              <a:gd name="csY10" fmla="*/ 534717 h 534717"/>
              <a:gd name="csX11" fmla="*/ 2281130 w 3991977"/>
              <a:gd name="csY11" fmla="*/ 534717 h 534717"/>
              <a:gd name="csX12" fmla="*/ 1750767 w 3991977"/>
              <a:gd name="csY12" fmla="*/ 534717 h 534717"/>
              <a:gd name="csX13" fmla="*/ 1300244 w 3991977"/>
              <a:gd name="csY13" fmla="*/ 534717 h 534717"/>
              <a:gd name="csX14" fmla="*/ 690042 w 3991977"/>
              <a:gd name="csY14" fmla="*/ 534717 h 534717"/>
              <a:gd name="csX15" fmla="*/ 0 w 3991977"/>
              <a:gd name="csY15" fmla="*/ 534717 h 534717"/>
              <a:gd name="csX16" fmla="*/ 0 w 3991977"/>
              <a:gd name="csY16" fmla="*/ 0 h 5347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3991977" h="534717" fill="none" extrusionOk="0">
                <a:moveTo>
                  <a:pt x="0" y="0"/>
                </a:moveTo>
                <a:cubicBezTo>
                  <a:pt x="119043" y="-37627"/>
                  <a:pt x="327728" y="45861"/>
                  <a:pt x="530363" y="0"/>
                </a:cubicBezTo>
                <a:cubicBezTo>
                  <a:pt x="732998" y="-45861"/>
                  <a:pt x="844451" y="49129"/>
                  <a:pt x="980886" y="0"/>
                </a:cubicBezTo>
                <a:cubicBezTo>
                  <a:pt x="1117321" y="-49129"/>
                  <a:pt x="1244227" y="24312"/>
                  <a:pt x="1471329" y="0"/>
                </a:cubicBezTo>
                <a:cubicBezTo>
                  <a:pt x="1698431" y="-24312"/>
                  <a:pt x="1920551" y="59558"/>
                  <a:pt x="2081531" y="0"/>
                </a:cubicBezTo>
                <a:cubicBezTo>
                  <a:pt x="2242511" y="-59558"/>
                  <a:pt x="2443690" y="27264"/>
                  <a:pt x="2611894" y="0"/>
                </a:cubicBezTo>
                <a:cubicBezTo>
                  <a:pt x="2780098" y="-27264"/>
                  <a:pt x="2939907" y="30586"/>
                  <a:pt x="3102336" y="0"/>
                </a:cubicBezTo>
                <a:cubicBezTo>
                  <a:pt x="3264765" y="-30586"/>
                  <a:pt x="3734830" y="18197"/>
                  <a:pt x="3991977" y="0"/>
                </a:cubicBezTo>
                <a:cubicBezTo>
                  <a:pt x="4003072" y="233949"/>
                  <a:pt x="3942888" y="288823"/>
                  <a:pt x="3991977" y="534717"/>
                </a:cubicBezTo>
                <a:cubicBezTo>
                  <a:pt x="3816505" y="588394"/>
                  <a:pt x="3675997" y="492474"/>
                  <a:pt x="3421695" y="534717"/>
                </a:cubicBezTo>
                <a:cubicBezTo>
                  <a:pt x="3167393" y="576960"/>
                  <a:pt x="3073697" y="521623"/>
                  <a:pt x="2931252" y="534717"/>
                </a:cubicBezTo>
                <a:cubicBezTo>
                  <a:pt x="2788807" y="547811"/>
                  <a:pt x="2488126" y="463420"/>
                  <a:pt x="2281130" y="534717"/>
                </a:cubicBezTo>
                <a:cubicBezTo>
                  <a:pt x="2074134" y="606014"/>
                  <a:pt x="1949519" y="474206"/>
                  <a:pt x="1750767" y="534717"/>
                </a:cubicBezTo>
                <a:cubicBezTo>
                  <a:pt x="1552015" y="595228"/>
                  <a:pt x="1514009" y="489363"/>
                  <a:pt x="1300244" y="534717"/>
                </a:cubicBezTo>
                <a:cubicBezTo>
                  <a:pt x="1086479" y="580071"/>
                  <a:pt x="930485" y="462741"/>
                  <a:pt x="690042" y="534717"/>
                </a:cubicBezTo>
                <a:cubicBezTo>
                  <a:pt x="449599" y="606693"/>
                  <a:pt x="240132" y="484905"/>
                  <a:pt x="0" y="534717"/>
                </a:cubicBezTo>
                <a:cubicBezTo>
                  <a:pt x="-27750" y="347878"/>
                  <a:pt x="8596" y="178142"/>
                  <a:pt x="0" y="0"/>
                </a:cubicBezTo>
                <a:close/>
              </a:path>
              <a:path w="3991977" h="534717" stroke="0" extrusionOk="0">
                <a:moveTo>
                  <a:pt x="0" y="0"/>
                </a:moveTo>
                <a:cubicBezTo>
                  <a:pt x="114882" y="-16217"/>
                  <a:pt x="304401" y="17412"/>
                  <a:pt x="530363" y="0"/>
                </a:cubicBezTo>
                <a:cubicBezTo>
                  <a:pt x="756325" y="-17412"/>
                  <a:pt x="809780" y="29511"/>
                  <a:pt x="980886" y="0"/>
                </a:cubicBezTo>
                <a:cubicBezTo>
                  <a:pt x="1151992" y="-29511"/>
                  <a:pt x="1366262" y="75347"/>
                  <a:pt x="1631008" y="0"/>
                </a:cubicBezTo>
                <a:cubicBezTo>
                  <a:pt x="1895754" y="-75347"/>
                  <a:pt x="1933269" y="61359"/>
                  <a:pt x="2161370" y="0"/>
                </a:cubicBezTo>
                <a:cubicBezTo>
                  <a:pt x="2389471" y="-61359"/>
                  <a:pt x="2477623" y="35511"/>
                  <a:pt x="2691733" y="0"/>
                </a:cubicBezTo>
                <a:cubicBezTo>
                  <a:pt x="2905843" y="-35511"/>
                  <a:pt x="3093622" y="55825"/>
                  <a:pt x="3341855" y="0"/>
                </a:cubicBezTo>
                <a:cubicBezTo>
                  <a:pt x="3590088" y="-55825"/>
                  <a:pt x="3742912" y="33611"/>
                  <a:pt x="3991977" y="0"/>
                </a:cubicBezTo>
                <a:cubicBezTo>
                  <a:pt x="3994215" y="250858"/>
                  <a:pt x="3978584" y="275343"/>
                  <a:pt x="3991977" y="534717"/>
                </a:cubicBezTo>
                <a:cubicBezTo>
                  <a:pt x="3853249" y="540208"/>
                  <a:pt x="3636693" y="498572"/>
                  <a:pt x="3501534" y="534717"/>
                </a:cubicBezTo>
                <a:cubicBezTo>
                  <a:pt x="3366375" y="570862"/>
                  <a:pt x="3089944" y="496121"/>
                  <a:pt x="2931252" y="534717"/>
                </a:cubicBezTo>
                <a:cubicBezTo>
                  <a:pt x="2772560" y="573313"/>
                  <a:pt x="2522111" y="471728"/>
                  <a:pt x="2360969" y="534717"/>
                </a:cubicBezTo>
                <a:cubicBezTo>
                  <a:pt x="2199827" y="597706"/>
                  <a:pt x="2025831" y="490746"/>
                  <a:pt x="1830607" y="534717"/>
                </a:cubicBezTo>
                <a:cubicBezTo>
                  <a:pt x="1635383" y="578688"/>
                  <a:pt x="1416872" y="519601"/>
                  <a:pt x="1180485" y="534717"/>
                </a:cubicBezTo>
                <a:cubicBezTo>
                  <a:pt x="944098" y="549833"/>
                  <a:pt x="814739" y="477386"/>
                  <a:pt x="530363" y="534717"/>
                </a:cubicBezTo>
                <a:cubicBezTo>
                  <a:pt x="245987" y="592048"/>
                  <a:pt x="122334" y="519990"/>
                  <a:pt x="0" y="534717"/>
                </a:cubicBezTo>
                <a:cubicBezTo>
                  <a:pt x="-16323" y="397859"/>
                  <a:pt x="63482" y="148010"/>
                  <a:pt x="0" y="0"/>
                </a:cubicBezTo>
                <a:close/>
              </a:path>
            </a:pathLst>
          </a:custGeom>
          <a:solidFill>
            <a:srgbClr val="002060">
              <a:alpha val="2000"/>
            </a:srgbClr>
          </a:solidFill>
          <a:ln>
            <a:solidFill>
              <a:schemeClr val="accent1">
                <a:shade val="15000"/>
                <a:shade val="90000"/>
                <a:alpha val="59000"/>
              </a:schemeClr>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3A4EDFC0-B905-1B4A-D1E0-87CA32A532D0}"/>
                  </a:ext>
                </a:extLst>
              </p:cNvPr>
              <p:cNvSpPr txBox="1"/>
              <p:nvPr/>
            </p:nvSpPr>
            <p:spPr>
              <a:xfrm>
                <a:off x="552449" y="1158776"/>
                <a:ext cx="10777181" cy="2954655"/>
              </a:xfrm>
              <a:prstGeom prst="rect">
                <a:avLst/>
              </a:prstGeom>
              <a:noFill/>
            </p:spPr>
            <p:txBody>
              <a:bodyPr wrap="none" rtlCol="0">
                <a:spAutoFit/>
              </a:bodyPr>
              <a:lstStyle/>
              <a:p>
                <a:pPr>
                  <a:buFont typeface="Wingdings" panose="05000000000000000000" pitchFamily="2" charset="2"/>
                  <a:buChar char="q"/>
                </a:pPr>
                <a:r>
                  <a:rPr lang="en-US" sz="2400" dirty="0"/>
                  <a:t>We consider an MDP </a:t>
                </a:r>
                <a14:m>
                  <m:oMath xmlns:m="http://schemas.openxmlformats.org/officeDocument/2006/math">
                    <m:r>
                      <a:rPr lang="en-US" sz="2400" i="1">
                        <a:latin typeface="Cambria Math" panose="02040503050406030204" pitchFamily="18" charset="0"/>
                      </a:rPr>
                      <m:t>ℳ</m:t>
                    </m:r>
                    <m:r>
                      <a:rPr lang="en-US" sz="2400" i="1">
                        <a:latin typeface="Cambria Math" panose="02040503050406030204" pitchFamily="18" charset="0"/>
                      </a:rPr>
                      <m:t>=(</m:t>
                    </m:r>
                    <m:r>
                      <a:rPr lang="en-US" sz="2400" i="1">
                        <a:latin typeface="Cambria Math" panose="02040503050406030204" pitchFamily="18" charset="0"/>
                      </a:rPr>
                      <m:t>𝑆</m:t>
                    </m:r>
                    <m:r>
                      <a:rPr lang="en-US" sz="2400" i="1">
                        <a:latin typeface="Cambria Math" panose="02040503050406030204" pitchFamily="18" charset="0"/>
                      </a:rPr>
                      <m:t>,</m:t>
                    </m:r>
                    <m:r>
                      <a:rPr lang="en-US" sz="2400" i="1">
                        <a:latin typeface="Cambria Math" panose="02040503050406030204" pitchFamily="18" charset="0"/>
                      </a:rPr>
                      <m:t>𝐴</m:t>
                    </m:r>
                    <m:r>
                      <a:rPr lang="en-US" sz="2400" i="1">
                        <a:latin typeface="Cambria Math" panose="02040503050406030204" pitchFamily="18" charset="0"/>
                      </a:rPr>
                      <m:t>, </m:t>
                    </m:r>
                    <m:r>
                      <a:rPr lang="en-US" sz="2400" i="1">
                        <a:latin typeface="Cambria Math" panose="02040503050406030204" pitchFamily="18" charset="0"/>
                      </a:rPr>
                      <m:t>𝑃</m:t>
                    </m:r>
                    <m:r>
                      <a:rPr lang="en-US" sz="2400" i="1">
                        <a:latin typeface="Cambria Math" panose="02040503050406030204" pitchFamily="18" charset="0"/>
                      </a:rPr>
                      <m:t>, </m:t>
                    </m:r>
                    <m:r>
                      <a:rPr lang="en-US" sz="2400" i="1">
                        <a:latin typeface="Cambria Math" panose="02040503050406030204" pitchFamily="18" charset="0"/>
                      </a:rPr>
                      <m:t>𝑅</m:t>
                    </m:r>
                    <m:r>
                      <a:rPr lang="en-US" sz="2400" i="1">
                        <a:latin typeface="Cambria Math" panose="02040503050406030204" pitchFamily="18" charset="0"/>
                      </a:rPr>
                      <m:t>, </m:t>
                    </m:r>
                    <m:r>
                      <a:rPr lang="en-US" sz="2400" i="1">
                        <a:latin typeface="Cambria Math" panose="02040503050406030204" pitchFamily="18" charset="0"/>
                      </a:rPr>
                      <m:t>𝛾</m:t>
                    </m:r>
                    <m:r>
                      <a:rPr lang="en-US" sz="2400" i="1">
                        <a:latin typeface="Cambria Math" panose="02040503050406030204" pitchFamily="18" charset="0"/>
                      </a:rPr>
                      <m:t>)</m:t>
                    </m:r>
                  </m:oMath>
                </a14:m>
                <a:r>
                  <a:rPr lang="en-US" sz="2400" dirty="0"/>
                  <a:t> with finite state and action spaces.</a:t>
                </a:r>
                <a:br>
                  <a:rPr lang="en-US" sz="2400" dirty="0"/>
                </a:br>
                <a:endParaRPr lang="en-US" sz="2400" dirty="0"/>
              </a:p>
              <a:p>
                <a:pPr>
                  <a:buFont typeface="Wingdings" panose="05000000000000000000" pitchFamily="2" charset="2"/>
                  <a:buChar char="q"/>
                </a:pPr>
                <a14:m>
                  <m:oMath xmlns:m="http://schemas.openxmlformats.org/officeDocument/2006/math">
                    <m:r>
                      <a:rPr lang="en-US" sz="2400" i="1">
                        <a:latin typeface="Cambria Math" panose="02040503050406030204" pitchFamily="18" charset="0"/>
                      </a:rPr>
                      <m:t> </m:t>
                    </m:r>
                    <m:r>
                      <a:rPr lang="en-US" sz="2400" i="1">
                        <a:latin typeface="Cambria Math" panose="02040503050406030204" pitchFamily="18" charset="0"/>
                      </a:rPr>
                      <m:t>𝑃</m:t>
                    </m:r>
                    <m:r>
                      <a:rPr lang="en-US" sz="2400" i="1">
                        <a:latin typeface="Cambria Math" panose="02040503050406030204" pitchFamily="18" charset="0"/>
                      </a:rPr>
                      <m:t>(</m:t>
                    </m:r>
                    <m:sSup>
                      <m:sSupPr>
                        <m:ctrlPr>
                          <a:rPr lang="en-US" sz="2400" i="1">
                            <a:latin typeface="Cambria Math" panose="02040503050406030204" pitchFamily="18" charset="0"/>
                          </a:rPr>
                        </m:ctrlPr>
                      </m:sSupPr>
                      <m:e>
                        <m:r>
                          <a:rPr lang="en-US" sz="2400" i="1">
                            <a:latin typeface="Cambria Math" panose="02040503050406030204" pitchFamily="18" charset="0"/>
                          </a:rPr>
                          <m:t>𝑠</m:t>
                        </m:r>
                      </m:e>
                      <m:sup>
                        <m:r>
                          <a:rPr lang="en-US" sz="2400" i="1">
                            <a:latin typeface="Cambria Math" panose="02040503050406030204" pitchFamily="18" charset="0"/>
                          </a:rPr>
                          <m:t>′</m:t>
                        </m:r>
                      </m:sup>
                    </m:sSup>
                    <m:r>
                      <a:rPr lang="en-US" sz="2400" i="1">
                        <a:latin typeface="Cambria Math" panose="02040503050406030204" pitchFamily="18" charset="0"/>
                      </a:rPr>
                      <m:t>|</m:t>
                    </m:r>
                    <m:r>
                      <a:rPr lang="en-US" sz="2400" i="1">
                        <a:latin typeface="Cambria Math" panose="02040503050406030204" pitchFamily="18" charset="0"/>
                      </a:rPr>
                      <m:t>𝑠</m:t>
                    </m:r>
                    <m:r>
                      <a:rPr lang="en-US" sz="2400" i="1">
                        <a:latin typeface="Cambria Math" panose="02040503050406030204" pitchFamily="18" charset="0"/>
                      </a:rPr>
                      <m:t>,</m:t>
                    </m:r>
                    <m:r>
                      <a:rPr lang="en-US" sz="2400" i="1">
                        <a:latin typeface="Cambria Math" panose="02040503050406030204" pitchFamily="18" charset="0"/>
                      </a:rPr>
                      <m:t>𝑎</m:t>
                    </m:r>
                    <m:r>
                      <a:rPr lang="en-US" sz="2400" i="1">
                        <a:latin typeface="Cambria Math" panose="02040503050406030204" pitchFamily="18" charset="0"/>
                      </a:rPr>
                      <m:t>)</m:t>
                    </m:r>
                  </m:oMath>
                </a14:m>
                <a:r>
                  <a:rPr lang="en-US" sz="2400" dirty="0"/>
                  <a:t> is the probability of transitioning from </a:t>
                </a:r>
                <a14:m>
                  <m:oMath xmlns:m="http://schemas.openxmlformats.org/officeDocument/2006/math">
                    <m:r>
                      <a:rPr lang="en-US" sz="2400" i="1">
                        <a:latin typeface="Cambria Math" panose="02040503050406030204" pitchFamily="18" charset="0"/>
                      </a:rPr>
                      <m:t>𝑠</m:t>
                    </m:r>
                  </m:oMath>
                </a14:m>
                <a:r>
                  <a:rPr lang="en-US" sz="2400" dirty="0"/>
                  <a:t> to </a:t>
                </a:r>
                <a14:m>
                  <m:oMath xmlns:m="http://schemas.openxmlformats.org/officeDocument/2006/math">
                    <m:r>
                      <a:rPr lang="en-US" sz="2400" i="1">
                        <a:latin typeface="Cambria Math" panose="02040503050406030204" pitchFamily="18" charset="0"/>
                      </a:rPr>
                      <m:t>𝑠</m:t>
                    </m:r>
                    <m:r>
                      <a:rPr lang="en-US" sz="2400" i="1">
                        <a:latin typeface="Cambria Math" panose="02040503050406030204" pitchFamily="18" charset="0"/>
                      </a:rPr>
                      <m:t>′</m:t>
                    </m:r>
                  </m:oMath>
                </a14:m>
                <a:r>
                  <a:rPr lang="en-US" sz="2400" dirty="0"/>
                  <a:t> under action </a:t>
                </a:r>
                <a14:m>
                  <m:oMath xmlns:m="http://schemas.openxmlformats.org/officeDocument/2006/math">
                    <m:r>
                      <a:rPr lang="en-US" sz="2400" i="1">
                        <a:latin typeface="Cambria Math" panose="02040503050406030204" pitchFamily="18" charset="0"/>
                      </a:rPr>
                      <m:t>𝑎</m:t>
                    </m:r>
                  </m:oMath>
                </a14:m>
                <a:r>
                  <a:rPr lang="en-US" sz="2400" dirty="0"/>
                  <a:t>.</a:t>
                </a:r>
                <a:br>
                  <a:rPr lang="en-US" sz="2400" dirty="0"/>
                </a:br>
                <a:endParaRPr lang="en-US" sz="2400" dirty="0"/>
              </a:p>
              <a:p>
                <a:pPr>
                  <a:buFont typeface="Wingdings" panose="05000000000000000000" pitchFamily="2" charset="2"/>
                  <a:buChar char="q"/>
                </a:pPr>
                <a14:m>
                  <m:oMath xmlns:m="http://schemas.openxmlformats.org/officeDocument/2006/math">
                    <m:r>
                      <a:rPr lang="en-US" sz="2400" i="1">
                        <a:latin typeface="Cambria Math" panose="02040503050406030204" pitchFamily="18" charset="0"/>
                      </a:rPr>
                      <m:t> </m:t>
                    </m:r>
                    <m:r>
                      <a:rPr lang="en-US" sz="2400" i="1">
                        <a:latin typeface="Cambria Math" panose="02040503050406030204" pitchFamily="18" charset="0"/>
                      </a:rPr>
                      <m:t>𝑅</m:t>
                    </m:r>
                    <m:r>
                      <a:rPr lang="en-US" sz="2400" i="1">
                        <a:latin typeface="Cambria Math" panose="02040503050406030204" pitchFamily="18" charset="0"/>
                      </a:rPr>
                      <m:t>(</m:t>
                    </m:r>
                    <m:r>
                      <a:rPr lang="en-US" sz="2400" i="1">
                        <a:latin typeface="Cambria Math" panose="02040503050406030204" pitchFamily="18" charset="0"/>
                      </a:rPr>
                      <m:t>𝑠</m:t>
                    </m:r>
                    <m:r>
                      <a:rPr lang="en-US" sz="2400" i="1">
                        <a:latin typeface="Cambria Math" panose="02040503050406030204" pitchFamily="18" charset="0"/>
                      </a:rPr>
                      <m:t>,</m:t>
                    </m:r>
                    <m:r>
                      <a:rPr lang="en-US" sz="2400" i="1">
                        <a:latin typeface="Cambria Math" panose="02040503050406030204" pitchFamily="18" charset="0"/>
                      </a:rPr>
                      <m:t>𝑎</m:t>
                    </m:r>
                    <m:r>
                      <a:rPr lang="en-US" sz="2400" i="1">
                        <a:latin typeface="Cambria Math" panose="02040503050406030204" pitchFamily="18" charset="0"/>
                      </a:rPr>
                      <m:t>)</m:t>
                    </m:r>
                  </m:oMath>
                </a14:m>
                <a:r>
                  <a:rPr lang="en-US" sz="2400" dirty="0"/>
                  <a:t> is the finite, expected reward at state-action pair </a:t>
                </a:r>
                <a14:m>
                  <m:oMath xmlns:m="http://schemas.openxmlformats.org/officeDocument/2006/math">
                    <m:d>
                      <m:dPr>
                        <m:ctrlPr>
                          <a:rPr lang="en-US" sz="2400" i="1">
                            <a:latin typeface="Cambria Math" panose="02040503050406030204" pitchFamily="18" charset="0"/>
                          </a:rPr>
                        </m:ctrlPr>
                      </m:dPr>
                      <m:e>
                        <m:r>
                          <a:rPr lang="en-US" sz="2400" i="1">
                            <a:latin typeface="Cambria Math" panose="02040503050406030204" pitchFamily="18" charset="0"/>
                          </a:rPr>
                          <m:t>𝑠</m:t>
                        </m:r>
                        <m:r>
                          <a:rPr lang="en-US" sz="2400" i="1">
                            <a:latin typeface="Cambria Math" panose="02040503050406030204" pitchFamily="18" charset="0"/>
                          </a:rPr>
                          <m:t>,</m:t>
                        </m:r>
                        <m:r>
                          <a:rPr lang="en-US" sz="2400" i="1">
                            <a:latin typeface="Cambria Math" panose="02040503050406030204" pitchFamily="18" charset="0"/>
                          </a:rPr>
                          <m:t>𝑎</m:t>
                        </m:r>
                      </m:e>
                    </m:d>
                    <m:r>
                      <a:rPr lang="en-US" sz="2400">
                        <a:latin typeface="Cambria Math" panose="02040503050406030204" pitchFamily="18" charset="0"/>
                      </a:rPr>
                      <m:t>.</m:t>
                    </m:r>
                    <m:r>
                      <a:rPr lang="en-US" sz="2400">
                        <a:latin typeface="Cambria Math" panose="02040503050406030204" pitchFamily="18" charset="0"/>
                      </a:rPr>
                      <m:t> </m:t>
                    </m:r>
                  </m:oMath>
                </a14:m>
                <a:br>
                  <a:rPr lang="en-US" sz="2400" dirty="0"/>
                </a:br>
                <a:endParaRPr lang="en-US" sz="2400" dirty="0"/>
              </a:p>
              <a:p>
                <a:pPr>
                  <a:buFont typeface="Wingdings" panose="05000000000000000000" pitchFamily="2" charset="2"/>
                  <a:buChar char="q"/>
                </a:pPr>
                <a:r>
                  <a:rPr lang="en-US" sz="2400" dirty="0"/>
                  <a:t> Policy </a:t>
                </a:r>
                <a14:m>
                  <m:oMath xmlns:m="http://schemas.openxmlformats.org/officeDocument/2006/math">
                    <m:r>
                      <a:rPr lang="en-US" sz="2400" i="1">
                        <a:solidFill>
                          <a:srgbClr val="002060"/>
                        </a:solidFill>
                        <a:latin typeface="Cambria Math" panose="02040503050406030204" pitchFamily="18" charset="0"/>
                      </a:rPr>
                      <m:t>𝜋</m:t>
                    </m:r>
                    <m:r>
                      <a:rPr lang="en-US" sz="2400" i="1">
                        <a:latin typeface="Cambria Math" panose="02040503050406030204" pitchFamily="18" charset="0"/>
                      </a:rPr>
                      <m:t>:</m:t>
                    </m:r>
                    <m:r>
                      <a:rPr lang="en-US" sz="2400" i="1">
                        <a:latin typeface="Cambria Math" panose="02040503050406030204" pitchFamily="18" charset="0"/>
                      </a:rPr>
                      <m:t>𝑆</m:t>
                    </m:r>
                    <m:r>
                      <a:rPr lang="en-US" sz="2400" i="1">
                        <a:latin typeface="Cambria Math" panose="02040503050406030204" pitchFamily="18" charset="0"/>
                      </a:rPr>
                      <m:t>→</m:t>
                    </m:r>
                    <m:r>
                      <m:rPr>
                        <m:sty m:val="p"/>
                      </m:rPr>
                      <a:rPr lang="en-US" sz="2400">
                        <a:latin typeface="Cambria Math" panose="02040503050406030204" pitchFamily="18" charset="0"/>
                      </a:rPr>
                      <m:t>Δ</m:t>
                    </m:r>
                    <m:r>
                      <a:rPr lang="en-US" sz="2400" i="1">
                        <a:latin typeface="Cambria Math" panose="02040503050406030204" pitchFamily="18" charset="0"/>
                      </a:rPr>
                      <m:t>(</m:t>
                    </m:r>
                    <m:r>
                      <a:rPr lang="en-US" sz="2400" i="1">
                        <a:latin typeface="Cambria Math" panose="02040503050406030204" pitchFamily="18" charset="0"/>
                      </a:rPr>
                      <m:t>𝐴</m:t>
                    </m:r>
                    <m:r>
                      <a:rPr lang="en-US" sz="2400" i="1">
                        <a:latin typeface="Cambria Math" panose="02040503050406030204" pitchFamily="18" charset="0"/>
                      </a:rPr>
                      <m:t>).</m:t>
                    </m:r>
                  </m:oMath>
                </a14:m>
                <a:endParaRPr lang="en-US" sz="2400" dirty="0"/>
              </a:p>
              <a:p>
                <a:endParaRPr lang="en-IN" dirty="0"/>
              </a:p>
            </p:txBody>
          </p:sp>
        </mc:Choice>
        <mc:Fallback>
          <p:sp>
            <p:nvSpPr>
              <p:cNvPr id="6" name="TextBox 5">
                <a:extLst>
                  <a:ext uri="{FF2B5EF4-FFF2-40B4-BE49-F238E27FC236}">
                    <a16:creationId xmlns:a16="http://schemas.microsoft.com/office/drawing/2014/main" id="{3A4EDFC0-B905-1B4A-D1E0-87CA32A532D0}"/>
                  </a:ext>
                </a:extLst>
              </p:cNvPr>
              <p:cNvSpPr txBox="1">
                <a:spLocks noRot="1" noChangeAspect="1" noMove="1" noResize="1" noEditPoints="1" noAdjustHandles="1" noChangeArrowheads="1" noChangeShapeType="1" noTextEdit="1"/>
              </p:cNvSpPr>
              <p:nvPr/>
            </p:nvSpPr>
            <p:spPr>
              <a:xfrm>
                <a:off x="552449" y="1158776"/>
                <a:ext cx="10777181" cy="2954655"/>
              </a:xfrm>
              <a:prstGeom prst="rect">
                <a:avLst/>
              </a:prstGeom>
              <a:blipFill>
                <a:blip r:embed="rId8"/>
                <a:stretch>
                  <a:fillRect l="-792" t="-1856"/>
                </a:stretch>
              </a:blipFill>
            </p:spPr>
            <p:txBody>
              <a:bodyPr/>
              <a:lstStyle/>
              <a:p>
                <a:r>
                  <a:rPr lang="en-IN">
                    <a:noFill/>
                  </a:rPr>
                  <a:t> </a:t>
                </a:r>
              </a:p>
            </p:txBody>
          </p:sp>
        </mc:Fallback>
      </mc:AlternateContent>
    </p:spTree>
    <p:extLst>
      <p:ext uri="{BB962C8B-B14F-4D97-AF65-F5344CB8AC3E}">
        <p14:creationId xmlns:p14="http://schemas.microsoft.com/office/powerpoint/2010/main" val="1567879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fade">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fade">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fade">
                                      <p:cBhvr>
                                        <p:cTn id="22" dur="500"/>
                                        <p:tgtEl>
                                          <p:spTgt spid="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Effect transition="in" filter="fade">
                                      <p:cBhvr>
                                        <p:cTn id="27" dur="500"/>
                                        <p:tgtEl>
                                          <p:spTgt spid="3">
                                            <p:txEl>
                                              <p:pRg st="1" end="1"/>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3">
                                            <p:txEl>
                                              <p:pRg st="2" end="2"/>
                                            </p:txEl>
                                          </p:spTgt>
                                        </p:tgtEl>
                                        <p:attrNameLst>
                                          <p:attrName>style.visibility</p:attrName>
                                        </p:attrNameLst>
                                      </p:cBhvr>
                                      <p:to>
                                        <p:strVal val="visible"/>
                                      </p:to>
                                    </p:set>
                                    <p:animEffect transition="in" filter="fade">
                                      <p:cBhvr>
                                        <p:cTn id="30" dur="500"/>
                                        <p:tgtEl>
                                          <p:spTgt spid="3">
                                            <p:txEl>
                                              <p:pRg st="2" end="2"/>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3">
                                            <p:txEl>
                                              <p:pRg st="3" end="3"/>
                                            </p:txEl>
                                          </p:spTgt>
                                        </p:tgtEl>
                                        <p:attrNameLst>
                                          <p:attrName>style.visibility</p:attrName>
                                        </p:attrNameLst>
                                      </p:cBhvr>
                                      <p:to>
                                        <p:strVal val="visible"/>
                                      </p:to>
                                    </p:set>
                                    <p:animEffect transition="in" filter="fade">
                                      <p:cBhvr>
                                        <p:cTn id="33" dur="500"/>
                                        <p:tgtEl>
                                          <p:spTgt spid="3">
                                            <p:txEl>
                                              <p:pRg st="3" end="3"/>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18"/>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19"/>
                                        </p:tgtEl>
                                        <p:attrNameLst>
                                          <p:attrName>style.visibility</p:attrName>
                                        </p:attrNameLst>
                                      </p:cBhvr>
                                      <p:to>
                                        <p:strVal val="visible"/>
                                      </p:to>
                                    </p:set>
                                  </p:childTnLst>
                                </p:cTn>
                              </p:par>
                              <p:par>
                                <p:cTn id="42" presetID="1" presetClass="entr" presetSubtype="0" fill="hold" nodeType="withEffect">
                                  <p:stCondLst>
                                    <p:cond delay="0"/>
                                  </p:stCondLst>
                                  <p:childTnLst>
                                    <p:set>
                                      <p:cBhvr>
                                        <p:cTn id="43" dur="1" fill="hold">
                                          <p:stCondLst>
                                            <p:cond delay="0"/>
                                          </p:stCondLst>
                                        </p:cTn>
                                        <p:tgtEl>
                                          <p:spTgt spid="20">
                                            <p:txEl>
                                              <p:pRg st="0" end="0"/>
                                            </p:txEl>
                                          </p:spTgt>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1"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0E2383A-DC64-C09E-7367-F69164F063C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D6C5DE2-422F-FE1C-84C6-756D43C3E4E3}"/>
              </a:ext>
            </a:extLst>
          </p:cNvPr>
          <p:cNvSpPr>
            <a:spLocks noGrp="1"/>
          </p:cNvSpPr>
          <p:nvPr>
            <p:ph type="sldNum" sz="quarter" idx="12"/>
          </p:nvPr>
        </p:nvSpPr>
        <p:spPr>
          <a:xfrm>
            <a:off x="11168145" y="6482249"/>
            <a:ext cx="914400" cy="320040"/>
          </a:xfrm>
        </p:spPr>
        <p:txBody>
          <a:bodyPr/>
          <a:lstStyle/>
          <a:p>
            <a:fld id="{6D22F896-40B5-4ADD-8801-0D06FADFA095}" type="slidenum">
              <a:rPr lang="en-US" smtClean="0"/>
              <a:t>4</a:t>
            </a:fld>
            <a:endParaRPr lang="en-US" dirty="0"/>
          </a:p>
        </p:txBody>
      </p:sp>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6B29288D-F9A6-55DC-6ACA-E62F99E9A11B}"/>
                  </a:ext>
                </a:extLst>
              </p:cNvPr>
              <p:cNvSpPr txBox="1">
                <a:spLocks/>
              </p:cNvSpPr>
              <p:nvPr/>
            </p:nvSpPr>
            <p:spPr>
              <a:xfrm>
                <a:off x="838200" y="365125"/>
                <a:ext cx="10515600" cy="850217"/>
              </a:xfrm>
              <a:prstGeom prst="rect">
                <a:avLst/>
              </a:prstGeom>
            </p:spPr>
            <p:txBody>
              <a:bodyPr/>
              <a:lstStyle>
                <a:lvl1pPr algn="ctr" defTabSz="914400" rtl="0" eaLnBrk="1" latinLnBrk="0" hangingPunct="1">
                  <a:lnSpc>
                    <a:spcPct val="85000"/>
                  </a:lnSpc>
                  <a:spcBef>
                    <a:spcPct val="0"/>
                  </a:spcBef>
                  <a:buNone/>
                  <a:defRPr sz="4000" b="0" i="0" kern="1200" cap="none" spc="-150">
                    <a:solidFill>
                      <a:schemeClr val="tx1"/>
                    </a:solidFill>
                    <a:effectLst/>
                    <a:latin typeface="+mj-lt"/>
                    <a:ea typeface="+mj-ea"/>
                    <a:cs typeface="+mj-cs"/>
                  </a:defRPr>
                </a:lvl1pPr>
              </a:lstStyle>
              <a:p>
                <a14:m>
                  <m:oMath xmlns:m="http://schemas.openxmlformats.org/officeDocument/2006/math">
                    <m:r>
                      <a:rPr lang="en-US" b="0" i="1" smtClean="0">
                        <a:solidFill>
                          <a:srgbClr val="002060"/>
                        </a:solidFill>
                        <a:latin typeface="Cambria Math" panose="02040503050406030204" pitchFamily="18" charset="0"/>
                      </a:rPr>
                      <m:t>𝑄</m:t>
                    </m:r>
                    <m:r>
                      <a:rPr lang="en-US" b="0" i="1" smtClean="0">
                        <a:solidFill>
                          <a:srgbClr val="002060"/>
                        </a:solidFill>
                        <a:latin typeface="Cambria Math" panose="02040503050406030204" pitchFamily="18" charset="0"/>
                      </a:rPr>
                      <m:t>− </m:t>
                    </m:r>
                  </m:oMath>
                </a14:m>
                <a:r>
                  <a:rPr lang="en-IN" dirty="0">
                    <a:solidFill>
                      <a:srgbClr val="002060"/>
                    </a:solidFill>
                    <a:latin typeface="+mn-lt"/>
                  </a:rPr>
                  <a:t>Learning: </a:t>
                </a:r>
                <a:r>
                  <a:rPr lang="en-IN" dirty="0">
                    <a:solidFill>
                      <a:srgbClr val="C00000"/>
                    </a:solidFill>
                    <a:latin typeface="+mn-lt"/>
                  </a:rPr>
                  <a:t>Estimating Action Values</a:t>
                </a:r>
              </a:p>
            </p:txBody>
          </p:sp>
        </mc:Choice>
        <mc:Fallback xmlns="">
          <p:sp>
            <p:nvSpPr>
              <p:cNvPr id="2" name="Title 1">
                <a:extLst>
                  <a:ext uri="{FF2B5EF4-FFF2-40B4-BE49-F238E27FC236}">
                    <a16:creationId xmlns:a16="http://schemas.microsoft.com/office/drawing/2014/main" id="{6B29288D-F9A6-55DC-6ACA-E62F99E9A11B}"/>
                  </a:ext>
                </a:extLst>
              </p:cNvPr>
              <p:cNvSpPr txBox="1">
                <a:spLocks noRot="1" noChangeAspect="1" noMove="1" noResize="1" noEditPoints="1" noAdjustHandles="1" noChangeArrowheads="1" noChangeShapeType="1" noTextEdit="1"/>
              </p:cNvSpPr>
              <p:nvPr/>
            </p:nvSpPr>
            <p:spPr>
              <a:xfrm>
                <a:off x="838200" y="365125"/>
                <a:ext cx="10515600" cy="850217"/>
              </a:xfrm>
              <a:prstGeom prst="rect">
                <a:avLst/>
              </a:prstGeom>
              <a:blipFill>
                <a:blip r:embed="rId3"/>
                <a:stretch>
                  <a:fillRect t="-23741" b="-2878"/>
                </a:stretch>
              </a:blipFill>
            </p:spPr>
            <p:txBody>
              <a:bodyPr/>
              <a:lstStyle/>
              <a:p>
                <a:r>
                  <a:rPr lang="en-IN">
                    <a:noFill/>
                  </a:rPr>
                  <a:t> </a:t>
                </a:r>
              </a:p>
            </p:txBody>
          </p:sp>
        </mc:Fallback>
      </mc:AlternateContent>
      <p:sp>
        <p:nvSpPr>
          <p:cNvPr id="9" name="TextBox 8">
            <a:extLst>
              <a:ext uri="{FF2B5EF4-FFF2-40B4-BE49-F238E27FC236}">
                <a16:creationId xmlns:a16="http://schemas.microsoft.com/office/drawing/2014/main" id="{7FE75554-DAA9-9656-5199-DE310172C5F9}"/>
              </a:ext>
            </a:extLst>
          </p:cNvPr>
          <p:cNvSpPr txBox="1"/>
          <p:nvPr/>
        </p:nvSpPr>
        <p:spPr>
          <a:xfrm>
            <a:off x="5822100" y="2305507"/>
            <a:ext cx="5353050" cy="1200329"/>
          </a:xfrm>
          <a:prstGeom prst="rect">
            <a:avLst/>
          </a:prstGeom>
          <a:noFill/>
        </p:spPr>
        <p:txBody>
          <a:bodyPr wrap="square" rtlCol="0">
            <a:spAutoFit/>
          </a:bodyPr>
          <a:lstStyle/>
          <a:p>
            <a:endParaRPr lang="en-US" dirty="0"/>
          </a:p>
          <a:p>
            <a:br>
              <a:rPr lang="en-US" dirty="0"/>
            </a:br>
            <a:endParaRPr lang="en-US" dirty="0"/>
          </a:p>
          <a:p>
            <a:endParaRPr lang="en-IN" dirty="0"/>
          </a:p>
        </p:txBody>
      </p:sp>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6ED91C23-6C4B-7787-7C6A-DE9D773CB4ED}"/>
                  </a:ext>
                </a:extLst>
              </p:cNvPr>
              <p:cNvSpPr txBox="1"/>
              <p:nvPr/>
            </p:nvSpPr>
            <p:spPr>
              <a:xfrm>
                <a:off x="435520" y="5503182"/>
                <a:ext cx="5105437" cy="369332"/>
              </a:xfrm>
              <a:prstGeom prst="rect">
                <a:avLst/>
              </a:prstGeom>
              <a:noFill/>
            </p:spPr>
            <p:txBody>
              <a:bodyPr wrap="none" rtlCol="0">
                <a:spAutoFit/>
              </a:bodyPr>
              <a:lstStyle/>
              <a:p>
                <a:r>
                  <a:rPr lang="en-US" dirty="0">
                    <a:solidFill>
                      <a:srgbClr val="11651F"/>
                    </a:solidFill>
                  </a:rPr>
                  <a:t>Vanilla </a:t>
                </a:r>
                <a14:m>
                  <m:oMath xmlns:m="http://schemas.openxmlformats.org/officeDocument/2006/math">
                    <m:r>
                      <a:rPr lang="en-US" b="0" i="1" smtClean="0">
                        <a:solidFill>
                          <a:srgbClr val="11651F"/>
                        </a:solidFill>
                        <a:latin typeface="Cambria Math" panose="02040503050406030204" pitchFamily="18" charset="0"/>
                      </a:rPr>
                      <m:t>𝑄</m:t>
                    </m:r>
                    <m:r>
                      <a:rPr lang="en-US" b="0" i="1" smtClean="0">
                        <a:solidFill>
                          <a:srgbClr val="11651F"/>
                        </a:solidFill>
                        <a:latin typeface="Cambria Math" panose="02040503050406030204" pitchFamily="18" charset="0"/>
                      </a:rPr>
                      <m:t>−</m:t>
                    </m:r>
                  </m:oMath>
                </a14:m>
                <a:r>
                  <a:rPr lang="en-IN" dirty="0">
                    <a:solidFill>
                      <a:srgbClr val="11651F"/>
                    </a:solidFill>
                  </a:rPr>
                  <a:t>Learning with </a:t>
                </a:r>
                <a:r>
                  <a:rPr lang="en-IN" b="1" i="1" dirty="0">
                    <a:solidFill>
                      <a:schemeClr val="accent1">
                        <a:lumMod val="60000"/>
                        <a:lumOff val="40000"/>
                      </a:schemeClr>
                    </a:solidFill>
                  </a:rPr>
                  <a:t>corrupted feedback</a:t>
                </a:r>
              </a:p>
            </p:txBody>
          </p:sp>
        </mc:Choice>
        <mc:Fallback>
          <p:sp>
            <p:nvSpPr>
              <p:cNvPr id="11" name="TextBox 10">
                <a:extLst>
                  <a:ext uri="{FF2B5EF4-FFF2-40B4-BE49-F238E27FC236}">
                    <a16:creationId xmlns:a16="http://schemas.microsoft.com/office/drawing/2014/main" id="{6ED91C23-6C4B-7787-7C6A-DE9D773CB4ED}"/>
                  </a:ext>
                </a:extLst>
              </p:cNvPr>
              <p:cNvSpPr txBox="1">
                <a:spLocks noRot="1" noChangeAspect="1" noMove="1" noResize="1" noEditPoints="1" noAdjustHandles="1" noChangeArrowheads="1" noChangeShapeType="1" noTextEdit="1"/>
              </p:cNvSpPr>
              <p:nvPr/>
            </p:nvSpPr>
            <p:spPr>
              <a:xfrm>
                <a:off x="435520" y="5503182"/>
                <a:ext cx="5105437" cy="369332"/>
              </a:xfrm>
              <a:prstGeom prst="rect">
                <a:avLst/>
              </a:prstGeom>
              <a:blipFill>
                <a:blip r:embed="rId4"/>
                <a:stretch>
                  <a:fillRect l="-955" t="-10000" b="-26667"/>
                </a:stretch>
              </a:blipFill>
            </p:spPr>
            <p:txBody>
              <a:bodyPr/>
              <a:lstStyle/>
              <a:p>
                <a:r>
                  <a:rPr lang="en-IN">
                    <a:noFill/>
                  </a:rPr>
                  <a:t> </a:t>
                </a:r>
              </a:p>
            </p:txBody>
          </p:sp>
        </mc:Fallback>
      </mc:AlternateContent>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72179041-2984-E042-2E1E-C22EEF944E32}"/>
                  </a:ext>
                </a:extLst>
              </p:cNvPr>
              <p:cNvSpPr txBox="1"/>
              <p:nvPr/>
            </p:nvSpPr>
            <p:spPr>
              <a:xfrm>
                <a:off x="5717739" y="1487471"/>
                <a:ext cx="6096000" cy="1200329"/>
              </a:xfrm>
              <a:prstGeom prst="rect">
                <a:avLst/>
              </a:prstGeom>
              <a:noFill/>
            </p:spPr>
            <p:txBody>
              <a:bodyPr wrap="square">
                <a:spAutoFit/>
              </a:bodyPr>
              <a:lstStyle/>
              <a:p>
                <a:r>
                  <a:rPr lang="en-US" b="1" dirty="0"/>
                  <a:t>Corruption Model: </a:t>
                </a:r>
                <a:r>
                  <a:rPr lang="en-US" dirty="0"/>
                  <a:t>At each time-step </a:t>
                </a:r>
                <a14:m>
                  <m:oMath xmlns:m="http://schemas.openxmlformats.org/officeDocument/2006/math">
                    <m:r>
                      <a:rPr lang="en-US" b="0" i="1" smtClean="0">
                        <a:latin typeface="Cambria Math" panose="02040503050406030204" pitchFamily="18" charset="0"/>
                      </a:rPr>
                      <m:t>𝑡</m:t>
                    </m:r>
                  </m:oMath>
                </a14:m>
                <a:r>
                  <a:rPr lang="en-US" dirty="0"/>
                  <a:t>, if learner is in state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𝑡</m:t>
                        </m:r>
                      </m:sub>
                    </m:sSub>
                  </m:oMath>
                </a14:m>
                <a:r>
                  <a:rPr lang="en-US" dirty="0"/>
                  <a:t> and plays action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𝑡</m:t>
                        </m:r>
                      </m:sub>
                    </m:sSub>
                  </m:oMath>
                </a14:m>
                <a:r>
                  <a:rPr lang="en-US" dirty="0"/>
                  <a:t>, it observes: </a:t>
                </a:r>
              </a:p>
              <a:p>
                <a:pPr marL="0" indent="0">
                  <a:buNone/>
                </a:pPr>
                <a:r>
                  <a:rPr lang="en-US"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𝑡</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𝑡</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𝑡</m:t>
                            </m:r>
                          </m:sub>
                        </m:sSub>
                      </m:e>
                    </m:d>
                    <m:r>
                      <a:rPr lang="en-US" b="0" i="1" smtClean="0">
                        <a:latin typeface="Cambria Math" panose="02040503050406030204" pitchFamily="18" charset="0"/>
                      </a:rPr>
                      <m:t>= </m:t>
                    </m:r>
                    <m:r>
                      <a:rPr lang="en-US" b="0" i="1" smtClean="0">
                        <a:latin typeface="Cambria Math" panose="02040503050406030204" pitchFamily="18" charset="0"/>
                      </a:rPr>
                      <m:t>𝑅</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𝑡</m:t>
                            </m:r>
                          </m:sub>
                        </m:sSub>
                      </m:e>
                    </m:d>
                    <m:r>
                      <a:rPr lang="en-US" b="0" i="1" smtClean="0">
                        <a:latin typeface="Cambria Math" panose="02040503050406030204" pitchFamily="18" charset="0"/>
                      </a:rPr>
                      <m:t>+</m:t>
                    </m:r>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𝑛</m:t>
                        </m:r>
                      </m:e>
                      <m:sub>
                        <m:r>
                          <a:rPr lang="en-US" b="0" i="1" smtClean="0">
                            <a:solidFill>
                              <a:srgbClr val="FF0000"/>
                            </a:solidFill>
                            <a:latin typeface="Cambria Math" panose="02040503050406030204" pitchFamily="18" charset="0"/>
                          </a:rPr>
                          <m:t>𝑡</m:t>
                        </m:r>
                      </m:sub>
                    </m:sSub>
                  </m:oMath>
                </a14:m>
                <a:r>
                  <a:rPr lang="en-US" dirty="0">
                    <a:solidFill>
                      <a:srgbClr val="FF0000"/>
                    </a:solidFill>
                  </a:rPr>
                  <a:t> </a:t>
                </a:r>
                <a:r>
                  <a:rPr lang="en-US" dirty="0"/>
                  <a:t>with probability </a:t>
                </a:r>
                <a14:m>
                  <m:oMath xmlns:m="http://schemas.openxmlformats.org/officeDocument/2006/math">
                    <m:r>
                      <a:rPr lang="en-US" b="0" i="1" smtClean="0">
                        <a:latin typeface="Cambria Math" panose="02040503050406030204" pitchFamily="18" charset="0"/>
                      </a:rPr>
                      <m:t>(1−</m:t>
                    </m:r>
                    <m:r>
                      <a:rPr lang="en-US" b="0" i="1" smtClean="0">
                        <a:solidFill>
                          <a:schemeClr val="accent6">
                            <a:lumMod val="75000"/>
                          </a:schemeClr>
                        </a:solidFill>
                        <a:latin typeface="Cambria Math" panose="02040503050406030204" pitchFamily="18" charset="0"/>
                      </a:rPr>
                      <m:t>𝜀</m:t>
                    </m:r>
                    <m:r>
                      <a:rPr lang="en-US" b="0" i="1" smtClean="0">
                        <a:latin typeface="Cambria Math" panose="02040503050406030204" pitchFamily="18" charset="0"/>
                      </a:rPr>
                      <m:t>)</m:t>
                    </m:r>
                  </m:oMath>
                </a14:m>
                <a:endParaRPr lang="en-US" dirty="0"/>
              </a:p>
              <a:p>
                <a:pPr marL="0" indent="0">
                  <a:buNone/>
                </a:pPr>
                <a:r>
                  <a:rPr lang="en-US" dirty="0"/>
                  <a:t>                                </a:t>
                </a:r>
                <a14:m>
                  <m:oMath xmlns:m="http://schemas.openxmlformats.org/officeDocument/2006/math">
                    <m:r>
                      <a:rPr lang="en-US" b="0" i="1" smtClean="0">
                        <a:latin typeface="Cambria Math" panose="02040503050406030204" pitchFamily="18" charset="0"/>
                      </a:rPr>
                      <m:t>=</m:t>
                    </m:r>
                  </m:oMath>
                </a14:m>
                <a:r>
                  <a:rPr lang="en-US" dirty="0"/>
                  <a:t> </a:t>
                </a:r>
                <a14:m>
                  <m:oMath xmlns:m="http://schemas.openxmlformats.org/officeDocument/2006/math">
                    <m:r>
                      <a:rPr lang="en-US" b="0" i="0" dirty="0" smtClean="0">
                        <a:latin typeface="Cambria Math" panose="02040503050406030204" pitchFamily="18" charset="0"/>
                      </a:rPr>
                      <m:t> </m:t>
                    </m:r>
                    <m:r>
                      <a:rPr lang="en-US" b="0" i="1" dirty="0" smtClean="0">
                        <a:latin typeface="Cambria Math" panose="02040503050406030204" pitchFamily="18" charset="0"/>
                      </a:rPr>
                      <m:t>(</m:t>
                    </m:r>
                    <m:r>
                      <a:rPr lang="en-US" b="0" i="1" dirty="0" smtClean="0">
                        <a:solidFill>
                          <a:schemeClr val="accent1"/>
                        </a:solidFill>
                        <a:latin typeface="Cambria Math" panose="02040503050406030204" pitchFamily="18" charset="0"/>
                      </a:rPr>
                      <m:t>∗</m:t>
                    </m:r>
                    <m:r>
                      <a:rPr lang="en-US" b="0" i="1" dirty="0" smtClean="0">
                        <a:latin typeface="Cambria Math" panose="02040503050406030204" pitchFamily="18" charset="0"/>
                      </a:rPr>
                      <m:t>)</m:t>
                    </m:r>
                  </m:oMath>
                </a14:m>
                <a:r>
                  <a:rPr lang="en-US" dirty="0"/>
                  <a:t>                      with probability </a:t>
                </a:r>
                <a14:m>
                  <m:oMath xmlns:m="http://schemas.openxmlformats.org/officeDocument/2006/math">
                    <m:r>
                      <a:rPr lang="en-US" b="0" i="1" smtClean="0">
                        <a:solidFill>
                          <a:schemeClr val="accent6">
                            <a:lumMod val="75000"/>
                          </a:schemeClr>
                        </a:solidFill>
                        <a:latin typeface="Cambria Math" panose="02040503050406030204" pitchFamily="18" charset="0"/>
                      </a:rPr>
                      <m:t>𝜀</m:t>
                    </m:r>
                  </m:oMath>
                </a14:m>
                <a:endParaRPr lang="en-IN" dirty="0"/>
              </a:p>
            </p:txBody>
          </p:sp>
        </mc:Choice>
        <mc:Fallback>
          <p:sp>
            <p:nvSpPr>
              <p:cNvPr id="13" name="TextBox 12">
                <a:extLst>
                  <a:ext uri="{FF2B5EF4-FFF2-40B4-BE49-F238E27FC236}">
                    <a16:creationId xmlns:a16="http://schemas.microsoft.com/office/drawing/2014/main" id="{72179041-2984-E042-2E1E-C22EEF944E32}"/>
                  </a:ext>
                </a:extLst>
              </p:cNvPr>
              <p:cNvSpPr txBox="1">
                <a:spLocks noRot="1" noChangeAspect="1" noMove="1" noResize="1" noEditPoints="1" noAdjustHandles="1" noChangeArrowheads="1" noChangeShapeType="1" noTextEdit="1"/>
              </p:cNvSpPr>
              <p:nvPr/>
            </p:nvSpPr>
            <p:spPr>
              <a:xfrm>
                <a:off x="5717739" y="1487471"/>
                <a:ext cx="6096000" cy="1200329"/>
              </a:xfrm>
              <a:prstGeom prst="rect">
                <a:avLst/>
              </a:prstGeom>
              <a:blipFill>
                <a:blip r:embed="rId5"/>
                <a:stretch>
                  <a:fillRect l="-900" t="-2538" r="-200" b="-7107"/>
                </a:stretch>
              </a:blipFill>
            </p:spPr>
            <p:txBody>
              <a:bodyPr/>
              <a:lstStyle/>
              <a:p>
                <a:r>
                  <a:rPr lang="en-IN">
                    <a:noFill/>
                  </a:rPr>
                  <a:t> </a:t>
                </a:r>
              </a:p>
            </p:txBody>
          </p:sp>
        </mc:Fallback>
      </mc:AlternateContent>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120EED3D-880D-5FBA-98CB-C663357E4173}"/>
                  </a:ext>
                </a:extLst>
              </p:cNvPr>
              <p:cNvSpPr txBox="1"/>
              <p:nvPr/>
            </p:nvSpPr>
            <p:spPr>
              <a:xfrm>
                <a:off x="5609876" y="3159888"/>
                <a:ext cx="6472669" cy="369332"/>
              </a:xfrm>
              <a:prstGeom prst="rect">
                <a:avLst/>
              </a:prstGeom>
              <a:noFill/>
            </p:spPr>
            <p:txBody>
              <a:bodyPr wrap="none" rtlCol="0">
                <a:spAutoFit/>
              </a:bodyPr>
              <a:lstStyle/>
              <a:p>
                <a:pPr marL="285750" indent="-285750">
                  <a:buFont typeface="Wingdings" panose="05000000000000000000" pitchFamily="2" charset="2"/>
                  <a:buChar char="Ø"/>
                </a:pPr>
                <a:r>
                  <a:rPr lang="en-US" b="1" dirty="0"/>
                  <a:t>New observation sequence</a:t>
                </a:r>
                <a:r>
                  <a:rPr lang="en-US" dirty="0"/>
                  <a:t>:</a:t>
                </a:r>
                <a14:m>
                  <m:oMath xmlns:m="http://schemas.openxmlformats.org/officeDocument/2006/math">
                    <m:r>
                      <a:rPr lang="en-US" i="1">
                        <a:latin typeface="Cambria Math" panose="02040503050406030204" pitchFamily="18" charset="0"/>
                      </a:rPr>
                      <m:t> </m:t>
                    </m:r>
                    <m:r>
                      <a:rPr lang="en-US" b="0" i="1" smtClean="0">
                        <a:latin typeface="Cambria Math" panose="02040503050406030204" pitchFamily="18" charset="0"/>
                      </a:rPr>
                      <m:t> </m:t>
                    </m:r>
                    <m:sSub>
                      <m:sSubPr>
                        <m:ctrlPr>
                          <a:rPr lang="en-US" b="1" i="1" smtClean="0">
                            <a:solidFill>
                              <a:srgbClr val="C00000"/>
                            </a:solidFill>
                            <a:latin typeface="Cambria Math" panose="02040503050406030204" pitchFamily="18" charset="0"/>
                          </a:rPr>
                        </m:ctrlPr>
                      </m:sSubPr>
                      <m:e>
                        <m:r>
                          <a:rPr lang="en-US" b="1" i="1">
                            <a:solidFill>
                              <a:srgbClr val="C00000"/>
                            </a:solidFill>
                            <a:latin typeface="Cambria Math" panose="02040503050406030204" pitchFamily="18" charset="0"/>
                          </a:rPr>
                          <m:t>𝓓</m:t>
                        </m:r>
                      </m:e>
                      <m:sub>
                        <m:r>
                          <a:rPr lang="en-US" b="1" i="1">
                            <a:solidFill>
                              <a:srgbClr val="C00000"/>
                            </a:solidFill>
                            <a:latin typeface="Cambria Math" panose="02040503050406030204" pitchFamily="18" charset="0"/>
                          </a:rPr>
                          <m:t>𝒕</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𝑡</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i="1">
                            <a:latin typeface="Cambria Math" panose="02040503050406030204" pitchFamily="18" charset="0"/>
                          </a:rPr>
                          <m:t>𝑡</m:t>
                        </m:r>
                      </m:sub>
                    </m:sSub>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𝑡</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𝑡</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i="1">
                                <a:latin typeface="Cambria Math" panose="02040503050406030204" pitchFamily="18" charset="0"/>
                              </a:rPr>
                              <m:t>𝑡</m:t>
                            </m:r>
                          </m:sub>
                        </m:sSub>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𝑡</m:t>
                        </m:r>
                        <m:r>
                          <a:rPr lang="en-US" i="1">
                            <a:latin typeface="Cambria Math" panose="02040503050406030204" pitchFamily="18" charset="0"/>
                          </a:rPr>
                          <m:t>+1</m:t>
                        </m:r>
                      </m:sub>
                    </m:sSub>
                    <m:r>
                      <a:rPr lang="en-US" i="1">
                        <a:latin typeface="Cambria Math" panose="02040503050406030204" pitchFamily="18" charset="0"/>
                      </a:rPr>
                      <m:t>}</m:t>
                    </m:r>
                  </m:oMath>
                </a14:m>
                <a:r>
                  <a:rPr lang="en-US" dirty="0"/>
                  <a:t>.</a:t>
                </a:r>
                <a:endParaRPr lang="en-IN" dirty="0"/>
              </a:p>
            </p:txBody>
          </p:sp>
        </mc:Choice>
        <mc:Fallback>
          <p:sp>
            <p:nvSpPr>
              <p:cNvPr id="3" name="TextBox 2">
                <a:extLst>
                  <a:ext uri="{FF2B5EF4-FFF2-40B4-BE49-F238E27FC236}">
                    <a16:creationId xmlns:a16="http://schemas.microsoft.com/office/drawing/2014/main" id="{120EED3D-880D-5FBA-98CB-C663357E4173}"/>
                  </a:ext>
                </a:extLst>
              </p:cNvPr>
              <p:cNvSpPr txBox="1">
                <a:spLocks noRot="1" noChangeAspect="1" noMove="1" noResize="1" noEditPoints="1" noAdjustHandles="1" noChangeArrowheads="1" noChangeShapeType="1" noTextEdit="1"/>
              </p:cNvSpPr>
              <p:nvPr/>
            </p:nvSpPr>
            <p:spPr>
              <a:xfrm>
                <a:off x="5609876" y="3159888"/>
                <a:ext cx="6472669" cy="369332"/>
              </a:xfrm>
              <a:prstGeom prst="rect">
                <a:avLst/>
              </a:prstGeom>
              <a:blipFill>
                <a:blip r:embed="rId6"/>
                <a:stretch>
                  <a:fillRect l="-565" t="-8197" r="-188" b="-24590"/>
                </a:stretch>
              </a:blipFill>
            </p:spPr>
            <p:txBody>
              <a:bodyPr/>
              <a:lstStyle/>
              <a:p>
                <a:r>
                  <a:rPr lang="en-IN">
                    <a:noFill/>
                  </a:rPr>
                  <a:t> </a:t>
                </a:r>
              </a:p>
            </p:txBody>
          </p:sp>
        </mc:Fallback>
      </mc:AlternateContent>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5E38F787-40EC-2EDC-8A8D-FB98A4CBD513}"/>
                  </a:ext>
                </a:extLst>
              </p:cNvPr>
              <p:cNvSpPr txBox="1"/>
              <p:nvPr/>
            </p:nvSpPr>
            <p:spPr>
              <a:xfrm>
                <a:off x="5900608" y="2780346"/>
                <a:ext cx="6074605" cy="369332"/>
              </a:xfrm>
              <a:prstGeom prst="rect">
                <a:avLst/>
              </a:prstGeom>
              <a:noFill/>
            </p:spPr>
            <p:txBody>
              <a:bodyPr wrap="square" rtlCol="0">
                <a:spAutoFit/>
              </a:bodyPr>
              <a:lstStyle/>
              <a:p>
                <a14:m>
                  <m:oMath xmlns:m="http://schemas.openxmlformats.org/officeDocument/2006/math">
                    <m:sSub>
                      <m:sSubPr>
                        <m:ctrlPr>
                          <a:rPr lang="en-US" i="1" smtClean="0">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𝑛</m:t>
                        </m:r>
                      </m:e>
                      <m:sub>
                        <m:r>
                          <a:rPr lang="en-US" i="1">
                            <a:solidFill>
                              <a:srgbClr val="FF0000"/>
                            </a:solidFill>
                            <a:latin typeface="Cambria Math" panose="02040503050406030204" pitchFamily="18" charset="0"/>
                          </a:rPr>
                          <m:t>𝑡</m:t>
                        </m:r>
                      </m:sub>
                    </m:sSub>
                  </m:oMath>
                </a14:m>
                <a:r>
                  <a:rPr lang="en-IN" dirty="0"/>
                  <a:t>: Heavy-tailed noise, finite variance; (</a:t>
                </a:r>
                <a14:m>
                  <m:oMath xmlns:m="http://schemas.openxmlformats.org/officeDocument/2006/math">
                    <m:r>
                      <a:rPr lang="en-US" b="0" i="1" smtClean="0">
                        <a:solidFill>
                          <a:srgbClr val="C00000"/>
                        </a:solidFill>
                        <a:latin typeface="Cambria Math" panose="02040503050406030204" pitchFamily="18" charset="0"/>
                      </a:rPr>
                      <m:t>∗</m:t>
                    </m:r>
                    <m:r>
                      <a:rPr lang="en-US" b="0" i="1" smtClean="0">
                        <a:latin typeface="Cambria Math" panose="02040503050406030204" pitchFamily="18" charset="0"/>
                      </a:rPr>
                      <m:t>):</m:t>
                    </m:r>
                  </m:oMath>
                </a14:m>
                <a:r>
                  <a:rPr lang="en-IN" dirty="0"/>
                  <a:t> Arbitrary.</a:t>
                </a:r>
              </a:p>
            </p:txBody>
          </p:sp>
        </mc:Choice>
        <mc:Fallback>
          <p:sp>
            <p:nvSpPr>
              <p:cNvPr id="10" name="TextBox 9">
                <a:extLst>
                  <a:ext uri="{FF2B5EF4-FFF2-40B4-BE49-F238E27FC236}">
                    <a16:creationId xmlns:a16="http://schemas.microsoft.com/office/drawing/2014/main" id="{5E38F787-40EC-2EDC-8A8D-FB98A4CBD513}"/>
                  </a:ext>
                </a:extLst>
              </p:cNvPr>
              <p:cNvSpPr txBox="1">
                <a:spLocks noRot="1" noChangeAspect="1" noMove="1" noResize="1" noEditPoints="1" noAdjustHandles="1" noChangeArrowheads="1" noChangeShapeType="1" noTextEdit="1"/>
              </p:cNvSpPr>
              <p:nvPr/>
            </p:nvSpPr>
            <p:spPr>
              <a:xfrm>
                <a:off x="5900608" y="2780346"/>
                <a:ext cx="6074605" cy="369332"/>
              </a:xfrm>
              <a:prstGeom prst="rect">
                <a:avLst/>
              </a:prstGeom>
              <a:blipFill>
                <a:blip r:embed="rId7"/>
                <a:stretch>
                  <a:fillRect t="-8197" b="-24590"/>
                </a:stretch>
              </a:blipFill>
            </p:spPr>
            <p:txBody>
              <a:bodyPr/>
              <a:lstStyle/>
              <a:p>
                <a:r>
                  <a:rPr lang="en-IN">
                    <a:noFill/>
                  </a:rPr>
                  <a:t> </a:t>
                </a:r>
              </a:p>
            </p:txBody>
          </p:sp>
        </mc:Fallback>
      </mc:AlternateContent>
      <p:pic>
        <p:nvPicPr>
          <p:cNvPr id="12" name="Picture 11">
            <a:extLst>
              <a:ext uri="{FF2B5EF4-FFF2-40B4-BE49-F238E27FC236}">
                <a16:creationId xmlns:a16="http://schemas.microsoft.com/office/drawing/2014/main" id="{DBD73C51-86A8-D76A-5761-EA05103B123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641089" y="3627318"/>
            <a:ext cx="2943556" cy="1815695"/>
          </a:xfrm>
          <a:prstGeom prst="rect">
            <a:avLst/>
          </a:prstGeom>
        </p:spPr>
      </p:pic>
      <p:pic>
        <p:nvPicPr>
          <p:cNvPr id="15" name="Picture 14">
            <a:extLst>
              <a:ext uri="{FF2B5EF4-FFF2-40B4-BE49-F238E27FC236}">
                <a16:creationId xmlns:a16="http://schemas.microsoft.com/office/drawing/2014/main" id="{E646CED8-2C94-6200-0661-A11A3B5D7D20}"/>
              </a:ext>
            </a:extLst>
          </p:cNvPr>
          <p:cNvPicPr>
            <a:picLocks noChangeAspect="1"/>
          </p:cNvPicPr>
          <p:nvPr/>
        </p:nvPicPr>
        <p:blipFill>
          <a:blip r:embed="rId9"/>
          <a:stretch>
            <a:fillRect/>
          </a:stretch>
        </p:blipFill>
        <p:spPr>
          <a:xfrm>
            <a:off x="8745511" y="3627318"/>
            <a:ext cx="2940836" cy="1814400"/>
          </a:xfrm>
          <a:prstGeom prst="rect">
            <a:avLst/>
          </a:prstGeom>
        </p:spPr>
      </p:pic>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BC65DE47-EF07-1026-A4B4-D6B0941D962E}"/>
                  </a:ext>
                </a:extLst>
              </p:cNvPr>
              <p:cNvSpPr txBox="1"/>
              <p:nvPr/>
            </p:nvSpPr>
            <p:spPr>
              <a:xfrm>
                <a:off x="6420726" y="5511397"/>
                <a:ext cx="5136471" cy="369332"/>
              </a:xfrm>
              <a:prstGeom prst="rect">
                <a:avLst/>
              </a:prstGeom>
              <a:noFill/>
            </p:spPr>
            <p:txBody>
              <a:bodyPr wrap="none" rtlCol="0">
                <a:spAutoFit/>
              </a:bodyPr>
              <a:lstStyle/>
              <a:p>
                <a:r>
                  <a:rPr lang="en-US" dirty="0"/>
                  <a:t>Vanilla </a:t>
                </a:r>
                <a14:m>
                  <m:oMath xmlns:m="http://schemas.openxmlformats.org/officeDocument/2006/math">
                    <m:r>
                      <a:rPr lang="en-US" b="0" i="1" smtClean="0">
                        <a:latin typeface="Cambria Math" panose="02040503050406030204" pitchFamily="18" charset="0"/>
                      </a:rPr>
                      <m:t>𝑄</m:t>
                    </m:r>
                    <m:r>
                      <a:rPr lang="en-US" b="0" i="1" smtClean="0">
                        <a:latin typeface="Cambria Math" panose="02040503050406030204" pitchFamily="18" charset="0"/>
                      </a:rPr>
                      <m:t>−</m:t>
                    </m:r>
                  </m:oMath>
                </a14:m>
                <a:r>
                  <a:rPr lang="en-IN" dirty="0"/>
                  <a:t>Learning [1] fails </a:t>
                </a:r>
                <a:r>
                  <a:rPr lang="en-IN" b="1" dirty="0">
                    <a:solidFill>
                      <a:srgbClr val="C00000"/>
                    </a:solidFill>
                  </a:rPr>
                  <a:t>catastrophically!</a:t>
                </a:r>
              </a:p>
            </p:txBody>
          </p:sp>
        </mc:Choice>
        <mc:Fallback>
          <p:sp>
            <p:nvSpPr>
              <p:cNvPr id="16" name="TextBox 15">
                <a:extLst>
                  <a:ext uri="{FF2B5EF4-FFF2-40B4-BE49-F238E27FC236}">
                    <a16:creationId xmlns:a16="http://schemas.microsoft.com/office/drawing/2014/main" id="{BC65DE47-EF07-1026-A4B4-D6B0941D962E}"/>
                  </a:ext>
                </a:extLst>
              </p:cNvPr>
              <p:cNvSpPr txBox="1">
                <a:spLocks noRot="1" noChangeAspect="1" noMove="1" noResize="1" noEditPoints="1" noAdjustHandles="1" noChangeArrowheads="1" noChangeShapeType="1" noTextEdit="1"/>
              </p:cNvSpPr>
              <p:nvPr/>
            </p:nvSpPr>
            <p:spPr>
              <a:xfrm>
                <a:off x="6420726" y="5511397"/>
                <a:ext cx="5136471" cy="369332"/>
              </a:xfrm>
              <a:prstGeom prst="rect">
                <a:avLst/>
              </a:prstGeom>
              <a:blipFill>
                <a:blip r:embed="rId10"/>
                <a:stretch>
                  <a:fillRect l="-949" t="-8197" r="-119" b="-24590"/>
                </a:stretch>
              </a:blipFill>
            </p:spPr>
            <p:txBody>
              <a:bodyPr/>
              <a:lstStyle/>
              <a:p>
                <a:r>
                  <a:rPr lang="en-IN">
                    <a:noFill/>
                  </a:rPr>
                  <a:t> </a:t>
                </a:r>
              </a:p>
            </p:txBody>
          </p:sp>
        </mc:Fallback>
      </mc:AlternateContent>
      <p:sp>
        <p:nvSpPr>
          <p:cNvPr id="17" name="Rectangle 16">
            <a:extLst>
              <a:ext uri="{FF2B5EF4-FFF2-40B4-BE49-F238E27FC236}">
                <a16:creationId xmlns:a16="http://schemas.microsoft.com/office/drawing/2014/main" id="{A657886B-9316-62F0-D731-2FB86CFA6DF8}"/>
              </a:ext>
            </a:extLst>
          </p:cNvPr>
          <p:cNvSpPr/>
          <p:nvPr/>
        </p:nvSpPr>
        <p:spPr>
          <a:xfrm>
            <a:off x="6420726" y="5410593"/>
            <a:ext cx="5063961" cy="534717"/>
          </a:xfrm>
          <a:custGeom>
            <a:avLst/>
            <a:gdLst>
              <a:gd name="csX0" fmla="*/ 0 w 5063961"/>
              <a:gd name="csY0" fmla="*/ 0 h 534717"/>
              <a:gd name="csX1" fmla="*/ 461383 w 5063961"/>
              <a:gd name="csY1" fmla="*/ 0 h 534717"/>
              <a:gd name="csX2" fmla="*/ 973406 w 5063961"/>
              <a:gd name="csY2" fmla="*/ 0 h 534717"/>
              <a:gd name="csX3" fmla="*/ 1434789 w 5063961"/>
              <a:gd name="csY3" fmla="*/ 0 h 534717"/>
              <a:gd name="csX4" fmla="*/ 2048091 w 5063961"/>
              <a:gd name="csY4" fmla="*/ 0 h 534717"/>
              <a:gd name="csX5" fmla="*/ 2610753 w 5063961"/>
              <a:gd name="csY5" fmla="*/ 0 h 534717"/>
              <a:gd name="csX6" fmla="*/ 3173416 w 5063961"/>
              <a:gd name="csY6" fmla="*/ 0 h 534717"/>
              <a:gd name="csX7" fmla="*/ 3837357 w 5063961"/>
              <a:gd name="csY7" fmla="*/ 0 h 534717"/>
              <a:gd name="csX8" fmla="*/ 4450659 w 5063961"/>
              <a:gd name="csY8" fmla="*/ 0 h 534717"/>
              <a:gd name="csX9" fmla="*/ 5063961 w 5063961"/>
              <a:gd name="csY9" fmla="*/ 0 h 534717"/>
              <a:gd name="csX10" fmla="*/ 5063961 w 5063961"/>
              <a:gd name="csY10" fmla="*/ 534717 h 534717"/>
              <a:gd name="csX11" fmla="*/ 4653217 w 5063961"/>
              <a:gd name="csY11" fmla="*/ 534717 h 534717"/>
              <a:gd name="csX12" fmla="*/ 4191834 w 5063961"/>
              <a:gd name="csY12" fmla="*/ 534717 h 534717"/>
              <a:gd name="csX13" fmla="*/ 3578532 w 5063961"/>
              <a:gd name="csY13" fmla="*/ 534717 h 534717"/>
              <a:gd name="csX14" fmla="*/ 2914591 w 5063961"/>
              <a:gd name="csY14" fmla="*/ 534717 h 534717"/>
              <a:gd name="csX15" fmla="*/ 2402568 w 5063961"/>
              <a:gd name="csY15" fmla="*/ 534717 h 534717"/>
              <a:gd name="csX16" fmla="*/ 1738627 w 5063961"/>
              <a:gd name="csY16" fmla="*/ 534717 h 534717"/>
              <a:gd name="csX17" fmla="*/ 1277243 w 5063961"/>
              <a:gd name="csY17" fmla="*/ 534717 h 534717"/>
              <a:gd name="csX18" fmla="*/ 866500 w 5063961"/>
              <a:gd name="csY18" fmla="*/ 534717 h 534717"/>
              <a:gd name="csX19" fmla="*/ 0 w 5063961"/>
              <a:gd name="csY19" fmla="*/ 534717 h 534717"/>
              <a:gd name="csX20" fmla="*/ 0 w 5063961"/>
              <a:gd name="csY20" fmla="*/ 0 h 5347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5063961" h="534717" fill="none" extrusionOk="0">
                <a:moveTo>
                  <a:pt x="0" y="0"/>
                </a:moveTo>
                <a:cubicBezTo>
                  <a:pt x="133420" y="-45374"/>
                  <a:pt x="358815" y="21626"/>
                  <a:pt x="461383" y="0"/>
                </a:cubicBezTo>
                <a:cubicBezTo>
                  <a:pt x="563951" y="-21626"/>
                  <a:pt x="861547" y="39568"/>
                  <a:pt x="973406" y="0"/>
                </a:cubicBezTo>
                <a:cubicBezTo>
                  <a:pt x="1085265" y="-39568"/>
                  <a:pt x="1212769" y="16982"/>
                  <a:pt x="1434789" y="0"/>
                </a:cubicBezTo>
                <a:cubicBezTo>
                  <a:pt x="1656809" y="-16982"/>
                  <a:pt x="1853624" y="48030"/>
                  <a:pt x="2048091" y="0"/>
                </a:cubicBezTo>
                <a:cubicBezTo>
                  <a:pt x="2242558" y="-48030"/>
                  <a:pt x="2492716" y="60200"/>
                  <a:pt x="2610753" y="0"/>
                </a:cubicBezTo>
                <a:cubicBezTo>
                  <a:pt x="2728790" y="-60200"/>
                  <a:pt x="2966948" y="28498"/>
                  <a:pt x="3173416" y="0"/>
                </a:cubicBezTo>
                <a:cubicBezTo>
                  <a:pt x="3379884" y="-28498"/>
                  <a:pt x="3594612" y="28094"/>
                  <a:pt x="3837357" y="0"/>
                </a:cubicBezTo>
                <a:cubicBezTo>
                  <a:pt x="4080102" y="-28094"/>
                  <a:pt x="4294193" y="14927"/>
                  <a:pt x="4450659" y="0"/>
                </a:cubicBezTo>
                <a:cubicBezTo>
                  <a:pt x="4607125" y="-14927"/>
                  <a:pt x="4795431" y="20305"/>
                  <a:pt x="5063961" y="0"/>
                </a:cubicBezTo>
                <a:cubicBezTo>
                  <a:pt x="5081655" y="160011"/>
                  <a:pt x="5039523" y="312437"/>
                  <a:pt x="5063961" y="534717"/>
                </a:cubicBezTo>
                <a:cubicBezTo>
                  <a:pt x="4868384" y="574300"/>
                  <a:pt x="4741303" y="512399"/>
                  <a:pt x="4653217" y="534717"/>
                </a:cubicBezTo>
                <a:cubicBezTo>
                  <a:pt x="4565131" y="557035"/>
                  <a:pt x="4289527" y="483687"/>
                  <a:pt x="4191834" y="534717"/>
                </a:cubicBezTo>
                <a:cubicBezTo>
                  <a:pt x="4094141" y="585747"/>
                  <a:pt x="3731421" y="474477"/>
                  <a:pt x="3578532" y="534717"/>
                </a:cubicBezTo>
                <a:cubicBezTo>
                  <a:pt x="3425643" y="594957"/>
                  <a:pt x="3122724" y="501584"/>
                  <a:pt x="2914591" y="534717"/>
                </a:cubicBezTo>
                <a:cubicBezTo>
                  <a:pt x="2706458" y="567850"/>
                  <a:pt x="2596544" y="495299"/>
                  <a:pt x="2402568" y="534717"/>
                </a:cubicBezTo>
                <a:cubicBezTo>
                  <a:pt x="2208592" y="574135"/>
                  <a:pt x="2055102" y="470241"/>
                  <a:pt x="1738627" y="534717"/>
                </a:cubicBezTo>
                <a:cubicBezTo>
                  <a:pt x="1422152" y="599193"/>
                  <a:pt x="1466412" y="518214"/>
                  <a:pt x="1277243" y="534717"/>
                </a:cubicBezTo>
                <a:cubicBezTo>
                  <a:pt x="1088074" y="551220"/>
                  <a:pt x="1049742" y="530566"/>
                  <a:pt x="866500" y="534717"/>
                </a:cubicBezTo>
                <a:cubicBezTo>
                  <a:pt x="683258" y="538868"/>
                  <a:pt x="316153" y="515801"/>
                  <a:pt x="0" y="534717"/>
                </a:cubicBezTo>
                <a:cubicBezTo>
                  <a:pt x="-15512" y="406643"/>
                  <a:pt x="55517" y="259027"/>
                  <a:pt x="0" y="0"/>
                </a:cubicBezTo>
                <a:close/>
              </a:path>
              <a:path w="5063961" h="534717" stroke="0" extrusionOk="0">
                <a:moveTo>
                  <a:pt x="0" y="0"/>
                </a:moveTo>
                <a:cubicBezTo>
                  <a:pt x="247686" y="-58046"/>
                  <a:pt x="342797" y="11952"/>
                  <a:pt x="512023" y="0"/>
                </a:cubicBezTo>
                <a:cubicBezTo>
                  <a:pt x="681249" y="-11952"/>
                  <a:pt x="840135" y="25465"/>
                  <a:pt x="922766" y="0"/>
                </a:cubicBezTo>
                <a:cubicBezTo>
                  <a:pt x="1005397" y="-25465"/>
                  <a:pt x="1443355" y="12514"/>
                  <a:pt x="1586708" y="0"/>
                </a:cubicBezTo>
                <a:cubicBezTo>
                  <a:pt x="1730061" y="-12514"/>
                  <a:pt x="1906287" y="60216"/>
                  <a:pt x="2098731" y="0"/>
                </a:cubicBezTo>
                <a:cubicBezTo>
                  <a:pt x="2291175" y="-60216"/>
                  <a:pt x="2395330" y="11602"/>
                  <a:pt x="2610753" y="0"/>
                </a:cubicBezTo>
                <a:cubicBezTo>
                  <a:pt x="2826176" y="-11602"/>
                  <a:pt x="2953013" y="49009"/>
                  <a:pt x="3274695" y="0"/>
                </a:cubicBezTo>
                <a:cubicBezTo>
                  <a:pt x="3596377" y="-49009"/>
                  <a:pt x="3594800" y="40542"/>
                  <a:pt x="3736078" y="0"/>
                </a:cubicBezTo>
                <a:cubicBezTo>
                  <a:pt x="3877356" y="-40542"/>
                  <a:pt x="4264442" y="70977"/>
                  <a:pt x="4400019" y="0"/>
                </a:cubicBezTo>
                <a:cubicBezTo>
                  <a:pt x="4535596" y="-70977"/>
                  <a:pt x="4869041" y="56691"/>
                  <a:pt x="5063961" y="0"/>
                </a:cubicBezTo>
                <a:cubicBezTo>
                  <a:pt x="5109955" y="113265"/>
                  <a:pt x="5006075" y="286534"/>
                  <a:pt x="5063961" y="534717"/>
                </a:cubicBezTo>
                <a:cubicBezTo>
                  <a:pt x="4890579" y="590950"/>
                  <a:pt x="4723540" y="530788"/>
                  <a:pt x="4501299" y="534717"/>
                </a:cubicBezTo>
                <a:cubicBezTo>
                  <a:pt x="4279058" y="538646"/>
                  <a:pt x="4175054" y="504044"/>
                  <a:pt x="3989276" y="534717"/>
                </a:cubicBezTo>
                <a:cubicBezTo>
                  <a:pt x="3803498" y="565390"/>
                  <a:pt x="3634488" y="526754"/>
                  <a:pt x="3325334" y="534717"/>
                </a:cubicBezTo>
                <a:cubicBezTo>
                  <a:pt x="3016180" y="542680"/>
                  <a:pt x="2928199" y="530435"/>
                  <a:pt x="2661393" y="534717"/>
                </a:cubicBezTo>
                <a:cubicBezTo>
                  <a:pt x="2394587" y="538999"/>
                  <a:pt x="2390409" y="508743"/>
                  <a:pt x="2200010" y="534717"/>
                </a:cubicBezTo>
                <a:cubicBezTo>
                  <a:pt x="2009611" y="560691"/>
                  <a:pt x="1907524" y="480772"/>
                  <a:pt x="1637347" y="534717"/>
                </a:cubicBezTo>
                <a:cubicBezTo>
                  <a:pt x="1367170" y="588662"/>
                  <a:pt x="1110066" y="487842"/>
                  <a:pt x="973406" y="534717"/>
                </a:cubicBezTo>
                <a:cubicBezTo>
                  <a:pt x="836746" y="581592"/>
                  <a:pt x="201990" y="513444"/>
                  <a:pt x="0" y="534717"/>
                </a:cubicBezTo>
                <a:cubicBezTo>
                  <a:pt x="-56238" y="417830"/>
                  <a:pt x="23851" y="136376"/>
                  <a:pt x="0" y="0"/>
                </a:cubicBezTo>
                <a:close/>
              </a:path>
            </a:pathLst>
          </a:custGeom>
          <a:solidFill>
            <a:srgbClr val="002060">
              <a:alpha val="2000"/>
            </a:srgbClr>
          </a:solidFill>
          <a:ln>
            <a:solidFill>
              <a:schemeClr val="accent1">
                <a:shade val="15000"/>
                <a:shade val="90000"/>
                <a:alpha val="59000"/>
              </a:schemeClr>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9" name="Graphic 58" descr="Robot with solid fill">
            <a:extLst>
              <a:ext uri="{FF2B5EF4-FFF2-40B4-BE49-F238E27FC236}">
                <a16:creationId xmlns:a16="http://schemas.microsoft.com/office/drawing/2014/main" id="{00C8F665-C72F-F4EB-AA68-FFBC587C3B0A}"/>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365055" y="2595179"/>
            <a:ext cx="1064851" cy="1064851"/>
          </a:xfrm>
          <a:prstGeom prst="rect">
            <a:avLst/>
          </a:prstGeom>
        </p:spPr>
      </p:pic>
      <p:grpSp>
        <p:nvGrpSpPr>
          <p:cNvPr id="60" name="Graphic 33" descr="Earth globe: Americas with solid fill">
            <a:extLst>
              <a:ext uri="{FF2B5EF4-FFF2-40B4-BE49-F238E27FC236}">
                <a16:creationId xmlns:a16="http://schemas.microsoft.com/office/drawing/2014/main" id="{22F31006-6F24-CF75-422C-12AE81E2CF65}"/>
              </a:ext>
            </a:extLst>
          </p:cNvPr>
          <p:cNvGrpSpPr/>
          <p:nvPr/>
        </p:nvGrpSpPr>
        <p:grpSpPr>
          <a:xfrm>
            <a:off x="3466577" y="2653013"/>
            <a:ext cx="936731" cy="936731"/>
            <a:chOff x="8782657" y="2822552"/>
            <a:chExt cx="936731" cy="936731"/>
          </a:xfrm>
          <a:solidFill>
            <a:srgbClr val="002060"/>
          </a:solidFill>
        </p:grpSpPr>
        <p:sp>
          <p:nvSpPr>
            <p:cNvPr id="61" name="Freeform: Shape 60">
              <a:extLst>
                <a:ext uri="{FF2B5EF4-FFF2-40B4-BE49-F238E27FC236}">
                  <a16:creationId xmlns:a16="http://schemas.microsoft.com/office/drawing/2014/main" id="{689BB4A8-5A51-3A11-94AB-729D495E83B3}"/>
                </a:ext>
              </a:extLst>
            </p:cNvPr>
            <p:cNvSpPr/>
            <p:nvPr/>
          </p:nvSpPr>
          <p:spPr>
            <a:xfrm>
              <a:off x="8782657" y="2822552"/>
              <a:ext cx="936731" cy="936731"/>
            </a:xfrm>
            <a:custGeom>
              <a:avLst/>
              <a:gdLst>
                <a:gd name="csX0" fmla="*/ 468366 w 936731"/>
                <a:gd name="csY0" fmla="*/ 0 h 936731"/>
                <a:gd name="csX1" fmla="*/ 0 w 936731"/>
                <a:gd name="csY1" fmla="*/ 468366 h 936731"/>
                <a:gd name="csX2" fmla="*/ 468366 w 936731"/>
                <a:gd name="csY2" fmla="*/ 936732 h 936731"/>
                <a:gd name="csX3" fmla="*/ 936732 w 936731"/>
                <a:gd name="csY3" fmla="*/ 468366 h 936731"/>
                <a:gd name="csX4" fmla="*/ 468366 w 936731"/>
                <a:gd name="csY4" fmla="*/ 0 h 936731"/>
                <a:gd name="csX5" fmla="*/ 49302 w 936731"/>
                <a:gd name="csY5" fmla="*/ 468366 h 936731"/>
                <a:gd name="csX6" fmla="*/ 160230 w 936731"/>
                <a:gd name="csY6" fmla="*/ 184881 h 936731"/>
                <a:gd name="csX7" fmla="*/ 184881 w 936731"/>
                <a:gd name="csY7" fmla="*/ 209532 h 936731"/>
                <a:gd name="csX8" fmla="*/ 184881 w 936731"/>
                <a:gd name="csY8" fmla="*/ 287182 h 936731"/>
                <a:gd name="csX9" fmla="*/ 189811 w 936731"/>
                <a:gd name="csY9" fmla="*/ 301973 h 936731"/>
                <a:gd name="csX10" fmla="*/ 271159 w 936731"/>
                <a:gd name="csY10" fmla="*/ 406739 h 936731"/>
                <a:gd name="csX11" fmla="*/ 277322 w 936731"/>
                <a:gd name="csY11" fmla="*/ 400576 h 936731"/>
                <a:gd name="csX12" fmla="*/ 279787 w 936731"/>
                <a:gd name="csY12" fmla="*/ 385786 h 936731"/>
                <a:gd name="csX13" fmla="*/ 264996 w 936731"/>
                <a:gd name="csY13" fmla="*/ 361135 h 936731"/>
                <a:gd name="csX14" fmla="*/ 279787 w 936731"/>
                <a:gd name="csY14" fmla="*/ 342647 h 936731"/>
                <a:gd name="csX15" fmla="*/ 287182 w 936731"/>
                <a:gd name="csY15" fmla="*/ 348809 h 936731"/>
                <a:gd name="csX16" fmla="*/ 327856 w 936731"/>
                <a:gd name="csY16" fmla="*/ 428925 h 936731"/>
                <a:gd name="csX17" fmla="*/ 348809 w 936731"/>
                <a:gd name="csY17" fmla="*/ 447413 h 936731"/>
                <a:gd name="csX18" fmla="*/ 403041 w 936731"/>
                <a:gd name="csY18" fmla="*/ 465901 h 936731"/>
                <a:gd name="csX19" fmla="*/ 410436 w 936731"/>
                <a:gd name="csY19" fmla="*/ 472063 h 936731"/>
                <a:gd name="csX20" fmla="*/ 414134 w 936731"/>
                <a:gd name="csY20" fmla="*/ 478226 h 936731"/>
                <a:gd name="csX21" fmla="*/ 436320 w 936731"/>
                <a:gd name="csY21" fmla="*/ 491784 h 936731"/>
                <a:gd name="csX22" fmla="*/ 451110 w 936731"/>
                <a:gd name="csY22" fmla="*/ 491784 h 936731"/>
                <a:gd name="csX23" fmla="*/ 460971 w 936731"/>
                <a:gd name="csY23" fmla="*/ 496714 h 936731"/>
                <a:gd name="csX24" fmla="*/ 476994 w 936731"/>
                <a:gd name="csY24" fmla="*/ 520133 h 936731"/>
                <a:gd name="csX25" fmla="*/ 491784 w 936731"/>
                <a:gd name="csY25" fmla="*/ 529993 h 936731"/>
                <a:gd name="csX26" fmla="*/ 517668 w 936731"/>
                <a:gd name="csY26" fmla="*/ 536156 h 936731"/>
                <a:gd name="csX27" fmla="*/ 526295 w 936731"/>
                <a:gd name="csY27" fmla="*/ 552179 h 936731"/>
                <a:gd name="csX28" fmla="*/ 506575 w 936731"/>
                <a:gd name="csY28" fmla="*/ 600248 h 936731"/>
                <a:gd name="csX29" fmla="*/ 580527 w 936731"/>
                <a:gd name="csY29" fmla="*/ 723502 h 936731"/>
                <a:gd name="csX30" fmla="*/ 569434 w 936731"/>
                <a:gd name="csY30" fmla="*/ 871407 h 936731"/>
                <a:gd name="csX31" fmla="*/ 469598 w 936731"/>
                <a:gd name="csY31" fmla="*/ 883732 h 936731"/>
                <a:gd name="csX32" fmla="*/ 49302 w 936731"/>
                <a:gd name="csY32" fmla="*/ 468366 h 936731"/>
                <a:gd name="csX33" fmla="*/ 626131 w 936731"/>
                <a:gd name="csY33" fmla="*/ 856616 h 936731"/>
                <a:gd name="csX34" fmla="*/ 714874 w 936731"/>
                <a:gd name="csY34" fmla="*/ 776501 h 936731"/>
                <a:gd name="csX35" fmla="*/ 739525 w 936731"/>
                <a:gd name="csY35" fmla="*/ 714874 h 936731"/>
                <a:gd name="csX36" fmla="*/ 825803 w 936731"/>
                <a:gd name="csY36" fmla="*/ 628596 h 936731"/>
                <a:gd name="csX37" fmla="*/ 739525 w 936731"/>
                <a:gd name="csY37" fmla="*/ 566969 h 936731"/>
                <a:gd name="csX38" fmla="*/ 591620 w 936731"/>
                <a:gd name="csY38" fmla="*/ 493017 h 936731"/>
                <a:gd name="csX39" fmla="*/ 529993 w 936731"/>
                <a:gd name="csY39" fmla="*/ 517668 h 936731"/>
                <a:gd name="csX40" fmla="*/ 505342 w 936731"/>
                <a:gd name="csY40" fmla="*/ 505342 h 936731"/>
                <a:gd name="csX41" fmla="*/ 505342 w 936731"/>
                <a:gd name="csY41" fmla="*/ 468366 h 936731"/>
                <a:gd name="csX42" fmla="*/ 493017 w 936731"/>
                <a:gd name="csY42" fmla="*/ 456040 h 936731"/>
                <a:gd name="csX43" fmla="*/ 468366 w 936731"/>
                <a:gd name="csY43" fmla="*/ 456040 h 936731"/>
                <a:gd name="csX44" fmla="*/ 468366 w 936731"/>
                <a:gd name="csY44" fmla="*/ 419064 h 936731"/>
                <a:gd name="csX45" fmla="*/ 456040 w 936731"/>
                <a:gd name="csY45" fmla="*/ 406739 h 936731"/>
                <a:gd name="csX46" fmla="*/ 443715 w 936731"/>
                <a:gd name="csY46" fmla="*/ 406739 h 936731"/>
                <a:gd name="csX47" fmla="*/ 430157 w 936731"/>
                <a:gd name="csY47" fmla="*/ 415367 h 936731"/>
                <a:gd name="csX48" fmla="*/ 394413 w 936731"/>
                <a:gd name="csY48" fmla="*/ 405506 h 936731"/>
                <a:gd name="csX49" fmla="*/ 382088 w 936731"/>
                <a:gd name="csY49" fmla="*/ 380855 h 936731"/>
                <a:gd name="csX50" fmla="*/ 443715 w 936731"/>
                <a:gd name="csY50" fmla="*/ 331554 h 936731"/>
                <a:gd name="csX51" fmla="*/ 470831 w 936731"/>
                <a:gd name="csY51" fmla="*/ 331554 h 936731"/>
                <a:gd name="csX52" fmla="*/ 483156 w 936731"/>
                <a:gd name="csY52" fmla="*/ 341414 h 936731"/>
                <a:gd name="csX53" fmla="*/ 490552 w 936731"/>
                <a:gd name="csY53" fmla="*/ 372228 h 936731"/>
                <a:gd name="csX54" fmla="*/ 502877 w 936731"/>
                <a:gd name="csY54" fmla="*/ 382088 h 936731"/>
                <a:gd name="csX55" fmla="*/ 507807 w 936731"/>
                <a:gd name="csY55" fmla="*/ 382088 h 936731"/>
                <a:gd name="csX56" fmla="*/ 520133 w 936731"/>
                <a:gd name="csY56" fmla="*/ 372228 h 936731"/>
                <a:gd name="csX57" fmla="*/ 528760 w 936731"/>
                <a:gd name="csY57" fmla="*/ 326624 h 936731"/>
                <a:gd name="csX58" fmla="*/ 533691 w 936731"/>
                <a:gd name="csY58" fmla="*/ 315531 h 936731"/>
                <a:gd name="csX59" fmla="*/ 568202 w 936731"/>
                <a:gd name="csY59" fmla="*/ 272392 h 936731"/>
                <a:gd name="csX60" fmla="*/ 596550 w 936731"/>
                <a:gd name="csY60" fmla="*/ 258834 h 936731"/>
                <a:gd name="csX61" fmla="*/ 628596 w 936731"/>
                <a:gd name="csY61" fmla="*/ 258834 h 936731"/>
                <a:gd name="csX62" fmla="*/ 640922 w 936731"/>
                <a:gd name="csY62" fmla="*/ 246508 h 936731"/>
                <a:gd name="csX63" fmla="*/ 640922 w 936731"/>
                <a:gd name="csY63" fmla="*/ 234183 h 936731"/>
                <a:gd name="csX64" fmla="*/ 637224 w 936731"/>
                <a:gd name="csY64" fmla="*/ 230485 h 936731"/>
                <a:gd name="csX65" fmla="*/ 645852 w 936731"/>
                <a:gd name="csY65" fmla="*/ 209532 h 936731"/>
                <a:gd name="csX66" fmla="*/ 653247 w 936731"/>
                <a:gd name="csY66" fmla="*/ 209532 h 936731"/>
                <a:gd name="csX67" fmla="*/ 665573 w 936731"/>
                <a:gd name="csY67" fmla="*/ 221858 h 936731"/>
                <a:gd name="csX68" fmla="*/ 677898 w 936731"/>
                <a:gd name="csY68" fmla="*/ 234183 h 936731"/>
                <a:gd name="csX69" fmla="*/ 690223 w 936731"/>
                <a:gd name="csY69" fmla="*/ 234183 h 936731"/>
                <a:gd name="csX70" fmla="*/ 697619 w 936731"/>
                <a:gd name="csY70" fmla="*/ 202137 h 936731"/>
                <a:gd name="csX71" fmla="*/ 686526 w 936731"/>
                <a:gd name="csY71" fmla="*/ 175021 h 936731"/>
                <a:gd name="csX72" fmla="*/ 581760 w 936731"/>
                <a:gd name="csY72" fmla="*/ 112161 h 936731"/>
                <a:gd name="csX73" fmla="*/ 575597 w 936731"/>
                <a:gd name="csY73" fmla="*/ 110929 h 936731"/>
                <a:gd name="csX74" fmla="*/ 554644 w 936731"/>
                <a:gd name="csY74" fmla="*/ 110929 h 936731"/>
                <a:gd name="csX75" fmla="*/ 529993 w 936731"/>
                <a:gd name="csY75" fmla="*/ 135580 h 936731"/>
                <a:gd name="csX76" fmla="*/ 529993 w 936731"/>
                <a:gd name="csY76" fmla="*/ 147905 h 936731"/>
                <a:gd name="csX77" fmla="*/ 517668 w 936731"/>
                <a:gd name="csY77" fmla="*/ 160230 h 936731"/>
                <a:gd name="csX78" fmla="*/ 505342 w 936731"/>
                <a:gd name="csY78" fmla="*/ 160230 h 936731"/>
                <a:gd name="csX79" fmla="*/ 493017 w 936731"/>
                <a:gd name="csY79" fmla="*/ 147905 h 936731"/>
                <a:gd name="csX80" fmla="*/ 456040 w 936731"/>
                <a:gd name="csY80" fmla="*/ 147905 h 936731"/>
                <a:gd name="csX81" fmla="*/ 443715 w 936731"/>
                <a:gd name="csY81" fmla="*/ 135580 h 936731"/>
                <a:gd name="csX82" fmla="*/ 443715 w 936731"/>
                <a:gd name="csY82" fmla="*/ 104766 h 936731"/>
                <a:gd name="csX83" fmla="*/ 448645 w 936731"/>
                <a:gd name="csY83" fmla="*/ 94906 h 936731"/>
                <a:gd name="csX84" fmla="*/ 527528 w 936731"/>
                <a:gd name="csY84" fmla="*/ 61627 h 936731"/>
                <a:gd name="csX85" fmla="*/ 539853 w 936731"/>
                <a:gd name="csY85" fmla="*/ 82580 h 936731"/>
                <a:gd name="csX86" fmla="*/ 548481 w 936731"/>
                <a:gd name="csY86" fmla="*/ 86278 h 936731"/>
                <a:gd name="csX87" fmla="*/ 579295 w 936731"/>
                <a:gd name="csY87" fmla="*/ 86278 h 936731"/>
                <a:gd name="csX88" fmla="*/ 591620 w 936731"/>
                <a:gd name="csY88" fmla="*/ 73953 h 936731"/>
                <a:gd name="csX89" fmla="*/ 591620 w 936731"/>
                <a:gd name="csY89" fmla="*/ 67790 h 936731"/>
                <a:gd name="csX90" fmla="*/ 887430 w 936731"/>
                <a:gd name="csY90" fmla="*/ 468366 h 936731"/>
                <a:gd name="csX91" fmla="*/ 626131 w 936731"/>
                <a:gd name="csY91" fmla="*/ 856616 h 9367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Lst>
              <a:rect l="l" t="t" r="r" b="b"/>
              <a:pathLst>
                <a:path w="936731" h="936731">
                  <a:moveTo>
                    <a:pt x="468366" y="0"/>
                  </a:moveTo>
                  <a:cubicBezTo>
                    <a:pt x="209532" y="0"/>
                    <a:pt x="0" y="209532"/>
                    <a:pt x="0" y="468366"/>
                  </a:cubicBezTo>
                  <a:cubicBezTo>
                    <a:pt x="0" y="727200"/>
                    <a:pt x="209532" y="936732"/>
                    <a:pt x="468366" y="936732"/>
                  </a:cubicBezTo>
                  <a:cubicBezTo>
                    <a:pt x="727200" y="936732"/>
                    <a:pt x="936732" y="727200"/>
                    <a:pt x="936732" y="468366"/>
                  </a:cubicBezTo>
                  <a:cubicBezTo>
                    <a:pt x="936732" y="209532"/>
                    <a:pt x="727200" y="0"/>
                    <a:pt x="468366" y="0"/>
                  </a:cubicBezTo>
                  <a:close/>
                  <a:moveTo>
                    <a:pt x="49302" y="468366"/>
                  </a:moveTo>
                  <a:cubicBezTo>
                    <a:pt x="49302" y="358670"/>
                    <a:pt x="91208" y="260066"/>
                    <a:pt x="160230" y="184881"/>
                  </a:cubicBezTo>
                  <a:cubicBezTo>
                    <a:pt x="171323" y="191044"/>
                    <a:pt x="182416" y="200904"/>
                    <a:pt x="184881" y="209532"/>
                  </a:cubicBezTo>
                  <a:lnTo>
                    <a:pt x="184881" y="287182"/>
                  </a:lnTo>
                  <a:cubicBezTo>
                    <a:pt x="184881" y="292112"/>
                    <a:pt x="186114" y="298275"/>
                    <a:pt x="189811" y="301973"/>
                  </a:cubicBezTo>
                  <a:lnTo>
                    <a:pt x="271159" y="406739"/>
                  </a:lnTo>
                  <a:lnTo>
                    <a:pt x="277322" y="400576"/>
                  </a:lnTo>
                  <a:cubicBezTo>
                    <a:pt x="281020" y="396878"/>
                    <a:pt x="282252" y="390716"/>
                    <a:pt x="279787" y="385786"/>
                  </a:cubicBezTo>
                  <a:lnTo>
                    <a:pt x="264996" y="361135"/>
                  </a:lnTo>
                  <a:cubicBezTo>
                    <a:pt x="258834" y="351274"/>
                    <a:pt x="268694" y="338949"/>
                    <a:pt x="279787" y="342647"/>
                  </a:cubicBezTo>
                  <a:cubicBezTo>
                    <a:pt x="283485" y="343879"/>
                    <a:pt x="285950" y="346344"/>
                    <a:pt x="287182" y="348809"/>
                  </a:cubicBezTo>
                  <a:lnTo>
                    <a:pt x="327856" y="428925"/>
                  </a:lnTo>
                  <a:cubicBezTo>
                    <a:pt x="332786" y="437552"/>
                    <a:pt x="340181" y="444948"/>
                    <a:pt x="348809" y="447413"/>
                  </a:cubicBezTo>
                  <a:lnTo>
                    <a:pt x="403041" y="465901"/>
                  </a:lnTo>
                  <a:cubicBezTo>
                    <a:pt x="406739" y="467133"/>
                    <a:pt x="409204" y="469598"/>
                    <a:pt x="410436" y="472063"/>
                  </a:cubicBezTo>
                  <a:lnTo>
                    <a:pt x="414134" y="478226"/>
                  </a:lnTo>
                  <a:cubicBezTo>
                    <a:pt x="417832" y="486854"/>
                    <a:pt x="426459" y="491784"/>
                    <a:pt x="436320" y="491784"/>
                  </a:cubicBezTo>
                  <a:lnTo>
                    <a:pt x="451110" y="491784"/>
                  </a:lnTo>
                  <a:cubicBezTo>
                    <a:pt x="454808" y="491784"/>
                    <a:pt x="458506" y="494249"/>
                    <a:pt x="460971" y="496714"/>
                  </a:cubicBezTo>
                  <a:lnTo>
                    <a:pt x="476994" y="520133"/>
                  </a:lnTo>
                  <a:cubicBezTo>
                    <a:pt x="480691" y="525063"/>
                    <a:pt x="485621" y="528760"/>
                    <a:pt x="491784" y="529993"/>
                  </a:cubicBezTo>
                  <a:lnTo>
                    <a:pt x="517668" y="536156"/>
                  </a:lnTo>
                  <a:cubicBezTo>
                    <a:pt x="525063" y="537388"/>
                    <a:pt x="528760" y="546016"/>
                    <a:pt x="526295" y="552179"/>
                  </a:cubicBezTo>
                  <a:cubicBezTo>
                    <a:pt x="526295" y="552179"/>
                    <a:pt x="506575" y="571899"/>
                    <a:pt x="506575" y="600248"/>
                  </a:cubicBezTo>
                  <a:cubicBezTo>
                    <a:pt x="506575" y="681596"/>
                    <a:pt x="580527" y="705014"/>
                    <a:pt x="580527" y="723502"/>
                  </a:cubicBezTo>
                  <a:cubicBezTo>
                    <a:pt x="580527" y="774036"/>
                    <a:pt x="573132" y="844291"/>
                    <a:pt x="569434" y="871407"/>
                  </a:cubicBezTo>
                  <a:cubicBezTo>
                    <a:pt x="537388" y="878802"/>
                    <a:pt x="504110" y="883732"/>
                    <a:pt x="469598" y="883732"/>
                  </a:cubicBezTo>
                  <a:cubicBezTo>
                    <a:pt x="237881" y="887430"/>
                    <a:pt x="49302" y="698851"/>
                    <a:pt x="49302" y="468366"/>
                  </a:cubicBezTo>
                  <a:close/>
                  <a:moveTo>
                    <a:pt x="626131" y="856616"/>
                  </a:moveTo>
                  <a:cubicBezTo>
                    <a:pt x="653247" y="833198"/>
                    <a:pt x="698851" y="793757"/>
                    <a:pt x="714874" y="776501"/>
                  </a:cubicBezTo>
                  <a:cubicBezTo>
                    <a:pt x="735827" y="753083"/>
                    <a:pt x="739525" y="714874"/>
                    <a:pt x="739525" y="714874"/>
                  </a:cubicBezTo>
                  <a:cubicBezTo>
                    <a:pt x="739525" y="714874"/>
                    <a:pt x="825803" y="691456"/>
                    <a:pt x="825803" y="628596"/>
                  </a:cubicBezTo>
                  <a:cubicBezTo>
                    <a:pt x="825803" y="585457"/>
                    <a:pt x="739525" y="566969"/>
                    <a:pt x="739525" y="566969"/>
                  </a:cubicBezTo>
                  <a:cubicBezTo>
                    <a:pt x="724735" y="518900"/>
                    <a:pt x="652015" y="493017"/>
                    <a:pt x="591620" y="493017"/>
                  </a:cubicBezTo>
                  <a:cubicBezTo>
                    <a:pt x="578062" y="493017"/>
                    <a:pt x="529993" y="517668"/>
                    <a:pt x="529993" y="517668"/>
                  </a:cubicBezTo>
                  <a:lnTo>
                    <a:pt x="505342" y="505342"/>
                  </a:lnTo>
                  <a:lnTo>
                    <a:pt x="505342" y="468366"/>
                  </a:lnTo>
                  <a:cubicBezTo>
                    <a:pt x="505342" y="460971"/>
                    <a:pt x="500412" y="456040"/>
                    <a:pt x="493017" y="456040"/>
                  </a:cubicBezTo>
                  <a:lnTo>
                    <a:pt x="468366" y="456040"/>
                  </a:lnTo>
                  <a:lnTo>
                    <a:pt x="468366" y="419064"/>
                  </a:lnTo>
                  <a:cubicBezTo>
                    <a:pt x="468366" y="411669"/>
                    <a:pt x="463436" y="406739"/>
                    <a:pt x="456040" y="406739"/>
                  </a:cubicBezTo>
                  <a:lnTo>
                    <a:pt x="443715" y="406739"/>
                  </a:lnTo>
                  <a:lnTo>
                    <a:pt x="430157" y="415367"/>
                  </a:lnTo>
                  <a:cubicBezTo>
                    <a:pt x="417832" y="423994"/>
                    <a:pt x="400576" y="419064"/>
                    <a:pt x="394413" y="405506"/>
                  </a:cubicBezTo>
                  <a:cubicBezTo>
                    <a:pt x="394413" y="405506"/>
                    <a:pt x="382088" y="388251"/>
                    <a:pt x="382088" y="380855"/>
                  </a:cubicBezTo>
                  <a:cubicBezTo>
                    <a:pt x="382088" y="327856"/>
                    <a:pt x="443715" y="331554"/>
                    <a:pt x="443715" y="331554"/>
                  </a:cubicBezTo>
                  <a:lnTo>
                    <a:pt x="470831" y="331554"/>
                  </a:lnTo>
                  <a:cubicBezTo>
                    <a:pt x="476994" y="331554"/>
                    <a:pt x="481924" y="335251"/>
                    <a:pt x="483156" y="341414"/>
                  </a:cubicBezTo>
                  <a:lnTo>
                    <a:pt x="490552" y="372228"/>
                  </a:lnTo>
                  <a:cubicBezTo>
                    <a:pt x="491784" y="377158"/>
                    <a:pt x="496714" y="382088"/>
                    <a:pt x="502877" y="382088"/>
                  </a:cubicBezTo>
                  <a:lnTo>
                    <a:pt x="507807" y="382088"/>
                  </a:lnTo>
                  <a:cubicBezTo>
                    <a:pt x="513970" y="382088"/>
                    <a:pt x="518900" y="378390"/>
                    <a:pt x="520133" y="372228"/>
                  </a:cubicBezTo>
                  <a:lnTo>
                    <a:pt x="528760" y="326624"/>
                  </a:lnTo>
                  <a:cubicBezTo>
                    <a:pt x="529993" y="322926"/>
                    <a:pt x="531225" y="319228"/>
                    <a:pt x="533691" y="315531"/>
                  </a:cubicBezTo>
                  <a:lnTo>
                    <a:pt x="568202" y="272392"/>
                  </a:lnTo>
                  <a:cubicBezTo>
                    <a:pt x="575597" y="263764"/>
                    <a:pt x="585457" y="258834"/>
                    <a:pt x="596550" y="258834"/>
                  </a:cubicBezTo>
                  <a:lnTo>
                    <a:pt x="628596" y="258834"/>
                  </a:lnTo>
                  <a:cubicBezTo>
                    <a:pt x="635992" y="258834"/>
                    <a:pt x="640922" y="253904"/>
                    <a:pt x="640922" y="246508"/>
                  </a:cubicBezTo>
                  <a:lnTo>
                    <a:pt x="640922" y="234183"/>
                  </a:lnTo>
                  <a:lnTo>
                    <a:pt x="637224" y="230485"/>
                  </a:lnTo>
                  <a:cubicBezTo>
                    <a:pt x="629829" y="223090"/>
                    <a:pt x="634759" y="209532"/>
                    <a:pt x="645852" y="209532"/>
                  </a:cubicBezTo>
                  <a:lnTo>
                    <a:pt x="653247" y="209532"/>
                  </a:lnTo>
                  <a:cubicBezTo>
                    <a:pt x="660642" y="209532"/>
                    <a:pt x="665573" y="214462"/>
                    <a:pt x="665573" y="221858"/>
                  </a:cubicBezTo>
                  <a:cubicBezTo>
                    <a:pt x="665573" y="229253"/>
                    <a:pt x="670503" y="234183"/>
                    <a:pt x="677898" y="234183"/>
                  </a:cubicBezTo>
                  <a:lnTo>
                    <a:pt x="690223" y="234183"/>
                  </a:lnTo>
                  <a:lnTo>
                    <a:pt x="697619" y="202137"/>
                  </a:lnTo>
                  <a:cubicBezTo>
                    <a:pt x="700084" y="191044"/>
                    <a:pt x="695154" y="181184"/>
                    <a:pt x="686526" y="175021"/>
                  </a:cubicBezTo>
                  <a:lnTo>
                    <a:pt x="581760" y="112161"/>
                  </a:lnTo>
                  <a:cubicBezTo>
                    <a:pt x="580527" y="110929"/>
                    <a:pt x="578062" y="110929"/>
                    <a:pt x="575597" y="110929"/>
                  </a:cubicBezTo>
                  <a:lnTo>
                    <a:pt x="554644" y="110929"/>
                  </a:lnTo>
                  <a:cubicBezTo>
                    <a:pt x="541086" y="110929"/>
                    <a:pt x="529993" y="122022"/>
                    <a:pt x="529993" y="135580"/>
                  </a:cubicBezTo>
                  <a:lnTo>
                    <a:pt x="529993" y="147905"/>
                  </a:lnTo>
                  <a:cubicBezTo>
                    <a:pt x="529993" y="155300"/>
                    <a:pt x="525063" y="160230"/>
                    <a:pt x="517668" y="160230"/>
                  </a:cubicBezTo>
                  <a:lnTo>
                    <a:pt x="505342" y="160230"/>
                  </a:lnTo>
                  <a:lnTo>
                    <a:pt x="493017" y="147905"/>
                  </a:lnTo>
                  <a:lnTo>
                    <a:pt x="456040" y="147905"/>
                  </a:lnTo>
                  <a:cubicBezTo>
                    <a:pt x="448645" y="147905"/>
                    <a:pt x="443715" y="142975"/>
                    <a:pt x="443715" y="135580"/>
                  </a:cubicBezTo>
                  <a:lnTo>
                    <a:pt x="443715" y="104766"/>
                  </a:lnTo>
                  <a:cubicBezTo>
                    <a:pt x="443715" y="101068"/>
                    <a:pt x="444948" y="97371"/>
                    <a:pt x="448645" y="94906"/>
                  </a:cubicBezTo>
                  <a:lnTo>
                    <a:pt x="527528" y="61627"/>
                  </a:lnTo>
                  <a:lnTo>
                    <a:pt x="539853" y="82580"/>
                  </a:lnTo>
                  <a:cubicBezTo>
                    <a:pt x="542318" y="85045"/>
                    <a:pt x="544783" y="86278"/>
                    <a:pt x="548481" y="86278"/>
                  </a:cubicBezTo>
                  <a:lnTo>
                    <a:pt x="579295" y="86278"/>
                  </a:lnTo>
                  <a:cubicBezTo>
                    <a:pt x="586690" y="86278"/>
                    <a:pt x="591620" y="81348"/>
                    <a:pt x="591620" y="73953"/>
                  </a:cubicBezTo>
                  <a:lnTo>
                    <a:pt x="591620" y="67790"/>
                  </a:lnTo>
                  <a:cubicBezTo>
                    <a:pt x="762943" y="120789"/>
                    <a:pt x="887430" y="279787"/>
                    <a:pt x="887430" y="468366"/>
                  </a:cubicBezTo>
                  <a:cubicBezTo>
                    <a:pt x="887430" y="643387"/>
                    <a:pt x="778966" y="793757"/>
                    <a:pt x="626131" y="856616"/>
                  </a:cubicBezTo>
                  <a:close/>
                </a:path>
              </a:pathLst>
            </a:custGeom>
            <a:grpFill/>
            <a:ln w="12303" cap="flat">
              <a:solidFill>
                <a:srgbClr val="002060"/>
              </a:solidFill>
              <a:prstDash val="solid"/>
              <a:miter/>
            </a:ln>
          </p:spPr>
        </p:sp>
        <p:sp>
          <p:nvSpPr>
            <p:cNvPr id="62" name="Freeform: Shape 61">
              <a:extLst>
                <a:ext uri="{FF2B5EF4-FFF2-40B4-BE49-F238E27FC236}">
                  <a16:creationId xmlns:a16="http://schemas.microsoft.com/office/drawing/2014/main" id="{ACD1CD5F-7346-E8DE-7668-DACA43735D5B}"/>
                </a:ext>
              </a:extLst>
            </p:cNvPr>
            <p:cNvSpPr/>
            <p:nvPr/>
          </p:nvSpPr>
          <p:spPr>
            <a:xfrm>
              <a:off x="9284747" y="3218506"/>
              <a:ext cx="126505" cy="42239"/>
            </a:xfrm>
            <a:custGeom>
              <a:avLst/>
              <a:gdLst>
                <a:gd name="csX0" fmla="*/ 117878 w 126505"/>
                <a:gd name="csY0" fmla="*/ 20645 h 42239"/>
                <a:gd name="csX1" fmla="*/ 58716 w 126505"/>
                <a:gd name="csY1" fmla="*/ 924 h 42239"/>
                <a:gd name="csX2" fmla="*/ 45158 w 126505"/>
                <a:gd name="csY2" fmla="*/ 924 h 42239"/>
                <a:gd name="csX3" fmla="*/ 3252 w 126505"/>
                <a:gd name="csY3" fmla="*/ 10785 h 42239"/>
                <a:gd name="csX4" fmla="*/ 3252 w 126505"/>
                <a:gd name="csY4" fmla="*/ 23110 h 42239"/>
                <a:gd name="csX5" fmla="*/ 59949 w 126505"/>
                <a:gd name="csY5" fmla="*/ 23110 h 42239"/>
                <a:gd name="csX6" fmla="*/ 68576 w 126505"/>
                <a:gd name="csY6" fmla="*/ 24343 h 42239"/>
                <a:gd name="csX7" fmla="*/ 111715 w 126505"/>
                <a:gd name="csY7" fmla="*/ 41598 h 42239"/>
                <a:gd name="csX8" fmla="*/ 126506 w 126505"/>
                <a:gd name="csY8" fmla="*/ 31738 h 42239"/>
                <a:gd name="csX9" fmla="*/ 117878 w 126505"/>
                <a:gd name="csY9" fmla="*/ 20645 h 4223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26505" h="42239">
                  <a:moveTo>
                    <a:pt x="117878" y="20645"/>
                  </a:moveTo>
                  <a:lnTo>
                    <a:pt x="58716" y="924"/>
                  </a:lnTo>
                  <a:cubicBezTo>
                    <a:pt x="53786" y="-308"/>
                    <a:pt x="50088" y="-308"/>
                    <a:pt x="45158" y="924"/>
                  </a:cubicBezTo>
                  <a:lnTo>
                    <a:pt x="3252" y="10785"/>
                  </a:lnTo>
                  <a:cubicBezTo>
                    <a:pt x="-446" y="13250"/>
                    <a:pt x="-1678" y="18180"/>
                    <a:pt x="3252" y="23110"/>
                  </a:cubicBezTo>
                  <a:lnTo>
                    <a:pt x="59949" y="23110"/>
                  </a:lnTo>
                  <a:cubicBezTo>
                    <a:pt x="63646" y="23110"/>
                    <a:pt x="66111" y="23110"/>
                    <a:pt x="68576" y="24343"/>
                  </a:cubicBezTo>
                  <a:lnTo>
                    <a:pt x="111715" y="41598"/>
                  </a:lnTo>
                  <a:cubicBezTo>
                    <a:pt x="119111" y="44063"/>
                    <a:pt x="126506" y="39133"/>
                    <a:pt x="126506" y="31738"/>
                  </a:cubicBezTo>
                  <a:cubicBezTo>
                    <a:pt x="126506" y="26808"/>
                    <a:pt x="122808" y="21878"/>
                    <a:pt x="117878" y="20645"/>
                  </a:cubicBezTo>
                  <a:close/>
                </a:path>
              </a:pathLst>
            </a:custGeom>
            <a:grpFill/>
            <a:ln w="12303" cap="flat">
              <a:solidFill>
                <a:srgbClr val="002060"/>
              </a:solidFill>
              <a:prstDash val="solid"/>
              <a:miter/>
            </a:ln>
          </p:spPr>
        </p:sp>
      </p:grpSp>
      <p:sp>
        <p:nvSpPr>
          <p:cNvPr id="63" name="TextBox 62">
            <a:extLst>
              <a:ext uri="{FF2B5EF4-FFF2-40B4-BE49-F238E27FC236}">
                <a16:creationId xmlns:a16="http://schemas.microsoft.com/office/drawing/2014/main" id="{1ACB5DE5-2DFB-9EBF-76EF-7094C52CC31C}"/>
              </a:ext>
            </a:extLst>
          </p:cNvPr>
          <p:cNvSpPr txBox="1"/>
          <p:nvPr/>
        </p:nvSpPr>
        <p:spPr>
          <a:xfrm>
            <a:off x="1486855" y="3627318"/>
            <a:ext cx="843693" cy="369332"/>
          </a:xfrm>
          <a:prstGeom prst="rect">
            <a:avLst/>
          </a:prstGeom>
          <a:noFill/>
        </p:spPr>
        <p:txBody>
          <a:bodyPr wrap="none" rtlCol="0">
            <a:spAutoFit/>
          </a:bodyPr>
          <a:lstStyle/>
          <a:p>
            <a:r>
              <a:rPr lang="en-US" b="1" dirty="0"/>
              <a:t>Agent</a:t>
            </a:r>
            <a:endParaRPr lang="en-IN" b="1" dirty="0"/>
          </a:p>
        </p:txBody>
      </p:sp>
      <p:sp>
        <p:nvSpPr>
          <p:cNvPr id="64" name="TextBox 63">
            <a:extLst>
              <a:ext uri="{FF2B5EF4-FFF2-40B4-BE49-F238E27FC236}">
                <a16:creationId xmlns:a16="http://schemas.microsoft.com/office/drawing/2014/main" id="{57AA6A2F-77EB-B08B-D86C-66611C1F1F86}"/>
              </a:ext>
            </a:extLst>
          </p:cNvPr>
          <p:cNvSpPr txBox="1"/>
          <p:nvPr/>
        </p:nvSpPr>
        <p:spPr>
          <a:xfrm>
            <a:off x="3200730" y="3627318"/>
            <a:ext cx="1662378" cy="369332"/>
          </a:xfrm>
          <a:prstGeom prst="rect">
            <a:avLst/>
          </a:prstGeom>
          <a:noFill/>
        </p:spPr>
        <p:txBody>
          <a:bodyPr wrap="none" rtlCol="0">
            <a:spAutoFit/>
          </a:bodyPr>
          <a:lstStyle/>
          <a:p>
            <a:r>
              <a:rPr lang="en-US" b="1" dirty="0"/>
              <a:t>Environment</a:t>
            </a:r>
            <a:endParaRPr lang="en-IN" b="1" dirty="0"/>
          </a:p>
        </p:txBody>
      </p:sp>
      <p:sp>
        <p:nvSpPr>
          <p:cNvPr id="65" name="Arrow: U-Turn 64">
            <a:extLst>
              <a:ext uri="{FF2B5EF4-FFF2-40B4-BE49-F238E27FC236}">
                <a16:creationId xmlns:a16="http://schemas.microsoft.com/office/drawing/2014/main" id="{A3ED0679-2BCA-BBF7-ADC7-E226CF836FCD}"/>
              </a:ext>
            </a:extLst>
          </p:cNvPr>
          <p:cNvSpPr/>
          <p:nvPr/>
        </p:nvSpPr>
        <p:spPr>
          <a:xfrm>
            <a:off x="1847498" y="1948884"/>
            <a:ext cx="2146221" cy="608722"/>
          </a:xfrm>
          <a:prstGeom prst="uturnArrow">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67" name="TextBox 66">
            <a:extLst>
              <a:ext uri="{FF2B5EF4-FFF2-40B4-BE49-F238E27FC236}">
                <a16:creationId xmlns:a16="http://schemas.microsoft.com/office/drawing/2014/main" id="{51D70DB8-B793-0276-9AB9-DB2B54597DDD}"/>
              </a:ext>
            </a:extLst>
          </p:cNvPr>
          <p:cNvSpPr txBox="1"/>
          <p:nvPr/>
        </p:nvSpPr>
        <p:spPr>
          <a:xfrm>
            <a:off x="2429906" y="1549060"/>
            <a:ext cx="915635" cy="369332"/>
          </a:xfrm>
          <a:prstGeom prst="rect">
            <a:avLst/>
          </a:prstGeom>
          <a:noFill/>
        </p:spPr>
        <p:txBody>
          <a:bodyPr wrap="none" rtlCol="0">
            <a:spAutoFit/>
          </a:bodyPr>
          <a:lstStyle/>
          <a:p>
            <a:r>
              <a:rPr lang="en-US" b="1" dirty="0">
                <a:solidFill>
                  <a:srgbClr val="C00000"/>
                </a:solidFill>
              </a:rPr>
              <a:t>Action</a:t>
            </a:r>
            <a:endParaRPr lang="en-IN" b="1" dirty="0">
              <a:solidFill>
                <a:srgbClr val="C00000"/>
              </a:solidFill>
            </a:endParaRPr>
          </a:p>
        </p:txBody>
      </p:sp>
      <p:sp>
        <p:nvSpPr>
          <p:cNvPr id="69" name="Freeform: Shape 68">
            <a:extLst>
              <a:ext uri="{FF2B5EF4-FFF2-40B4-BE49-F238E27FC236}">
                <a16:creationId xmlns:a16="http://schemas.microsoft.com/office/drawing/2014/main" id="{9DF10211-3C98-1345-F54B-2DF2E02A22CF}"/>
              </a:ext>
            </a:extLst>
          </p:cNvPr>
          <p:cNvSpPr/>
          <p:nvPr/>
        </p:nvSpPr>
        <p:spPr>
          <a:xfrm>
            <a:off x="1640657" y="4238879"/>
            <a:ext cx="1316434" cy="778430"/>
          </a:xfrm>
          <a:custGeom>
            <a:avLst/>
            <a:gdLst>
              <a:gd name="connsiteX0" fmla="*/ 0 w 1894334"/>
              <a:gd name="connsiteY0" fmla="*/ 832580 h 832580"/>
              <a:gd name="connsiteX1" fmla="*/ 459475 w 1894334"/>
              <a:gd name="connsiteY1" fmla="*/ 705201 h 832580"/>
              <a:gd name="connsiteX2" fmla="*/ 718782 w 1894334"/>
              <a:gd name="connsiteY2" fmla="*/ 209332 h 832580"/>
              <a:gd name="connsiteX3" fmla="*/ 932597 w 1894334"/>
              <a:gd name="connsiteY3" fmla="*/ 67 h 832580"/>
              <a:gd name="connsiteX4" fmla="*/ 1150961 w 1894334"/>
              <a:gd name="connsiteY4" fmla="*/ 191135 h 832580"/>
              <a:gd name="connsiteX5" fmla="*/ 1360227 w 1894334"/>
              <a:gd name="connsiteY5" fmla="*/ 564174 h 832580"/>
              <a:gd name="connsiteX6" fmla="*/ 1514902 w 1894334"/>
              <a:gd name="connsiteY6" fmla="*/ 732497 h 832580"/>
              <a:gd name="connsiteX7" fmla="*/ 1851546 w 1894334"/>
              <a:gd name="connsiteY7" fmla="*/ 787088 h 832580"/>
              <a:gd name="connsiteX8" fmla="*/ 1878842 w 1894334"/>
              <a:gd name="connsiteY8" fmla="*/ 773440 h 832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4334" h="832580">
                <a:moveTo>
                  <a:pt x="0" y="832580"/>
                </a:moveTo>
                <a:cubicBezTo>
                  <a:pt x="169839" y="820828"/>
                  <a:pt x="339678" y="809076"/>
                  <a:pt x="459475" y="705201"/>
                </a:cubicBezTo>
                <a:cubicBezTo>
                  <a:pt x="579272" y="601326"/>
                  <a:pt x="639928" y="326854"/>
                  <a:pt x="718782" y="209332"/>
                </a:cubicBezTo>
                <a:cubicBezTo>
                  <a:pt x="797636" y="91810"/>
                  <a:pt x="860567" y="3100"/>
                  <a:pt x="932597" y="67"/>
                </a:cubicBezTo>
                <a:cubicBezTo>
                  <a:pt x="1004627" y="-2966"/>
                  <a:pt x="1079689" y="97117"/>
                  <a:pt x="1150961" y="191135"/>
                </a:cubicBezTo>
                <a:cubicBezTo>
                  <a:pt x="1222233" y="285153"/>
                  <a:pt x="1299570" y="473947"/>
                  <a:pt x="1360227" y="564174"/>
                </a:cubicBezTo>
                <a:cubicBezTo>
                  <a:pt x="1420884" y="654401"/>
                  <a:pt x="1433016" y="695345"/>
                  <a:pt x="1514902" y="732497"/>
                </a:cubicBezTo>
                <a:cubicBezTo>
                  <a:pt x="1596788" y="769649"/>
                  <a:pt x="1790890" y="780264"/>
                  <a:pt x="1851546" y="787088"/>
                </a:cubicBezTo>
                <a:cubicBezTo>
                  <a:pt x="1912202" y="793912"/>
                  <a:pt x="1895522" y="783676"/>
                  <a:pt x="1878842" y="773440"/>
                </a:cubicBezTo>
              </a:path>
            </a:pathLst>
          </a:custGeom>
          <a:noFill/>
          <a:ln w="222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0" name="Picture 69" descr="Shape&#10;&#10;Description automatically generated with low confidence">
            <a:extLst>
              <a:ext uri="{FF2B5EF4-FFF2-40B4-BE49-F238E27FC236}">
                <a16:creationId xmlns:a16="http://schemas.microsoft.com/office/drawing/2014/main" id="{63921B0D-BB2C-A53C-B4A0-189B787BC67E}"/>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3049291" y="4169171"/>
            <a:ext cx="917846" cy="917846"/>
          </a:xfrm>
          <a:prstGeom prst="rect">
            <a:avLst/>
          </a:prstGeom>
          <a:solidFill>
            <a:schemeClr val="bg1"/>
          </a:solidFill>
          <a:ln>
            <a:noFill/>
          </a:ln>
        </p:spPr>
      </p:pic>
      <p:sp>
        <p:nvSpPr>
          <p:cNvPr id="71" name="Arrow: Left 70">
            <a:extLst>
              <a:ext uri="{FF2B5EF4-FFF2-40B4-BE49-F238E27FC236}">
                <a16:creationId xmlns:a16="http://schemas.microsoft.com/office/drawing/2014/main" id="{C4D29859-5AE3-210A-463F-537023A00FEC}"/>
              </a:ext>
            </a:extLst>
          </p:cNvPr>
          <p:cNvSpPr/>
          <p:nvPr/>
        </p:nvSpPr>
        <p:spPr>
          <a:xfrm rot="5400000">
            <a:off x="842764" y="4430964"/>
            <a:ext cx="657547" cy="376354"/>
          </a:xfrm>
          <a:prstGeom prst="leftArrow">
            <a:avLst/>
          </a:prstGeom>
          <a:solidFill>
            <a:srgbClr val="002060">
              <a:alpha val="85000"/>
            </a:srgbClr>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mc:Choice xmlns:a14="http://schemas.microsoft.com/office/drawing/2010/main" Requires="a14">
          <p:sp>
            <p:nvSpPr>
              <p:cNvPr id="72" name="TextBox 71">
                <a:extLst>
                  <a:ext uri="{FF2B5EF4-FFF2-40B4-BE49-F238E27FC236}">
                    <a16:creationId xmlns:a16="http://schemas.microsoft.com/office/drawing/2014/main" id="{B74FD807-E76C-7688-31C5-4C09A9971B72}"/>
                  </a:ext>
                </a:extLst>
              </p:cNvPr>
              <p:cNvSpPr txBox="1"/>
              <p:nvPr/>
            </p:nvSpPr>
            <p:spPr>
              <a:xfrm>
                <a:off x="1375140" y="4428338"/>
                <a:ext cx="61307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en-IN" dirty="0"/>
              </a:p>
            </p:txBody>
          </p:sp>
        </mc:Choice>
        <mc:Fallback>
          <p:sp>
            <p:nvSpPr>
              <p:cNvPr id="72" name="TextBox 71">
                <a:extLst>
                  <a:ext uri="{FF2B5EF4-FFF2-40B4-BE49-F238E27FC236}">
                    <a16:creationId xmlns:a16="http://schemas.microsoft.com/office/drawing/2014/main" id="{B74FD807-E76C-7688-31C5-4C09A9971B72}"/>
                  </a:ext>
                </a:extLst>
              </p:cNvPr>
              <p:cNvSpPr txBox="1">
                <a:spLocks noRot="1" noChangeAspect="1" noMove="1" noResize="1" noEditPoints="1" noAdjustHandles="1" noChangeArrowheads="1" noChangeShapeType="1" noTextEdit="1"/>
              </p:cNvSpPr>
              <p:nvPr/>
            </p:nvSpPr>
            <p:spPr>
              <a:xfrm>
                <a:off x="1375140" y="4428338"/>
                <a:ext cx="613073" cy="369332"/>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mc:Choice xmlns:a14="http://schemas.microsoft.com/office/drawing/2010/main" Requires="a14">
          <p:sp>
            <p:nvSpPr>
              <p:cNvPr id="73" name="TextBox 72">
                <a:extLst>
                  <a:ext uri="{FF2B5EF4-FFF2-40B4-BE49-F238E27FC236}">
                    <a16:creationId xmlns:a16="http://schemas.microsoft.com/office/drawing/2014/main" id="{1DB6B9DC-5193-9A95-4327-B8E4800724A1}"/>
                  </a:ext>
                </a:extLst>
              </p:cNvPr>
              <p:cNvSpPr txBox="1"/>
              <p:nvPr/>
            </p:nvSpPr>
            <p:spPr>
              <a:xfrm>
                <a:off x="2604679" y="4420028"/>
                <a:ext cx="61307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en-IN" dirty="0"/>
              </a:p>
            </p:txBody>
          </p:sp>
        </mc:Choice>
        <mc:Fallback>
          <p:sp>
            <p:nvSpPr>
              <p:cNvPr id="73" name="TextBox 72">
                <a:extLst>
                  <a:ext uri="{FF2B5EF4-FFF2-40B4-BE49-F238E27FC236}">
                    <a16:creationId xmlns:a16="http://schemas.microsoft.com/office/drawing/2014/main" id="{1DB6B9DC-5193-9A95-4327-B8E4800724A1}"/>
                  </a:ext>
                </a:extLst>
              </p:cNvPr>
              <p:cNvSpPr txBox="1">
                <a:spLocks noRot="1" noChangeAspect="1" noMove="1" noResize="1" noEditPoints="1" noAdjustHandles="1" noChangeArrowheads="1" noChangeShapeType="1" noTextEdit="1"/>
              </p:cNvSpPr>
              <p:nvPr/>
            </p:nvSpPr>
            <p:spPr>
              <a:xfrm>
                <a:off x="2604679" y="4420028"/>
                <a:ext cx="613073" cy="369332"/>
              </a:xfrm>
              <a:prstGeom prst="rect">
                <a:avLst/>
              </a:prstGeom>
              <a:blipFill>
                <a:blip r:embed="rId14"/>
                <a:stretch>
                  <a:fillRect/>
                </a:stretch>
              </a:blipFill>
            </p:spPr>
            <p:txBody>
              <a:bodyPr/>
              <a:lstStyle/>
              <a:p>
                <a:r>
                  <a:rPr lang="en-IN">
                    <a:noFill/>
                  </a:rPr>
                  <a:t> </a:t>
                </a:r>
              </a:p>
            </p:txBody>
          </p:sp>
        </mc:Fallback>
      </mc:AlternateContent>
      <p:sp>
        <p:nvSpPr>
          <p:cNvPr id="74" name="TextBox 73">
            <a:extLst>
              <a:ext uri="{FF2B5EF4-FFF2-40B4-BE49-F238E27FC236}">
                <a16:creationId xmlns:a16="http://schemas.microsoft.com/office/drawing/2014/main" id="{5FD1A886-B8CE-7174-4230-522662B23BED}"/>
              </a:ext>
            </a:extLst>
          </p:cNvPr>
          <p:cNvSpPr txBox="1"/>
          <p:nvPr/>
        </p:nvSpPr>
        <p:spPr>
          <a:xfrm>
            <a:off x="4063753" y="4441849"/>
            <a:ext cx="396262" cy="369332"/>
          </a:xfrm>
          <a:prstGeom prst="rect">
            <a:avLst/>
          </a:prstGeom>
          <a:noFill/>
        </p:spPr>
        <p:txBody>
          <a:bodyPr wrap="none" rtlCol="0">
            <a:spAutoFit/>
          </a:bodyPr>
          <a:lstStyle/>
          <a:p>
            <a:r>
              <a:rPr lang="en-US" dirty="0"/>
              <a:t>= </a:t>
            </a:r>
            <a:endParaRPr lang="en-IN" dirty="0"/>
          </a:p>
        </p:txBody>
      </p:sp>
      <p:sp>
        <p:nvSpPr>
          <p:cNvPr id="75" name="Arrow: Left 74">
            <a:extLst>
              <a:ext uri="{FF2B5EF4-FFF2-40B4-BE49-F238E27FC236}">
                <a16:creationId xmlns:a16="http://schemas.microsoft.com/office/drawing/2014/main" id="{A10332B9-7D48-25B5-99FF-98F1E2808D46}"/>
              </a:ext>
            </a:extLst>
          </p:cNvPr>
          <p:cNvSpPr/>
          <p:nvPr/>
        </p:nvSpPr>
        <p:spPr>
          <a:xfrm rot="5400000">
            <a:off x="4433530" y="4445006"/>
            <a:ext cx="657547" cy="376354"/>
          </a:xfrm>
          <a:prstGeom prst="leftArrow">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IN"/>
          </a:p>
        </p:txBody>
      </p:sp>
      <p:sp>
        <p:nvSpPr>
          <p:cNvPr id="76" name="TextBox 75">
            <a:extLst>
              <a:ext uri="{FF2B5EF4-FFF2-40B4-BE49-F238E27FC236}">
                <a16:creationId xmlns:a16="http://schemas.microsoft.com/office/drawing/2014/main" id="{1E999D08-14F9-4471-7307-0570A11551C2}"/>
              </a:ext>
            </a:extLst>
          </p:cNvPr>
          <p:cNvSpPr txBox="1"/>
          <p:nvPr/>
        </p:nvSpPr>
        <p:spPr>
          <a:xfrm>
            <a:off x="1930795" y="5022102"/>
            <a:ext cx="832279" cy="369332"/>
          </a:xfrm>
          <a:prstGeom prst="rect">
            <a:avLst/>
          </a:prstGeom>
          <a:noFill/>
        </p:spPr>
        <p:txBody>
          <a:bodyPr wrap="none" rtlCol="0">
            <a:spAutoFit/>
          </a:bodyPr>
          <a:lstStyle/>
          <a:p>
            <a:r>
              <a:rPr lang="en-US" b="1" dirty="0"/>
              <a:t>Noise</a:t>
            </a:r>
            <a:endParaRPr lang="en-IN" b="1" dirty="0"/>
          </a:p>
        </p:txBody>
      </p:sp>
      <p:sp>
        <p:nvSpPr>
          <p:cNvPr id="77" name="TextBox 76">
            <a:extLst>
              <a:ext uri="{FF2B5EF4-FFF2-40B4-BE49-F238E27FC236}">
                <a16:creationId xmlns:a16="http://schemas.microsoft.com/office/drawing/2014/main" id="{07B83E17-AE0C-890B-4BE4-D7933E0EDE82}"/>
              </a:ext>
            </a:extLst>
          </p:cNvPr>
          <p:cNvSpPr txBox="1"/>
          <p:nvPr/>
        </p:nvSpPr>
        <p:spPr>
          <a:xfrm>
            <a:off x="2878577" y="5016326"/>
            <a:ext cx="1359475" cy="369332"/>
          </a:xfrm>
          <a:prstGeom prst="rect">
            <a:avLst/>
          </a:prstGeom>
          <a:noFill/>
        </p:spPr>
        <p:txBody>
          <a:bodyPr wrap="none" rtlCol="0">
            <a:spAutoFit/>
          </a:bodyPr>
          <a:lstStyle/>
          <a:p>
            <a:r>
              <a:rPr lang="en-US" b="1" dirty="0"/>
              <a:t>Adversary</a:t>
            </a:r>
            <a:endParaRPr lang="en-IN" b="1" dirty="0"/>
          </a:p>
        </p:txBody>
      </p:sp>
      <p:sp>
        <p:nvSpPr>
          <p:cNvPr id="78" name="Arrow: Left 77">
            <a:extLst>
              <a:ext uri="{FF2B5EF4-FFF2-40B4-BE49-F238E27FC236}">
                <a16:creationId xmlns:a16="http://schemas.microsoft.com/office/drawing/2014/main" id="{C81C4E53-B487-4E9C-40CD-A16529CD76E0}"/>
              </a:ext>
            </a:extLst>
          </p:cNvPr>
          <p:cNvSpPr/>
          <p:nvPr/>
        </p:nvSpPr>
        <p:spPr>
          <a:xfrm>
            <a:off x="2498825" y="2928264"/>
            <a:ext cx="657547" cy="425850"/>
          </a:xfrm>
          <a:prstGeom prst="leftArrow">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IN"/>
          </a:p>
        </p:txBody>
      </p:sp>
      <p:sp>
        <p:nvSpPr>
          <p:cNvPr id="79" name="TextBox 78">
            <a:extLst>
              <a:ext uri="{FF2B5EF4-FFF2-40B4-BE49-F238E27FC236}">
                <a16:creationId xmlns:a16="http://schemas.microsoft.com/office/drawing/2014/main" id="{4F158476-F03D-121B-E334-61A158CE4631}"/>
              </a:ext>
            </a:extLst>
          </p:cNvPr>
          <p:cNvSpPr txBox="1"/>
          <p:nvPr/>
        </p:nvSpPr>
        <p:spPr>
          <a:xfrm>
            <a:off x="6366429" y="6057494"/>
            <a:ext cx="5319918" cy="584775"/>
          </a:xfrm>
          <a:prstGeom prst="rect">
            <a:avLst/>
          </a:prstGeom>
          <a:noFill/>
        </p:spPr>
        <p:txBody>
          <a:bodyPr wrap="none" rtlCol="0">
            <a:spAutoFit/>
          </a:bodyPr>
          <a:lstStyle/>
          <a:p>
            <a:r>
              <a:rPr lang="en-US" sz="1400" dirty="0">
                <a:latin typeface="Cambria Math" panose="02040503050406030204" pitchFamily="18" charset="0"/>
                <a:ea typeface="Cambria Math" panose="02040503050406030204" pitchFamily="18" charset="0"/>
              </a:rPr>
              <a:t>[1] </a:t>
            </a:r>
            <a:r>
              <a:rPr lang="en-US" sz="1400" dirty="0">
                <a:solidFill>
                  <a:srgbClr val="002060"/>
                </a:solidFill>
                <a:latin typeface="Cambria Math" panose="02040503050406030204" pitchFamily="18" charset="0"/>
                <a:ea typeface="Cambria Math" panose="02040503050406030204" pitchFamily="18" charset="0"/>
              </a:rPr>
              <a:t>C. J. Watkins and P. Dayan</a:t>
            </a:r>
            <a:r>
              <a:rPr lang="en-US" sz="1400" dirty="0">
                <a:latin typeface="Cambria Math" panose="02040503050406030204" pitchFamily="18" charset="0"/>
                <a:ea typeface="Cambria Math" panose="02040503050406030204" pitchFamily="18" charset="0"/>
              </a:rPr>
              <a:t>, “Q-learning,” Machine learning, 1992.</a:t>
            </a:r>
          </a:p>
          <a:p>
            <a:endParaRPr lang="en-IN" dirty="0"/>
          </a:p>
        </p:txBody>
      </p:sp>
    </p:spTree>
    <p:extLst>
      <p:ext uri="{BB962C8B-B14F-4D97-AF65-F5344CB8AC3E}">
        <p14:creationId xmlns:p14="http://schemas.microsoft.com/office/powerpoint/2010/main" val="823632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6">
                                            <p:txEl>
                                              <p:pRg st="0" end="0"/>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7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3DE1781-D1ED-8534-FA9D-0038B3D1D80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09B7E7B-D17E-C072-B272-AE02A6E0100B}"/>
              </a:ext>
            </a:extLst>
          </p:cNvPr>
          <p:cNvSpPr>
            <a:spLocks noGrp="1"/>
          </p:cNvSpPr>
          <p:nvPr>
            <p:ph type="sldNum" sz="quarter" idx="12"/>
          </p:nvPr>
        </p:nvSpPr>
        <p:spPr>
          <a:xfrm>
            <a:off x="11116127" y="6487841"/>
            <a:ext cx="914400" cy="320040"/>
          </a:xfrm>
        </p:spPr>
        <p:txBody>
          <a:bodyPr/>
          <a:lstStyle/>
          <a:p>
            <a:fld id="{6D22F896-40B5-4ADD-8801-0D06FADFA095}" type="slidenum">
              <a:rPr lang="en-US" smtClean="0"/>
              <a:t>5</a:t>
            </a:fld>
            <a:endParaRPr lang="en-US" dirty="0"/>
          </a:p>
        </p:txBody>
      </p:sp>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AED6DFE8-174E-70AA-73A5-FC95F15FF74B}"/>
                  </a:ext>
                </a:extLst>
              </p:cNvPr>
              <p:cNvSpPr txBox="1">
                <a:spLocks/>
              </p:cNvSpPr>
              <p:nvPr/>
            </p:nvSpPr>
            <p:spPr>
              <a:xfrm>
                <a:off x="838200" y="365125"/>
                <a:ext cx="10515600" cy="850217"/>
              </a:xfrm>
              <a:prstGeom prst="rect">
                <a:avLst/>
              </a:prstGeom>
            </p:spPr>
            <p:txBody>
              <a:bodyPr/>
              <a:lstStyle>
                <a:lvl1pPr algn="ctr" defTabSz="914400" rtl="0" eaLnBrk="1" latinLnBrk="0" hangingPunct="1">
                  <a:lnSpc>
                    <a:spcPct val="85000"/>
                  </a:lnSpc>
                  <a:spcBef>
                    <a:spcPct val="0"/>
                  </a:spcBef>
                  <a:buNone/>
                  <a:defRPr sz="4000" b="0" i="0" kern="1200" cap="none" spc="-150">
                    <a:solidFill>
                      <a:schemeClr val="tx1"/>
                    </a:solidFill>
                    <a:effectLst/>
                    <a:latin typeface="+mj-lt"/>
                    <a:ea typeface="+mj-ea"/>
                    <a:cs typeface="+mj-cs"/>
                  </a:defRPr>
                </a:lvl1pPr>
              </a:lstStyle>
              <a:p>
                <a:r>
                  <a:rPr lang="en-US" dirty="0">
                    <a:solidFill>
                      <a:srgbClr val="002060"/>
                    </a:solidFill>
                    <a:latin typeface="+mn-lt"/>
                  </a:rPr>
                  <a:t>Towards Robust </a:t>
                </a:r>
                <a14:m>
                  <m:oMath xmlns:m="http://schemas.openxmlformats.org/officeDocument/2006/math">
                    <m:r>
                      <a:rPr lang="en-US" b="0" i="1" smtClean="0">
                        <a:solidFill>
                          <a:srgbClr val="002060"/>
                        </a:solidFill>
                        <a:latin typeface="Cambria Math" panose="02040503050406030204" pitchFamily="18" charset="0"/>
                      </a:rPr>
                      <m:t>𝑄</m:t>
                    </m:r>
                    <m:r>
                      <a:rPr lang="en-US" b="0" i="1" smtClean="0">
                        <a:solidFill>
                          <a:srgbClr val="002060"/>
                        </a:solidFill>
                        <a:latin typeface="Cambria Math" panose="02040503050406030204" pitchFamily="18" charset="0"/>
                      </a:rPr>
                      <m:t>− </m:t>
                    </m:r>
                  </m:oMath>
                </a14:m>
                <a:r>
                  <a:rPr lang="en-IN" dirty="0">
                    <a:solidFill>
                      <a:srgbClr val="002060"/>
                    </a:solidFill>
                    <a:latin typeface="+mn-lt"/>
                  </a:rPr>
                  <a:t>Learning</a:t>
                </a:r>
                <a:endParaRPr lang="en-IN" dirty="0">
                  <a:solidFill>
                    <a:srgbClr val="C00000"/>
                  </a:solidFill>
                  <a:latin typeface="+mn-lt"/>
                </a:endParaRPr>
              </a:p>
            </p:txBody>
          </p:sp>
        </mc:Choice>
        <mc:Fallback xmlns="">
          <p:sp>
            <p:nvSpPr>
              <p:cNvPr id="2" name="Title 1">
                <a:extLst>
                  <a:ext uri="{FF2B5EF4-FFF2-40B4-BE49-F238E27FC236}">
                    <a16:creationId xmlns:a16="http://schemas.microsoft.com/office/drawing/2014/main" id="{AED6DFE8-174E-70AA-73A5-FC95F15FF74B}"/>
                  </a:ext>
                </a:extLst>
              </p:cNvPr>
              <p:cNvSpPr txBox="1">
                <a:spLocks noRot="1" noChangeAspect="1" noMove="1" noResize="1" noEditPoints="1" noAdjustHandles="1" noChangeArrowheads="1" noChangeShapeType="1" noTextEdit="1"/>
              </p:cNvSpPr>
              <p:nvPr/>
            </p:nvSpPr>
            <p:spPr>
              <a:xfrm>
                <a:off x="838200" y="365125"/>
                <a:ext cx="10515600" cy="850217"/>
              </a:xfrm>
              <a:prstGeom prst="rect">
                <a:avLst/>
              </a:prstGeom>
              <a:blipFill>
                <a:blip r:embed="rId3"/>
                <a:stretch>
                  <a:fillRect t="-23741" b="-2878"/>
                </a:stretch>
              </a:blipFill>
            </p:spPr>
            <p:txBody>
              <a:bodyPr/>
              <a:lstStyle/>
              <a:p>
                <a:r>
                  <a:rPr lang="en-IN">
                    <a:noFill/>
                  </a:rPr>
                  <a:t> </a:t>
                </a:r>
              </a:p>
            </p:txBody>
          </p:sp>
        </mc:Fallback>
      </mc:AlternateContent>
      <p:sp>
        <p:nvSpPr>
          <p:cNvPr id="20" name="TextBox 19">
            <a:extLst>
              <a:ext uri="{FF2B5EF4-FFF2-40B4-BE49-F238E27FC236}">
                <a16:creationId xmlns:a16="http://schemas.microsoft.com/office/drawing/2014/main" id="{65E971A8-BE43-568F-C1B0-B1CEBC31144C}"/>
              </a:ext>
            </a:extLst>
          </p:cNvPr>
          <p:cNvSpPr txBox="1"/>
          <p:nvPr/>
        </p:nvSpPr>
        <p:spPr>
          <a:xfrm>
            <a:off x="449494" y="1388490"/>
            <a:ext cx="6097712" cy="3970318"/>
          </a:xfrm>
          <a:prstGeom prst="rect">
            <a:avLst/>
          </a:prstGeom>
          <a:noFill/>
        </p:spPr>
        <p:txBody>
          <a:bodyPr wrap="square">
            <a:spAutoFit/>
          </a:bodyPr>
          <a:lstStyle/>
          <a:p>
            <a:r>
              <a:rPr lang="en-US" sz="2800" b="1" dirty="0">
                <a:solidFill>
                  <a:srgbClr val="FF0000"/>
                </a:solidFill>
              </a:rPr>
              <a:t>Idea 1:</a:t>
            </a:r>
            <a:r>
              <a:rPr lang="en-US" sz="2800" dirty="0"/>
              <a:t> Use historical data to build robust estimates of reward means. What about rare events?</a:t>
            </a:r>
          </a:p>
          <a:p>
            <a:pPr lvl="1"/>
            <a:endParaRPr lang="en-US" sz="2800" dirty="0"/>
          </a:p>
          <a:p>
            <a:pPr lvl="1"/>
            <a:endParaRPr lang="en-US" sz="2800" dirty="0"/>
          </a:p>
          <a:p>
            <a:r>
              <a:rPr lang="en-US" sz="2800" b="1" dirty="0">
                <a:solidFill>
                  <a:srgbClr val="FF0000"/>
                </a:solidFill>
              </a:rPr>
              <a:t>Idea 2:</a:t>
            </a:r>
            <a:r>
              <a:rPr lang="en-US" sz="2800" dirty="0"/>
              <a:t> Reject estimates that deviate “too much” from expected bounds. How to design rejection threshold?</a:t>
            </a:r>
          </a:p>
        </p:txBody>
      </p:sp>
      <p:sp>
        <p:nvSpPr>
          <p:cNvPr id="21" name="Rectangle 20">
            <a:extLst>
              <a:ext uri="{FF2B5EF4-FFF2-40B4-BE49-F238E27FC236}">
                <a16:creationId xmlns:a16="http://schemas.microsoft.com/office/drawing/2014/main" id="{12DB9845-3DB8-145D-50D6-13A68DF8394D}"/>
              </a:ext>
            </a:extLst>
          </p:cNvPr>
          <p:cNvSpPr/>
          <p:nvPr/>
        </p:nvSpPr>
        <p:spPr>
          <a:xfrm>
            <a:off x="7119991" y="1388490"/>
            <a:ext cx="4017600" cy="4015717"/>
          </a:xfrm>
          <a:prstGeom prst="rect">
            <a:avLst/>
          </a:prstGeom>
          <a:noFill/>
          <a:ln w="38100">
            <a:solidFill>
              <a:srgbClr val="C00000">
                <a:alpha val="5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3" name="Straight Connector 22">
            <a:extLst>
              <a:ext uri="{FF2B5EF4-FFF2-40B4-BE49-F238E27FC236}">
                <a16:creationId xmlns:a16="http://schemas.microsoft.com/office/drawing/2014/main" id="{C67EE1AA-8043-146B-CA7F-DA8EDFD546C6}"/>
              </a:ext>
            </a:extLst>
          </p:cNvPr>
          <p:cNvCxnSpPr>
            <a:cxnSpLocks/>
            <a:stCxn id="21" idx="0"/>
            <a:endCxn id="21" idx="2"/>
          </p:cNvCxnSpPr>
          <p:nvPr/>
        </p:nvCxnSpPr>
        <p:spPr>
          <a:xfrm>
            <a:off x="9128791" y="1388490"/>
            <a:ext cx="0" cy="4015717"/>
          </a:xfrm>
          <a:prstGeom prst="line">
            <a:avLst/>
          </a:prstGeom>
          <a:ln w="38100">
            <a:solidFill>
              <a:schemeClr val="accent1">
                <a:shade val="90000"/>
                <a:alpha val="50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A9470549-FAAD-9318-D6C4-059FB33CCCDC}"/>
              </a:ext>
            </a:extLst>
          </p:cNvPr>
          <p:cNvCxnSpPr>
            <a:cxnSpLocks/>
            <a:stCxn id="21" idx="1"/>
            <a:endCxn id="21" idx="3"/>
          </p:cNvCxnSpPr>
          <p:nvPr/>
        </p:nvCxnSpPr>
        <p:spPr>
          <a:xfrm>
            <a:off x="7119991" y="3396349"/>
            <a:ext cx="4017600" cy="0"/>
          </a:xfrm>
          <a:prstGeom prst="line">
            <a:avLst/>
          </a:prstGeom>
          <a:ln w="38100">
            <a:solidFill>
              <a:schemeClr val="accent1">
                <a:shade val="90000"/>
                <a:alpha val="50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DB817EB6-5DAC-06D6-A542-C2CDCA1656C8}"/>
              </a:ext>
            </a:extLst>
          </p:cNvPr>
          <p:cNvCxnSpPr/>
          <p:nvPr/>
        </p:nvCxnSpPr>
        <p:spPr>
          <a:xfrm>
            <a:off x="8137133" y="1388490"/>
            <a:ext cx="0" cy="4015717"/>
          </a:xfrm>
          <a:prstGeom prst="line">
            <a:avLst/>
          </a:prstGeom>
          <a:ln w="38100">
            <a:solidFill>
              <a:schemeClr val="accent1">
                <a:shade val="90000"/>
                <a:alpha val="50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07E0E19-BDC0-E5F2-836F-58BE6E9B731C}"/>
              </a:ext>
            </a:extLst>
          </p:cNvPr>
          <p:cNvCxnSpPr/>
          <p:nvPr/>
        </p:nvCxnSpPr>
        <p:spPr>
          <a:xfrm>
            <a:off x="10118333" y="1388490"/>
            <a:ext cx="0" cy="4015717"/>
          </a:xfrm>
          <a:prstGeom prst="line">
            <a:avLst/>
          </a:prstGeom>
          <a:ln w="38100">
            <a:solidFill>
              <a:schemeClr val="accent1">
                <a:shade val="90000"/>
                <a:alpha val="50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F625553-0548-0A20-2CD9-C6D26BBD816F}"/>
              </a:ext>
            </a:extLst>
          </p:cNvPr>
          <p:cNvCxnSpPr/>
          <p:nvPr/>
        </p:nvCxnSpPr>
        <p:spPr>
          <a:xfrm>
            <a:off x="7119991" y="2363056"/>
            <a:ext cx="4017600" cy="0"/>
          </a:xfrm>
          <a:prstGeom prst="line">
            <a:avLst/>
          </a:prstGeom>
          <a:ln w="38100">
            <a:solidFill>
              <a:schemeClr val="accent1">
                <a:shade val="90000"/>
                <a:alpha val="50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759B8D7D-97C6-72C9-C097-E82165F7439B}"/>
              </a:ext>
            </a:extLst>
          </p:cNvPr>
          <p:cNvCxnSpPr/>
          <p:nvPr/>
        </p:nvCxnSpPr>
        <p:spPr>
          <a:xfrm>
            <a:off x="7119991" y="4344256"/>
            <a:ext cx="4017600" cy="0"/>
          </a:xfrm>
          <a:prstGeom prst="line">
            <a:avLst/>
          </a:prstGeom>
          <a:ln w="38100">
            <a:solidFill>
              <a:schemeClr val="accent1">
                <a:shade val="90000"/>
                <a:alpha val="50000"/>
              </a:schemeClr>
            </a:solidFill>
          </a:ln>
        </p:spPr>
        <p:style>
          <a:lnRef idx="1">
            <a:schemeClr val="accent1"/>
          </a:lnRef>
          <a:fillRef idx="0">
            <a:schemeClr val="accent1"/>
          </a:fillRef>
          <a:effectRef idx="0">
            <a:schemeClr val="accent1"/>
          </a:effectRef>
          <a:fontRef idx="minor">
            <a:schemeClr val="tx1"/>
          </a:fontRef>
        </p:style>
      </p:cxnSp>
      <p:pic>
        <p:nvPicPr>
          <p:cNvPr id="36" name="Graphic 35" descr="Robot with solid fill">
            <a:extLst>
              <a:ext uri="{FF2B5EF4-FFF2-40B4-BE49-F238E27FC236}">
                <a16:creationId xmlns:a16="http://schemas.microsoft.com/office/drawing/2014/main" id="{5A6BE16B-D5DD-633C-8BCB-1E2DB3E7591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216018" y="2439501"/>
            <a:ext cx="844805" cy="844805"/>
          </a:xfrm>
          <a:prstGeom prst="rect">
            <a:avLst/>
          </a:prstGeom>
        </p:spPr>
      </p:pic>
      <p:sp>
        <p:nvSpPr>
          <p:cNvPr id="37" name="Oval 36">
            <a:extLst>
              <a:ext uri="{FF2B5EF4-FFF2-40B4-BE49-F238E27FC236}">
                <a16:creationId xmlns:a16="http://schemas.microsoft.com/office/drawing/2014/main" id="{C9034372-D01F-1263-973C-8DAC7E6F2511}"/>
              </a:ext>
            </a:extLst>
          </p:cNvPr>
          <p:cNvSpPr/>
          <p:nvPr/>
        </p:nvSpPr>
        <p:spPr>
          <a:xfrm>
            <a:off x="8906488" y="2163248"/>
            <a:ext cx="1463864" cy="1448655"/>
          </a:xfrm>
          <a:custGeom>
            <a:avLst/>
            <a:gdLst>
              <a:gd name="csX0" fmla="*/ 0 w 1463864"/>
              <a:gd name="csY0" fmla="*/ 724328 h 1448655"/>
              <a:gd name="csX1" fmla="*/ 731932 w 1463864"/>
              <a:gd name="csY1" fmla="*/ 0 h 1448655"/>
              <a:gd name="csX2" fmla="*/ 1463864 w 1463864"/>
              <a:gd name="csY2" fmla="*/ 724328 h 1448655"/>
              <a:gd name="csX3" fmla="*/ 731932 w 1463864"/>
              <a:gd name="csY3" fmla="*/ 1448656 h 1448655"/>
              <a:gd name="csX4" fmla="*/ 0 w 1463864"/>
              <a:gd name="csY4" fmla="*/ 724328 h 1448655"/>
            </a:gdLst>
            <a:ahLst/>
            <a:cxnLst>
              <a:cxn ang="0">
                <a:pos x="csX0" y="csY0"/>
              </a:cxn>
              <a:cxn ang="0">
                <a:pos x="csX1" y="csY1"/>
              </a:cxn>
              <a:cxn ang="0">
                <a:pos x="csX2" y="csY2"/>
              </a:cxn>
              <a:cxn ang="0">
                <a:pos x="csX3" y="csY3"/>
              </a:cxn>
              <a:cxn ang="0">
                <a:pos x="csX4" y="csY4"/>
              </a:cxn>
            </a:cxnLst>
            <a:rect l="l" t="t" r="r" b="b"/>
            <a:pathLst>
              <a:path w="1463864" h="1448655" fill="none" extrusionOk="0">
                <a:moveTo>
                  <a:pt x="0" y="724328"/>
                </a:moveTo>
                <a:cubicBezTo>
                  <a:pt x="61980" y="331646"/>
                  <a:pt x="379459" y="-106526"/>
                  <a:pt x="731932" y="0"/>
                </a:cubicBezTo>
                <a:cubicBezTo>
                  <a:pt x="1027108" y="-16701"/>
                  <a:pt x="1393931" y="390135"/>
                  <a:pt x="1463864" y="724328"/>
                </a:cubicBezTo>
                <a:cubicBezTo>
                  <a:pt x="1458944" y="1077444"/>
                  <a:pt x="1066457" y="1545533"/>
                  <a:pt x="731932" y="1448656"/>
                </a:cubicBezTo>
                <a:cubicBezTo>
                  <a:pt x="402849" y="1490729"/>
                  <a:pt x="11766" y="1127192"/>
                  <a:pt x="0" y="724328"/>
                </a:cubicBezTo>
                <a:close/>
              </a:path>
              <a:path w="1463864" h="1448655" stroke="0" extrusionOk="0">
                <a:moveTo>
                  <a:pt x="0" y="724328"/>
                </a:moveTo>
                <a:cubicBezTo>
                  <a:pt x="-52514" y="291901"/>
                  <a:pt x="258789" y="25862"/>
                  <a:pt x="731932" y="0"/>
                </a:cubicBezTo>
                <a:cubicBezTo>
                  <a:pt x="1190928" y="11529"/>
                  <a:pt x="1363482" y="327485"/>
                  <a:pt x="1463864" y="724328"/>
                </a:cubicBezTo>
                <a:cubicBezTo>
                  <a:pt x="1426550" y="1160802"/>
                  <a:pt x="1117825" y="1550038"/>
                  <a:pt x="731932" y="1448656"/>
                </a:cubicBezTo>
                <a:cubicBezTo>
                  <a:pt x="289946" y="1428002"/>
                  <a:pt x="83606" y="1164311"/>
                  <a:pt x="0" y="724328"/>
                </a:cubicBezTo>
                <a:close/>
              </a:path>
            </a:pathLst>
          </a:custGeom>
          <a:solidFill>
            <a:srgbClr val="002060">
              <a:alpha val="16000"/>
            </a:srgbClr>
          </a:solidFill>
          <a:ln w="12700">
            <a:solidFill>
              <a:schemeClr val="accent1">
                <a:shade val="15000"/>
                <a:shade val="90000"/>
              </a:schemeClr>
            </a:solidFill>
            <a:prstDash val="sysDot"/>
            <a:extLst>
              <a:ext uri="{C807C97D-BFC1-408E-A445-0C87EB9F89A2}">
                <ask:lineSketchStyleProps xmlns:ask="http://schemas.microsoft.com/office/drawing/2018/sketchyshapes" sd="1219033472">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Freeform: Shape 37">
            <a:extLst>
              <a:ext uri="{FF2B5EF4-FFF2-40B4-BE49-F238E27FC236}">
                <a16:creationId xmlns:a16="http://schemas.microsoft.com/office/drawing/2014/main" id="{85CE84D7-58B5-BB51-FDE0-5BD6D9293F75}"/>
              </a:ext>
            </a:extLst>
          </p:cNvPr>
          <p:cNvSpPr/>
          <p:nvPr/>
        </p:nvSpPr>
        <p:spPr>
          <a:xfrm>
            <a:off x="6174768" y="1990100"/>
            <a:ext cx="3100875" cy="755013"/>
          </a:xfrm>
          <a:custGeom>
            <a:avLst/>
            <a:gdLst>
              <a:gd name="connsiteX0" fmla="*/ 3547872 w 3547872"/>
              <a:gd name="connsiteY0" fmla="*/ 408714 h 408714"/>
              <a:gd name="connsiteX1" fmla="*/ 2414016 w 3547872"/>
              <a:gd name="connsiteY1" fmla="*/ 24666 h 408714"/>
              <a:gd name="connsiteX2" fmla="*/ 0 w 3547872"/>
              <a:gd name="connsiteY2" fmla="*/ 70386 h 408714"/>
            </a:gdLst>
            <a:ahLst/>
            <a:cxnLst>
              <a:cxn ang="0">
                <a:pos x="connsiteX0" y="connsiteY0"/>
              </a:cxn>
              <a:cxn ang="0">
                <a:pos x="connsiteX1" y="connsiteY1"/>
              </a:cxn>
              <a:cxn ang="0">
                <a:pos x="connsiteX2" y="connsiteY2"/>
              </a:cxn>
            </a:cxnLst>
            <a:rect l="l" t="t" r="r" b="b"/>
            <a:pathLst>
              <a:path w="3547872" h="408714">
                <a:moveTo>
                  <a:pt x="3547872" y="408714"/>
                </a:moveTo>
                <a:cubicBezTo>
                  <a:pt x="3276600" y="244884"/>
                  <a:pt x="3005328" y="81054"/>
                  <a:pt x="2414016" y="24666"/>
                </a:cubicBezTo>
                <a:cubicBezTo>
                  <a:pt x="1822704" y="-31722"/>
                  <a:pt x="911352" y="19332"/>
                  <a:pt x="0" y="70386"/>
                </a:cubicBezTo>
              </a:path>
            </a:pathLst>
          </a:custGeom>
          <a:noFill/>
          <a:ln w="38100">
            <a:headEnd type="none" w="lg" len="lg"/>
            <a:tailEnd type="stealth"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18EB2725-9455-9862-FA35-0589A1823D35}"/>
                  </a:ext>
                </a:extLst>
              </p:cNvPr>
              <p:cNvSpPr txBox="1"/>
              <p:nvPr/>
            </p:nvSpPr>
            <p:spPr>
              <a:xfrm>
                <a:off x="8382207" y="3639470"/>
                <a:ext cx="470000"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1" i="0" smtClean="0">
                          <a:latin typeface="Cambria Math" panose="02040503050406030204" pitchFamily="18" charset="0"/>
                        </a:rPr>
                        <m:t>𝐀</m:t>
                      </m:r>
                    </m:oMath>
                  </m:oMathPara>
                </a14:m>
                <a:endParaRPr lang="en-IN" sz="2400" b="1" dirty="0"/>
              </a:p>
            </p:txBody>
          </p:sp>
        </mc:Choice>
        <mc:Fallback xmlns="">
          <p:sp>
            <p:nvSpPr>
              <p:cNvPr id="40" name="TextBox 39">
                <a:extLst>
                  <a:ext uri="{FF2B5EF4-FFF2-40B4-BE49-F238E27FC236}">
                    <a16:creationId xmlns:a16="http://schemas.microsoft.com/office/drawing/2014/main" id="{18EB2725-9455-9862-FA35-0589A1823D35}"/>
                  </a:ext>
                </a:extLst>
              </p:cNvPr>
              <p:cNvSpPr txBox="1">
                <a:spLocks noRot="1" noChangeAspect="1" noMove="1" noResize="1" noEditPoints="1" noAdjustHandles="1" noChangeArrowheads="1" noChangeShapeType="1" noTextEdit="1"/>
              </p:cNvSpPr>
              <p:nvPr/>
            </p:nvSpPr>
            <p:spPr>
              <a:xfrm>
                <a:off x="8382207" y="3639470"/>
                <a:ext cx="470000" cy="461665"/>
              </a:xfrm>
              <a:prstGeom prst="rect">
                <a:avLst/>
              </a:prstGeom>
              <a:blipFill>
                <a:blip r:embed="rId5"/>
                <a:stretch>
                  <a:fillRect/>
                </a:stretch>
              </a:blipFill>
            </p:spPr>
            <p:txBody>
              <a:bodyPr/>
              <a:lstStyle/>
              <a:p>
                <a:r>
                  <a:rPr lang="en-IN">
                    <a:noFill/>
                  </a:rPr>
                  <a:t> </a:t>
                </a:r>
              </a:p>
            </p:txBody>
          </p:sp>
        </mc:Fallback>
      </mc:AlternateContent>
      <p:cxnSp>
        <p:nvCxnSpPr>
          <p:cNvPr id="42" name="Straight Arrow Connector 41">
            <a:extLst>
              <a:ext uri="{FF2B5EF4-FFF2-40B4-BE49-F238E27FC236}">
                <a16:creationId xmlns:a16="http://schemas.microsoft.com/office/drawing/2014/main" id="{AF7DE1DC-69BA-DBCF-A345-1D16ABE7FF14}"/>
              </a:ext>
            </a:extLst>
          </p:cNvPr>
          <p:cNvCxnSpPr>
            <a:cxnSpLocks/>
          </p:cNvCxnSpPr>
          <p:nvPr/>
        </p:nvCxnSpPr>
        <p:spPr>
          <a:xfrm flipV="1">
            <a:off x="8643124" y="3134357"/>
            <a:ext cx="0" cy="523982"/>
          </a:xfrm>
          <a:prstGeom prst="straightConnector1">
            <a:avLst/>
          </a:prstGeom>
          <a:ln w="38100">
            <a:solidFill>
              <a:schemeClr val="accent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9FA9D84F-0500-9C0F-370F-3BACE23576A6}"/>
              </a:ext>
            </a:extLst>
          </p:cNvPr>
          <p:cNvCxnSpPr>
            <a:cxnSpLocks/>
          </p:cNvCxnSpPr>
          <p:nvPr/>
        </p:nvCxnSpPr>
        <p:spPr>
          <a:xfrm>
            <a:off x="8623421" y="4101135"/>
            <a:ext cx="0" cy="570355"/>
          </a:xfrm>
          <a:prstGeom prst="straightConnector1">
            <a:avLst/>
          </a:prstGeom>
          <a:ln w="38100">
            <a:solidFill>
              <a:schemeClr val="accent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D1BB1886-F6DD-A813-FD80-A193ED471909}"/>
              </a:ext>
            </a:extLst>
          </p:cNvPr>
          <p:cNvCxnSpPr>
            <a:cxnSpLocks/>
          </p:cNvCxnSpPr>
          <p:nvPr/>
        </p:nvCxnSpPr>
        <p:spPr>
          <a:xfrm>
            <a:off x="8786194" y="3870336"/>
            <a:ext cx="624934" cy="0"/>
          </a:xfrm>
          <a:prstGeom prst="straightConnector1">
            <a:avLst/>
          </a:prstGeom>
          <a:ln w="38100">
            <a:solidFill>
              <a:schemeClr val="accent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057500C6-CBEE-E12D-0039-BF65852FDABA}"/>
              </a:ext>
            </a:extLst>
          </p:cNvPr>
          <p:cNvCxnSpPr>
            <a:cxnSpLocks/>
          </p:cNvCxnSpPr>
          <p:nvPr/>
        </p:nvCxnSpPr>
        <p:spPr>
          <a:xfrm flipH="1">
            <a:off x="7828908" y="3865568"/>
            <a:ext cx="626762" cy="0"/>
          </a:xfrm>
          <a:prstGeom prst="straightConnector1">
            <a:avLst/>
          </a:prstGeom>
          <a:ln w="38100">
            <a:solidFill>
              <a:schemeClr val="accent1"/>
            </a:solidFill>
            <a:tailEnd type="stealth"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A1785C59-4B28-864B-39F1-B5D01F7E0AF8}"/>
                  </a:ext>
                </a:extLst>
              </p:cNvPr>
              <p:cNvSpPr txBox="1"/>
              <p:nvPr/>
            </p:nvSpPr>
            <p:spPr>
              <a:xfrm>
                <a:off x="9146573" y="1672694"/>
                <a:ext cx="935769"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𝑠</m:t>
                      </m:r>
                      <m:r>
                        <a:rPr lang="en-US" sz="2400" b="0" i="1" smtClean="0">
                          <a:latin typeface="Cambria Math" panose="02040503050406030204" pitchFamily="18" charset="0"/>
                        </a:rPr>
                        <m:t>∈</m:t>
                      </m:r>
                      <m:r>
                        <a:rPr lang="en-US" sz="2400" b="1" i="0" smtClean="0">
                          <a:latin typeface="Cambria Math" panose="02040503050406030204" pitchFamily="18" charset="0"/>
                        </a:rPr>
                        <m:t>𝐒</m:t>
                      </m:r>
                    </m:oMath>
                  </m:oMathPara>
                </a14:m>
                <a:endParaRPr lang="en-IN" sz="2400" b="1" dirty="0"/>
              </a:p>
            </p:txBody>
          </p:sp>
        </mc:Choice>
        <mc:Fallback xmlns="">
          <p:sp>
            <p:nvSpPr>
              <p:cNvPr id="52" name="TextBox 51">
                <a:extLst>
                  <a:ext uri="{FF2B5EF4-FFF2-40B4-BE49-F238E27FC236}">
                    <a16:creationId xmlns:a16="http://schemas.microsoft.com/office/drawing/2014/main" id="{A1785C59-4B28-864B-39F1-B5D01F7E0AF8}"/>
                  </a:ext>
                </a:extLst>
              </p:cNvPr>
              <p:cNvSpPr txBox="1">
                <a:spLocks noRot="1" noChangeAspect="1" noMove="1" noResize="1" noEditPoints="1" noAdjustHandles="1" noChangeArrowheads="1" noChangeShapeType="1" noTextEdit="1"/>
              </p:cNvSpPr>
              <p:nvPr/>
            </p:nvSpPr>
            <p:spPr>
              <a:xfrm>
                <a:off x="9146573" y="1672694"/>
                <a:ext cx="935769" cy="461665"/>
              </a:xfrm>
              <a:prstGeom prst="rect">
                <a:avLst/>
              </a:prstGeom>
              <a:blipFill>
                <a:blip r:embed="rId6"/>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22514173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fade">
                                      <p:cBhvr>
                                        <p:cTn id="7" dur="500"/>
                                        <p:tgtEl>
                                          <p:spTgt spid="2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xEl>
                                              <p:pRg st="3" end="3"/>
                                            </p:txEl>
                                          </p:spTgt>
                                        </p:tgtEl>
                                        <p:attrNameLst>
                                          <p:attrName>style.visibility</p:attrName>
                                        </p:attrNameLst>
                                      </p:cBhvr>
                                      <p:to>
                                        <p:strVal val="visible"/>
                                      </p:to>
                                    </p:set>
                                    <p:animEffect transition="in" filter="fade">
                                      <p:cBhvr>
                                        <p:cTn id="12" dur="500"/>
                                        <p:tgtEl>
                                          <p:spTgt spid="20">
                                            <p:txEl>
                                              <p:pRg st="3" end="3"/>
                                            </p:txEl>
                                          </p:spTgt>
                                        </p:tgtEl>
                                      </p:cBhvr>
                                    </p:animEffect>
                                  </p:childTnLst>
                                </p:cTn>
                              </p:par>
                              <p:par>
                                <p:cTn id="13" presetID="1" presetClass="entr" presetSubtype="0" fill="hold" grpId="0" nodeType="with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46CD2D4-E73A-900F-F1B0-528F4945F00B}"/>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8C6998E-92ED-2399-664C-D2CCC154608C}"/>
              </a:ext>
            </a:extLst>
          </p:cNvPr>
          <p:cNvSpPr>
            <a:spLocks noGrp="1"/>
          </p:cNvSpPr>
          <p:nvPr>
            <p:ph type="sldNum" sz="quarter" idx="12"/>
          </p:nvPr>
        </p:nvSpPr>
        <p:spPr>
          <a:xfrm>
            <a:off x="11116127" y="6487841"/>
            <a:ext cx="914400" cy="320040"/>
          </a:xfrm>
        </p:spPr>
        <p:txBody>
          <a:bodyPr/>
          <a:lstStyle/>
          <a:p>
            <a:fld id="{6D22F896-40B5-4ADD-8801-0D06FADFA095}" type="slidenum">
              <a:rPr lang="en-US" smtClean="0"/>
              <a:t>6</a:t>
            </a:fld>
            <a:endParaRPr lang="en-US" dirty="0"/>
          </a:p>
        </p:txBody>
      </p:sp>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0CBBF612-F1D0-3183-CD43-448CE24D0BC3}"/>
                  </a:ext>
                </a:extLst>
              </p:cNvPr>
              <p:cNvSpPr txBox="1">
                <a:spLocks/>
              </p:cNvSpPr>
              <p:nvPr/>
            </p:nvSpPr>
            <p:spPr>
              <a:xfrm>
                <a:off x="838200" y="365125"/>
                <a:ext cx="10515600" cy="850217"/>
              </a:xfrm>
              <a:prstGeom prst="rect">
                <a:avLst/>
              </a:prstGeom>
            </p:spPr>
            <p:txBody>
              <a:bodyPr/>
              <a:lstStyle>
                <a:lvl1pPr algn="ctr" defTabSz="914400" rtl="0" eaLnBrk="1" latinLnBrk="0" hangingPunct="1">
                  <a:lnSpc>
                    <a:spcPct val="85000"/>
                  </a:lnSpc>
                  <a:spcBef>
                    <a:spcPct val="0"/>
                  </a:spcBef>
                  <a:buNone/>
                  <a:defRPr sz="4000" b="0" i="0" kern="1200" cap="none" spc="-150">
                    <a:solidFill>
                      <a:schemeClr val="tx1"/>
                    </a:solidFill>
                    <a:effectLst/>
                    <a:latin typeface="+mj-lt"/>
                    <a:ea typeface="+mj-ea"/>
                    <a:cs typeface="+mj-cs"/>
                  </a:defRPr>
                </a:lvl1pPr>
              </a:lstStyle>
              <a:p>
                <a:r>
                  <a:rPr lang="en-US" dirty="0">
                    <a:solidFill>
                      <a:srgbClr val="002060"/>
                    </a:solidFill>
                    <a:latin typeface="+mn-lt"/>
                  </a:rPr>
                  <a:t>Components of Robust </a:t>
                </a:r>
                <a14:m>
                  <m:oMath xmlns:m="http://schemas.openxmlformats.org/officeDocument/2006/math">
                    <m:r>
                      <a:rPr lang="en-US" b="0" i="1" smtClean="0">
                        <a:solidFill>
                          <a:srgbClr val="002060"/>
                        </a:solidFill>
                        <a:latin typeface="Cambria Math" panose="02040503050406030204" pitchFamily="18" charset="0"/>
                      </a:rPr>
                      <m:t>𝑄</m:t>
                    </m:r>
                    <m:r>
                      <a:rPr lang="en-US" b="0" i="1" smtClean="0">
                        <a:solidFill>
                          <a:srgbClr val="002060"/>
                        </a:solidFill>
                        <a:latin typeface="Cambria Math" panose="02040503050406030204" pitchFamily="18" charset="0"/>
                      </a:rPr>
                      <m:t>− </m:t>
                    </m:r>
                  </m:oMath>
                </a14:m>
                <a:r>
                  <a:rPr lang="en-IN" dirty="0">
                    <a:solidFill>
                      <a:srgbClr val="002060"/>
                    </a:solidFill>
                    <a:latin typeface="+mn-lt"/>
                  </a:rPr>
                  <a:t>Learning</a:t>
                </a:r>
                <a:endParaRPr lang="en-IN" dirty="0">
                  <a:solidFill>
                    <a:srgbClr val="C00000"/>
                  </a:solidFill>
                  <a:latin typeface="+mn-lt"/>
                </a:endParaRPr>
              </a:p>
            </p:txBody>
          </p:sp>
        </mc:Choice>
        <mc:Fallback xmlns="">
          <p:sp>
            <p:nvSpPr>
              <p:cNvPr id="2" name="Title 1">
                <a:extLst>
                  <a:ext uri="{FF2B5EF4-FFF2-40B4-BE49-F238E27FC236}">
                    <a16:creationId xmlns:a16="http://schemas.microsoft.com/office/drawing/2014/main" id="{0CBBF612-F1D0-3183-CD43-448CE24D0BC3}"/>
                  </a:ext>
                </a:extLst>
              </p:cNvPr>
              <p:cNvSpPr txBox="1">
                <a:spLocks noRot="1" noChangeAspect="1" noMove="1" noResize="1" noEditPoints="1" noAdjustHandles="1" noChangeArrowheads="1" noChangeShapeType="1" noTextEdit="1"/>
              </p:cNvSpPr>
              <p:nvPr/>
            </p:nvSpPr>
            <p:spPr>
              <a:xfrm>
                <a:off x="838200" y="365125"/>
                <a:ext cx="10515600" cy="850217"/>
              </a:xfrm>
              <a:prstGeom prst="rect">
                <a:avLst/>
              </a:prstGeom>
              <a:blipFill>
                <a:blip r:embed="rId3"/>
                <a:stretch>
                  <a:fillRect t="-23741" b="-2878"/>
                </a:stretch>
              </a:blipFill>
            </p:spPr>
            <p:txBody>
              <a:bodyPr/>
              <a:lstStyle/>
              <a:p>
                <a:r>
                  <a:rPr lang="en-IN">
                    <a:noFill/>
                  </a:rPr>
                  <a:t> </a:t>
                </a:r>
              </a:p>
            </p:txBody>
          </p:sp>
        </mc:Fallback>
      </mc:AlternateContent>
      <p:sp>
        <p:nvSpPr>
          <p:cNvPr id="8" name="Arrow: Right 7">
            <a:extLst>
              <a:ext uri="{FF2B5EF4-FFF2-40B4-BE49-F238E27FC236}">
                <a16:creationId xmlns:a16="http://schemas.microsoft.com/office/drawing/2014/main" id="{34C10B68-AC99-ADE5-6F15-C55C40D9A497}"/>
              </a:ext>
            </a:extLst>
          </p:cNvPr>
          <p:cNvSpPr/>
          <p:nvPr/>
        </p:nvSpPr>
        <p:spPr>
          <a:xfrm>
            <a:off x="2892632" y="2051557"/>
            <a:ext cx="421241" cy="34932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39B4739-0669-BAA8-73EE-E90675698C7D}"/>
                  </a:ext>
                </a:extLst>
              </p:cNvPr>
              <p:cNvSpPr txBox="1"/>
              <p:nvPr/>
            </p:nvSpPr>
            <p:spPr>
              <a:xfrm>
                <a:off x="430259" y="1530143"/>
                <a:ext cx="2333909" cy="1477328"/>
              </a:xfrm>
              <a:prstGeom prst="rect">
                <a:avLst/>
              </a:prstGeom>
              <a:noFill/>
            </p:spPr>
            <p:txBody>
              <a:bodyPr wrap="none" rtlCol="0">
                <a:spAutoFit/>
              </a:bodyPr>
              <a:lstStyle/>
              <a:p>
                <a:pPr marL="285750" indent="-285750">
                  <a:buFont typeface="Wingdings" panose="05000000000000000000" pitchFamily="2" charset="2"/>
                  <a:buChar char="§"/>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0</m:t>
                        </m:r>
                      </m:sub>
                    </m:sSub>
                  </m:oMath>
                </a14:m>
                <a:endParaRPr lang="en-US" b="0" dirty="0"/>
              </a:p>
              <a:p>
                <a:pPr marL="285750" indent="-285750">
                  <a:buFont typeface="Wingdings" panose="05000000000000000000" pitchFamily="2" charset="2"/>
                  <a:buChar char="§"/>
                </a:pPr>
                <a:r>
                  <a:rPr lang="en-IN" dirty="0"/>
                  <a:t>Step-size </a:t>
                </a:r>
                <a14:m>
                  <m:oMath xmlns:m="http://schemas.openxmlformats.org/officeDocument/2006/math">
                    <m:r>
                      <m:rPr>
                        <m:sty m:val="p"/>
                      </m:rPr>
                      <a:rPr lang="en-US" b="0" i="1" smtClean="0">
                        <a:latin typeface="Cambria Math" panose="02040503050406030204" pitchFamily="18" charset="0"/>
                      </a:rPr>
                      <m:t>α</m:t>
                    </m:r>
                  </m:oMath>
                </a14:m>
                <a:endParaRPr lang="en-US" b="0" dirty="0"/>
              </a:p>
              <a:p>
                <a:pPr marL="285750" indent="-285750">
                  <a:buFont typeface="Wingdings" panose="05000000000000000000" pitchFamily="2" charset="2"/>
                  <a:buChar char="§"/>
                </a:pPr>
                <a:r>
                  <a:rPr lang="en-IN" dirty="0"/>
                  <a:t>Failure prob. </a:t>
                </a:r>
                <a14:m>
                  <m:oMath xmlns:m="http://schemas.openxmlformats.org/officeDocument/2006/math">
                    <m:r>
                      <m:rPr>
                        <m:sty m:val="p"/>
                      </m:rPr>
                      <a:rPr lang="en-US" b="0" i="1" smtClean="0">
                        <a:latin typeface="Cambria Math" panose="02040503050406030204" pitchFamily="18" charset="0"/>
                      </a:rPr>
                      <m:t>δ</m:t>
                    </m:r>
                  </m:oMath>
                </a14:m>
                <a:endParaRPr lang="en-US" b="0" dirty="0"/>
              </a:p>
              <a:p>
                <a:pPr marL="285750" indent="-285750">
                  <a:buFont typeface="Wingdings" panose="05000000000000000000" pitchFamily="2" charset="2"/>
                  <a:buChar char="§"/>
                </a:pPr>
                <a:r>
                  <a:rPr lang="en-IN" dirty="0"/>
                  <a:t>Corruption frac. </a:t>
                </a:r>
                <a14:m>
                  <m:oMath xmlns:m="http://schemas.openxmlformats.org/officeDocument/2006/math">
                    <m:r>
                      <a:rPr lang="en-US" b="0" i="1" smtClean="0">
                        <a:latin typeface="Cambria Math" panose="02040503050406030204" pitchFamily="18" charset="0"/>
                      </a:rPr>
                      <m:t>𝜀</m:t>
                    </m:r>
                  </m:oMath>
                </a14:m>
                <a:endParaRPr lang="en-US" b="0" dirty="0"/>
              </a:p>
              <a:p>
                <a:pPr marL="285750" indent="-285750">
                  <a:buFont typeface="Wingdings" panose="05000000000000000000" pitchFamily="2" charset="2"/>
                  <a:buChar char="§"/>
                </a:pPr>
                <a:r>
                  <a:rPr lang="en-IN" dirty="0"/>
                  <a:t>Total iterations </a:t>
                </a:r>
                <a14:m>
                  <m:oMath xmlns:m="http://schemas.openxmlformats.org/officeDocument/2006/math">
                    <m:r>
                      <a:rPr lang="en-US" b="0" i="1" smtClean="0">
                        <a:latin typeface="Cambria Math" panose="02040503050406030204" pitchFamily="18" charset="0"/>
                      </a:rPr>
                      <m:t>𝑇</m:t>
                    </m:r>
                  </m:oMath>
                </a14:m>
                <a:r>
                  <a:rPr lang="en-IN" dirty="0"/>
                  <a:t> </a:t>
                </a:r>
              </a:p>
            </p:txBody>
          </p:sp>
        </mc:Choice>
        <mc:Fallback xmlns="">
          <p:sp>
            <p:nvSpPr>
              <p:cNvPr id="10" name="TextBox 9">
                <a:extLst>
                  <a:ext uri="{FF2B5EF4-FFF2-40B4-BE49-F238E27FC236}">
                    <a16:creationId xmlns:a16="http://schemas.microsoft.com/office/drawing/2014/main" id="{539B4739-0669-BAA8-73EE-E90675698C7D}"/>
                  </a:ext>
                </a:extLst>
              </p:cNvPr>
              <p:cNvSpPr txBox="1">
                <a:spLocks noRot="1" noChangeAspect="1" noMove="1" noResize="1" noEditPoints="1" noAdjustHandles="1" noChangeArrowheads="1" noChangeShapeType="1" noTextEdit="1"/>
              </p:cNvSpPr>
              <p:nvPr/>
            </p:nvSpPr>
            <p:spPr>
              <a:xfrm>
                <a:off x="430259" y="1530143"/>
                <a:ext cx="2333909" cy="1477328"/>
              </a:xfrm>
              <a:prstGeom prst="rect">
                <a:avLst/>
              </a:prstGeom>
              <a:blipFill>
                <a:blip r:embed="rId4"/>
                <a:stretch>
                  <a:fillRect l="-1832" t="-413" b="-578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D6787BA4-184C-EA88-016E-0329A446B7C2}"/>
                  </a:ext>
                </a:extLst>
              </p:cNvPr>
              <p:cNvSpPr txBox="1"/>
              <p:nvPr/>
            </p:nvSpPr>
            <p:spPr>
              <a:xfrm>
                <a:off x="3529631" y="1764552"/>
                <a:ext cx="4312078" cy="923330"/>
              </a:xfrm>
              <a:prstGeom prst="rect">
                <a:avLst/>
              </a:prstGeom>
              <a:noFill/>
            </p:spPr>
            <p:txBody>
              <a:bodyPr wrap="none" rtlCol="0">
                <a:spAutoFit/>
              </a:bodyPr>
              <a:lstStyle/>
              <a:p>
                <a:pPr marL="342900" indent="-342900">
                  <a:buFont typeface="+mj-lt"/>
                  <a:buAutoNum type="arabicPeriod"/>
                </a:pPr>
                <a:r>
                  <a:rPr lang="en-US" dirty="0"/>
                  <a:t>Observe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𝑡</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s</m:t>
                            </m:r>
                          </m:e>
                          <m:sub>
                            <m:r>
                              <m:rPr>
                                <m:sty m:val="p"/>
                              </m:rPr>
                              <a:rPr lang="en-US" b="0" i="0" smtClean="0">
                                <a:latin typeface="Cambria Math" panose="02040503050406030204" pitchFamily="18" charset="0"/>
                              </a:rPr>
                              <m:t>t</m:t>
                            </m:r>
                          </m:sub>
                        </m:sSub>
                        <m:r>
                          <a:rPr lang="en-US" b="0" i="0"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a</m:t>
                            </m:r>
                          </m:e>
                          <m:sub>
                            <m:r>
                              <m:rPr>
                                <m:sty m:val="p"/>
                              </m:rPr>
                              <a:rPr lang="en-US" b="0" i="0" smtClean="0">
                                <a:latin typeface="Cambria Math" panose="02040503050406030204" pitchFamily="18" charset="0"/>
                              </a:rPr>
                              <m:t>t</m:t>
                            </m:r>
                          </m:sub>
                        </m:sSub>
                      </m:e>
                    </m:d>
                    <m:r>
                      <a:rPr lang="en-US" b="0" i="0" smtClean="0">
                        <a:latin typeface="Cambria Math" panose="02040503050406030204" pitchFamily="18" charset="0"/>
                      </a:rPr>
                      <m:t>.</m:t>
                    </m:r>
                  </m:oMath>
                </a14:m>
                <a:endParaRPr lang="en-US" b="0" dirty="0"/>
              </a:p>
              <a:p>
                <a:pPr marL="342900" indent="-342900">
                  <a:buFont typeface="+mj-lt"/>
                  <a:buAutoNum type="arabicPeriod"/>
                </a:pPr>
                <a:r>
                  <a:rPr lang="en-IN" dirty="0"/>
                  <a:t>Append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𝑡</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m:rPr>
                                <m:sty m:val="p"/>
                              </m:rPr>
                              <a:rPr lang="en-US">
                                <a:latin typeface="Cambria Math" panose="02040503050406030204" pitchFamily="18" charset="0"/>
                              </a:rPr>
                              <m:t>s</m:t>
                            </m:r>
                          </m:e>
                          <m:sub>
                            <m:r>
                              <m:rPr>
                                <m:sty m:val="p"/>
                              </m:rPr>
                              <a:rPr lang="en-US">
                                <a:latin typeface="Cambria Math" panose="02040503050406030204" pitchFamily="18" charset="0"/>
                              </a:rPr>
                              <m:t>t</m:t>
                            </m:r>
                          </m:sub>
                        </m:sSub>
                        <m:r>
                          <a:rPr lang="en-US">
                            <a:latin typeface="Cambria Math" panose="02040503050406030204" pitchFamily="18" charset="0"/>
                          </a:rPr>
                          <m:t>,</m:t>
                        </m:r>
                        <m:sSub>
                          <m:sSubPr>
                            <m:ctrlPr>
                              <a:rPr lang="en-US" i="1">
                                <a:latin typeface="Cambria Math" panose="02040503050406030204" pitchFamily="18" charset="0"/>
                              </a:rPr>
                            </m:ctrlPr>
                          </m:sSubPr>
                          <m:e>
                            <m:r>
                              <m:rPr>
                                <m:sty m:val="p"/>
                              </m:rPr>
                              <a:rPr lang="en-US">
                                <a:latin typeface="Cambria Math" panose="02040503050406030204" pitchFamily="18" charset="0"/>
                              </a:rPr>
                              <m:t>a</m:t>
                            </m:r>
                          </m:e>
                          <m:sub>
                            <m:r>
                              <m:rPr>
                                <m:sty m:val="p"/>
                              </m:rPr>
                              <a:rPr lang="en-US">
                                <a:latin typeface="Cambria Math" panose="02040503050406030204" pitchFamily="18" charset="0"/>
                              </a:rPr>
                              <m:t>t</m:t>
                            </m:r>
                          </m:sub>
                        </m:sSub>
                      </m:e>
                    </m:d>
                  </m:oMath>
                </a14:m>
                <a:r>
                  <a:rPr lang="en-IN" dirty="0"/>
                  <a:t> to buffer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ℱ</m:t>
                        </m:r>
                      </m:e>
                      <m:sub>
                        <m:r>
                          <a:rPr lang="en-US" i="1">
                            <a:latin typeface="Cambria Math" panose="02040503050406030204" pitchFamily="18" charset="0"/>
                          </a:rPr>
                          <m:t>𝑡</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𝑡</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i="1">
                            <a:latin typeface="Cambria Math" panose="02040503050406030204" pitchFamily="18" charset="0"/>
                          </a:rPr>
                          <m:t>𝑡</m:t>
                        </m:r>
                      </m:sub>
                    </m:sSub>
                    <m:r>
                      <a:rPr lang="en-US" i="1">
                        <a:latin typeface="Cambria Math" panose="02040503050406030204" pitchFamily="18" charset="0"/>
                      </a:rPr>
                      <m:t>)</m:t>
                    </m:r>
                  </m:oMath>
                </a14:m>
                <a:r>
                  <a:rPr lang="en-US" dirty="0"/>
                  <a:t>.</a:t>
                </a:r>
              </a:p>
              <a:p>
                <a:pPr marL="342900" indent="-342900">
                  <a:buFont typeface="+mj-lt"/>
                  <a:buAutoNum type="arabicPeriod"/>
                </a:pPr>
                <a:r>
                  <a:rPr lang="en-US" b="0" dirty="0"/>
                  <a:t>Compute </a:t>
                </a:r>
                <a14:m>
                  <m:oMath xmlns:m="http://schemas.openxmlformats.org/officeDocument/2006/math">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𝑡</m:t>
                            </m:r>
                          </m:sub>
                        </m:sSub>
                      </m:e>
                    </m:acc>
                  </m:oMath>
                </a14:m>
                <a:r>
                  <a:rPr lang="en-US" dirty="0"/>
                  <a:t> = TRIM </a:t>
                </a:r>
                <a14:m>
                  <m:oMath xmlns:m="http://schemas.openxmlformats.org/officeDocument/2006/math">
                    <m:d>
                      <m:dPr>
                        <m:begChr m:val="["/>
                        <m:endChr m:val="]"/>
                        <m:ctrlPr>
                          <a:rPr lang="en-US" i="1" smtClean="0">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ℱ</m:t>
                            </m:r>
                          </m:e>
                          <m:sub>
                            <m:r>
                              <a:rPr lang="en-US" i="1">
                                <a:latin typeface="Cambria Math" panose="02040503050406030204" pitchFamily="18" charset="0"/>
                              </a:rPr>
                              <m:t>𝑡</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𝑡</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i="1">
                                    <a:latin typeface="Cambria Math" panose="02040503050406030204" pitchFamily="18" charset="0"/>
                                  </a:rPr>
                                  <m:t>𝑡</m:t>
                                </m:r>
                              </m:sub>
                            </m:sSub>
                          </m:e>
                        </m:d>
                        <m:r>
                          <m:rPr>
                            <m:nor/>
                          </m:rPr>
                          <a:rPr lang="en-US" b="0" i="0" smtClean="0">
                            <a:latin typeface="Cambria Math" panose="02040503050406030204" pitchFamily="18" charset="0"/>
                          </a:rPr>
                          <m:t>, </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𝛿</m:t>
                            </m:r>
                          </m:e>
                          <m:sup>
                            <m:r>
                              <a:rPr lang="en-US" b="0" i="1" smtClean="0">
                                <a:latin typeface="Cambria Math" panose="02040503050406030204" pitchFamily="18" charset="0"/>
                              </a:rPr>
                              <m:t>∗</m:t>
                            </m:r>
                          </m:sup>
                        </m:sSup>
                        <m:r>
                          <a:rPr lang="en-US" b="0" i="1" smtClean="0">
                            <a:latin typeface="Cambria Math" panose="02040503050406030204" pitchFamily="18" charset="0"/>
                          </a:rPr>
                          <m:t>, </m:t>
                        </m:r>
                        <m:r>
                          <a:rPr lang="en-US" b="0" i="1" smtClean="0">
                            <a:latin typeface="Cambria Math" panose="02040503050406030204" pitchFamily="18" charset="0"/>
                          </a:rPr>
                          <m:t>𝜀</m:t>
                        </m:r>
                      </m:e>
                    </m:d>
                  </m:oMath>
                </a14:m>
                <a:r>
                  <a:rPr lang="en-IN" dirty="0"/>
                  <a:t>.</a:t>
                </a:r>
              </a:p>
            </p:txBody>
          </p:sp>
        </mc:Choice>
        <mc:Fallback xmlns="">
          <p:sp>
            <p:nvSpPr>
              <p:cNvPr id="11" name="TextBox 10">
                <a:extLst>
                  <a:ext uri="{FF2B5EF4-FFF2-40B4-BE49-F238E27FC236}">
                    <a16:creationId xmlns:a16="http://schemas.microsoft.com/office/drawing/2014/main" id="{D6787BA4-184C-EA88-016E-0329A446B7C2}"/>
                  </a:ext>
                </a:extLst>
              </p:cNvPr>
              <p:cNvSpPr txBox="1">
                <a:spLocks noRot="1" noChangeAspect="1" noMove="1" noResize="1" noEditPoints="1" noAdjustHandles="1" noChangeArrowheads="1" noChangeShapeType="1" noTextEdit="1"/>
              </p:cNvSpPr>
              <p:nvPr/>
            </p:nvSpPr>
            <p:spPr>
              <a:xfrm>
                <a:off x="3529631" y="1764552"/>
                <a:ext cx="4312078" cy="923330"/>
              </a:xfrm>
              <a:prstGeom prst="rect">
                <a:avLst/>
              </a:prstGeom>
              <a:blipFill>
                <a:blip r:embed="rId5"/>
                <a:stretch>
                  <a:fillRect l="-1132" t="-3289" r="-566" b="-9211"/>
                </a:stretch>
              </a:blipFill>
            </p:spPr>
            <p:txBody>
              <a:bodyPr/>
              <a:lstStyle/>
              <a:p>
                <a:r>
                  <a:rPr lang="en-IN">
                    <a:noFill/>
                  </a:rPr>
                  <a:t> </a:t>
                </a:r>
              </a:p>
            </p:txBody>
          </p:sp>
        </mc:Fallback>
      </mc:AlternateContent>
      <p:sp>
        <p:nvSpPr>
          <p:cNvPr id="12" name="Rectangle: Rounded Corners 11">
            <a:extLst>
              <a:ext uri="{FF2B5EF4-FFF2-40B4-BE49-F238E27FC236}">
                <a16:creationId xmlns:a16="http://schemas.microsoft.com/office/drawing/2014/main" id="{3FFFAFA0-971A-ECBC-0E25-67974927FA78}"/>
              </a:ext>
            </a:extLst>
          </p:cNvPr>
          <p:cNvSpPr/>
          <p:nvPr/>
        </p:nvSpPr>
        <p:spPr>
          <a:xfrm>
            <a:off x="301795" y="1499857"/>
            <a:ext cx="2429801" cy="1581146"/>
          </a:xfrm>
          <a:custGeom>
            <a:avLst/>
            <a:gdLst>
              <a:gd name="csX0" fmla="*/ 0 w 2429801"/>
              <a:gd name="csY0" fmla="*/ 263530 h 1581146"/>
              <a:gd name="csX1" fmla="*/ 263530 w 2429801"/>
              <a:gd name="csY1" fmla="*/ 0 h 1581146"/>
              <a:gd name="csX2" fmla="*/ 701160 w 2429801"/>
              <a:gd name="csY2" fmla="*/ 0 h 1581146"/>
              <a:gd name="csX3" fmla="*/ 1176846 w 2429801"/>
              <a:gd name="csY3" fmla="*/ 0 h 1581146"/>
              <a:gd name="csX4" fmla="*/ 1614476 w 2429801"/>
              <a:gd name="csY4" fmla="*/ 0 h 1581146"/>
              <a:gd name="csX5" fmla="*/ 2166271 w 2429801"/>
              <a:gd name="csY5" fmla="*/ 0 h 1581146"/>
              <a:gd name="csX6" fmla="*/ 2429801 w 2429801"/>
              <a:gd name="csY6" fmla="*/ 263530 h 1581146"/>
              <a:gd name="csX7" fmla="*/ 2429801 w 2429801"/>
              <a:gd name="csY7" fmla="*/ 790573 h 1581146"/>
              <a:gd name="csX8" fmla="*/ 2429801 w 2429801"/>
              <a:gd name="csY8" fmla="*/ 1317616 h 1581146"/>
              <a:gd name="csX9" fmla="*/ 2166271 w 2429801"/>
              <a:gd name="csY9" fmla="*/ 1581146 h 1581146"/>
              <a:gd name="csX10" fmla="*/ 1709613 w 2429801"/>
              <a:gd name="csY10" fmla="*/ 1581146 h 1581146"/>
              <a:gd name="csX11" fmla="*/ 1291010 w 2429801"/>
              <a:gd name="csY11" fmla="*/ 1581146 h 1581146"/>
              <a:gd name="csX12" fmla="*/ 796297 w 2429801"/>
              <a:gd name="csY12" fmla="*/ 1581146 h 1581146"/>
              <a:gd name="csX13" fmla="*/ 263530 w 2429801"/>
              <a:gd name="csY13" fmla="*/ 1581146 h 1581146"/>
              <a:gd name="csX14" fmla="*/ 0 w 2429801"/>
              <a:gd name="csY14" fmla="*/ 1317616 h 1581146"/>
              <a:gd name="csX15" fmla="*/ 0 w 2429801"/>
              <a:gd name="csY15" fmla="*/ 769491 h 1581146"/>
              <a:gd name="csX16" fmla="*/ 0 w 2429801"/>
              <a:gd name="csY16" fmla="*/ 263530 h 15811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2429801" h="1581146" fill="none" extrusionOk="0">
                <a:moveTo>
                  <a:pt x="0" y="263530"/>
                </a:moveTo>
                <a:cubicBezTo>
                  <a:pt x="-6954" y="130420"/>
                  <a:pt x="120500" y="1868"/>
                  <a:pt x="263530" y="0"/>
                </a:cubicBezTo>
                <a:cubicBezTo>
                  <a:pt x="416159" y="-49427"/>
                  <a:pt x="529341" y="11676"/>
                  <a:pt x="701160" y="0"/>
                </a:cubicBezTo>
                <a:cubicBezTo>
                  <a:pt x="872979" y="-11676"/>
                  <a:pt x="1051655" y="46459"/>
                  <a:pt x="1176846" y="0"/>
                </a:cubicBezTo>
                <a:cubicBezTo>
                  <a:pt x="1302037" y="-46459"/>
                  <a:pt x="1482970" y="48751"/>
                  <a:pt x="1614476" y="0"/>
                </a:cubicBezTo>
                <a:cubicBezTo>
                  <a:pt x="1745982" y="-48751"/>
                  <a:pt x="2011120" y="25359"/>
                  <a:pt x="2166271" y="0"/>
                </a:cubicBezTo>
                <a:cubicBezTo>
                  <a:pt x="2301472" y="-585"/>
                  <a:pt x="2446249" y="132147"/>
                  <a:pt x="2429801" y="263530"/>
                </a:cubicBezTo>
                <a:cubicBezTo>
                  <a:pt x="2435677" y="449113"/>
                  <a:pt x="2405913" y="534782"/>
                  <a:pt x="2429801" y="790573"/>
                </a:cubicBezTo>
                <a:cubicBezTo>
                  <a:pt x="2453689" y="1046364"/>
                  <a:pt x="2427136" y="1158752"/>
                  <a:pt x="2429801" y="1317616"/>
                </a:cubicBezTo>
                <a:cubicBezTo>
                  <a:pt x="2428553" y="1437260"/>
                  <a:pt x="2336847" y="1596916"/>
                  <a:pt x="2166271" y="1581146"/>
                </a:cubicBezTo>
                <a:cubicBezTo>
                  <a:pt x="2052616" y="1603527"/>
                  <a:pt x="1932060" y="1577990"/>
                  <a:pt x="1709613" y="1581146"/>
                </a:cubicBezTo>
                <a:cubicBezTo>
                  <a:pt x="1487166" y="1584302"/>
                  <a:pt x="1421300" y="1551007"/>
                  <a:pt x="1291010" y="1581146"/>
                </a:cubicBezTo>
                <a:cubicBezTo>
                  <a:pt x="1160720" y="1611285"/>
                  <a:pt x="901741" y="1570078"/>
                  <a:pt x="796297" y="1581146"/>
                </a:cubicBezTo>
                <a:cubicBezTo>
                  <a:pt x="690853" y="1592214"/>
                  <a:pt x="422335" y="1557077"/>
                  <a:pt x="263530" y="1581146"/>
                </a:cubicBezTo>
                <a:cubicBezTo>
                  <a:pt x="104188" y="1588883"/>
                  <a:pt x="5584" y="1478289"/>
                  <a:pt x="0" y="1317616"/>
                </a:cubicBezTo>
                <a:cubicBezTo>
                  <a:pt x="-43298" y="1200034"/>
                  <a:pt x="7286" y="941838"/>
                  <a:pt x="0" y="769491"/>
                </a:cubicBezTo>
                <a:cubicBezTo>
                  <a:pt x="-7286" y="597144"/>
                  <a:pt x="1476" y="449682"/>
                  <a:pt x="0" y="263530"/>
                </a:cubicBezTo>
                <a:close/>
              </a:path>
              <a:path w="2429801" h="1581146" stroke="0" extrusionOk="0">
                <a:moveTo>
                  <a:pt x="0" y="263530"/>
                </a:moveTo>
                <a:cubicBezTo>
                  <a:pt x="-10382" y="111582"/>
                  <a:pt x="98506" y="7311"/>
                  <a:pt x="263530" y="0"/>
                </a:cubicBezTo>
                <a:cubicBezTo>
                  <a:pt x="452418" y="-3802"/>
                  <a:pt x="596284" y="44499"/>
                  <a:pt x="777270" y="0"/>
                </a:cubicBezTo>
                <a:cubicBezTo>
                  <a:pt x="958256" y="-44499"/>
                  <a:pt x="1008670" y="48004"/>
                  <a:pt x="1233928" y="0"/>
                </a:cubicBezTo>
                <a:cubicBezTo>
                  <a:pt x="1459186" y="-48004"/>
                  <a:pt x="1508066" y="21039"/>
                  <a:pt x="1671558" y="0"/>
                </a:cubicBezTo>
                <a:cubicBezTo>
                  <a:pt x="1835050" y="-21039"/>
                  <a:pt x="2039453" y="19843"/>
                  <a:pt x="2166271" y="0"/>
                </a:cubicBezTo>
                <a:cubicBezTo>
                  <a:pt x="2318659" y="-14084"/>
                  <a:pt x="2411339" y="115159"/>
                  <a:pt x="2429801" y="263530"/>
                </a:cubicBezTo>
                <a:cubicBezTo>
                  <a:pt x="2449323" y="465852"/>
                  <a:pt x="2414905" y="648516"/>
                  <a:pt x="2429801" y="790573"/>
                </a:cubicBezTo>
                <a:cubicBezTo>
                  <a:pt x="2444697" y="932630"/>
                  <a:pt x="2423114" y="1073230"/>
                  <a:pt x="2429801" y="1317616"/>
                </a:cubicBezTo>
                <a:cubicBezTo>
                  <a:pt x="2467604" y="1472249"/>
                  <a:pt x="2275425" y="1575260"/>
                  <a:pt x="2166271" y="1581146"/>
                </a:cubicBezTo>
                <a:cubicBezTo>
                  <a:pt x="1972574" y="1585939"/>
                  <a:pt x="1795443" y="1562731"/>
                  <a:pt x="1690586" y="1581146"/>
                </a:cubicBezTo>
                <a:cubicBezTo>
                  <a:pt x="1585729" y="1599561"/>
                  <a:pt x="1344212" y="1531970"/>
                  <a:pt x="1233928" y="1581146"/>
                </a:cubicBezTo>
                <a:cubicBezTo>
                  <a:pt x="1123644" y="1630322"/>
                  <a:pt x="914095" y="1560265"/>
                  <a:pt x="720188" y="1581146"/>
                </a:cubicBezTo>
                <a:cubicBezTo>
                  <a:pt x="526281" y="1602027"/>
                  <a:pt x="489966" y="1570022"/>
                  <a:pt x="263530" y="1581146"/>
                </a:cubicBezTo>
                <a:cubicBezTo>
                  <a:pt x="102330" y="1583717"/>
                  <a:pt x="-2596" y="1461369"/>
                  <a:pt x="0" y="1317616"/>
                </a:cubicBezTo>
                <a:cubicBezTo>
                  <a:pt x="-2046" y="1136802"/>
                  <a:pt x="15809" y="920656"/>
                  <a:pt x="0" y="780032"/>
                </a:cubicBezTo>
                <a:cubicBezTo>
                  <a:pt x="-15809" y="639408"/>
                  <a:pt x="57603" y="416281"/>
                  <a:pt x="0" y="263530"/>
                </a:cubicBezTo>
                <a:close/>
              </a:path>
            </a:pathLst>
          </a:custGeom>
          <a:solidFill>
            <a:schemeClr val="accent1">
              <a:alpha val="9000"/>
            </a:schemeClr>
          </a:solidFill>
          <a:ln>
            <a:solidFill>
              <a:schemeClr val="accent1">
                <a:shade val="15000"/>
                <a:shade val="90000"/>
                <a:alpha val="29000"/>
              </a:schemeClr>
            </a:solidFill>
            <a:extLst>
              <a:ext uri="{C807C97D-BFC1-408E-A445-0C87EB9F89A2}">
                <ask:lineSketchStyleProps xmlns:ask="http://schemas.microsoft.com/office/drawing/2018/sketchyshapes" sd="1219033472">
                  <a:prstGeom prst="round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Rounded Corners 12">
            <a:extLst>
              <a:ext uri="{FF2B5EF4-FFF2-40B4-BE49-F238E27FC236}">
                <a16:creationId xmlns:a16="http://schemas.microsoft.com/office/drawing/2014/main" id="{FFDC85F9-002D-08FE-E3B2-821750699333}"/>
              </a:ext>
            </a:extLst>
          </p:cNvPr>
          <p:cNvSpPr/>
          <p:nvPr/>
        </p:nvSpPr>
        <p:spPr>
          <a:xfrm>
            <a:off x="3497059" y="1478234"/>
            <a:ext cx="4312078" cy="1581146"/>
          </a:xfrm>
          <a:custGeom>
            <a:avLst/>
            <a:gdLst>
              <a:gd name="csX0" fmla="*/ 0 w 4312078"/>
              <a:gd name="csY0" fmla="*/ 263530 h 1581146"/>
              <a:gd name="csX1" fmla="*/ 263530 w 4312078"/>
              <a:gd name="csY1" fmla="*/ 0 h 1581146"/>
              <a:gd name="csX2" fmla="*/ 804247 w 4312078"/>
              <a:gd name="csY2" fmla="*/ 0 h 1581146"/>
              <a:gd name="csX3" fmla="*/ 1269263 w 4312078"/>
              <a:gd name="csY3" fmla="*/ 0 h 1581146"/>
              <a:gd name="csX4" fmla="*/ 1847830 w 4312078"/>
              <a:gd name="csY4" fmla="*/ 0 h 1581146"/>
              <a:gd name="csX5" fmla="*/ 2312847 w 4312078"/>
              <a:gd name="csY5" fmla="*/ 0 h 1581146"/>
              <a:gd name="csX6" fmla="*/ 2891414 w 4312078"/>
              <a:gd name="csY6" fmla="*/ 0 h 1581146"/>
              <a:gd name="csX7" fmla="*/ 3318580 w 4312078"/>
              <a:gd name="csY7" fmla="*/ 0 h 1581146"/>
              <a:gd name="csX8" fmla="*/ 4048548 w 4312078"/>
              <a:gd name="csY8" fmla="*/ 0 h 1581146"/>
              <a:gd name="csX9" fmla="*/ 4312078 w 4312078"/>
              <a:gd name="csY9" fmla="*/ 263530 h 1581146"/>
              <a:gd name="csX10" fmla="*/ 4312078 w 4312078"/>
              <a:gd name="csY10" fmla="*/ 790573 h 1581146"/>
              <a:gd name="csX11" fmla="*/ 4312078 w 4312078"/>
              <a:gd name="csY11" fmla="*/ 1317616 h 1581146"/>
              <a:gd name="csX12" fmla="*/ 4048548 w 4312078"/>
              <a:gd name="csY12" fmla="*/ 1581146 h 1581146"/>
              <a:gd name="csX13" fmla="*/ 3583532 w 4312078"/>
              <a:gd name="csY13" fmla="*/ 1581146 h 1581146"/>
              <a:gd name="csX14" fmla="*/ 3080665 w 4312078"/>
              <a:gd name="csY14" fmla="*/ 1581146 h 1581146"/>
              <a:gd name="csX15" fmla="*/ 2539948 w 4312078"/>
              <a:gd name="csY15" fmla="*/ 1581146 h 1581146"/>
              <a:gd name="csX16" fmla="*/ 2074931 w 4312078"/>
              <a:gd name="csY16" fmla="*/ 1581146 h 1581146"/>
              <a:gd name="csX17" fmla="*/ 1458514 w 4312078"/>
              <a:gd name="csY17" fmla="*/ 1581146 h 1581146"/>
              <a:gd name="csX18" fmla="*/ 917797 w 4312078"/>
              <a:gd name="csY18" fmla="*/ 1581146 h 1581146"/>
              <a:gd name="csX19" fmla="*/ 263530 w 4312078"/>
              <a:gd name="csY19" fmla="*/ 1581146 h 1581146"/>
              <a:gd name="csX20" fmla="*/ 0 w 4312078"/>
              <a:gd name="csY20" fmla="*/ 1317616 h 1581146"/>
              <a:gd name="csX21" fmla="*/ 0 w 4312078"/>
              <a:gd name="csY21" fmla="*/ 769491 h 1581146"/>
              <a:gd name="csX22" fmla="*/ 0 w 4312078"/>
              <a:gd name="csY22" fmla="*/ 263530 h 15811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4312078" h="1581146" fill="none" extrusionOk="0">
                <a:moveTo>
                  <a:pt x="0" y="263530"/>
                </a:moveTo>
                <a:cubicBezTo>
                  <a:pt x="-10343" y="117401"/>
                  <a:pt x="134434" y="14161"/>
                  <a:pt x="263530" y="0"/>
                </a:cubicBezTo>
                <a:cubicBezTo>
                  <a:pt x="439576" y="-39317"/>
                  <a:pt x="596337" y="38401"/>
                  <a:pt x="804247" y="0"/>
                </a:cubicBezTo>
                <a:cubicBezTo>
                  <a:pt x="1012157" y="-38401"/>
                  <a:pt x="1084407" y="23255"/>
                  <a:pt x="1269263" y="0"/>
                </a:cubicBezTo>
                <a:cubicBezTo>
                  <a:pt x="1454119" y="-23255"/>
                  <a:pt x="1574820" y="46388"/>
                  <a:pt x="1847830" y="0"/>
                </a:cubicBezTo>
                <a:cubicBezTo>
                  <a:pt x="2120840" y="-46388"/>
                  <a:pt x="2113343" y="27828"/>
                  <a:pt x="2312847" y="0"/>
                </a:cubicBezTo>
                <a:cubicBezTo>
                  <a:pt x="2512351" y="-27828"/>
                  <a:pt x="2695888" y="12562"/>
                  <a:pt x="2891414" y="0"/>
                </a:cubicBezTo>
                <a:cubicBezTo>
                  <a:pt x="3086940" y="-12562"/>
                  <a:pt x="3165899" y="50047"/>
                  <a:pt x="3318580" y="0"/>
                </a:cubicBezTo>
                <a:cubicBezTo>
                  <a:pt x="3471261" y="-50047"/>
                  <a:pt x="3902195" y="58490"/>
                  <a:pt x="4048548" y="0"/>
                </a:cubicBezTo>
                <a:cubicBezTo>
                  <a:pt x="4209995" y="14747"/>
                  <a:pt x="4343948" y="98931"/>
                  <a:pt x="4312078" y="263530"/>
                </a:cubicBezTo>
                <a:cubicBezTo>
                  <a:pt x="4366742" y="411526"/>
                  <a:pt x="4261290" y="572056"/>
                  <a:pt x="4312078" y="790573"/>
                </a:cubicBezTo>
                <a:cubicBezTo>
                  <a:pt x="4362866" y="1009090"/>
                  <a:pt x="4278396" y="1143228"/>
                  <a:pt x="4312078" y="1317616"/>
                </a:cubicBezTo>
                <a:cubicBezTo>
                  <a:pt x="4331349" y="1458059"/>
                  <a:pt x="4189238" y="1614769"/>
                  <a:pt x="4048548" y="1581146"/>
                </a:cubicBezTo>
                <a:cubicBezTo>
                  <a:pt x="3933329" y="1594928"/>
                  <a:pt x="3725680" y="1556828"/>
                  <a:pt x="3583532" y="1581146"/>
                </a:cubicBezTo>
                <a:cubicBezTo>
                  <a:pt x="3441384" y="1605464"/>
                  <a:pt x="3267250" y="1539671"/>
                  <a:pt x="3080665" y="1581146"/>
                </a:cubicBezTo>
                <a:cubicBezTo>
                  <a:pt x="2894080" y="1622621"/>
                  <a:pt x="2701167" y="1549004"/>
                  <a:pt x="2539948" y="1581146"/>
                </a:cubicBezTo>
                <a:cubicBezTo>
                  <a:pt x="2378729" y="1613288"/>
                  <a:pt x="2250351" y="1556367"/>
                  <a:pt x="2074931" y="1581146"/>
                </a:cubicBezTo>
                <a:cubicBezTo>
                  <a:pt x="1899511" y="1605925"/>
                  <a:pt x="1659189" y="1511330"/>
                  <a:pt x="1458514" y="1581146"/>
                </a:cubicBezTo>
                <a:cubicBezTo>
                  <a:pt x="1257839" y="1650962"/>
                  <a:pt x="1187627" y="1523223"/>
                  <a:pt x="917797" y="1581146"/>
                </a:cubicBezTo>
                <a:cubicBezTo>
                  <a:pt x="647967" y="1639069"/>
                  <a:pt x="552695" y="1527576"/>
                  <a:pt x="263530" y="1581146"/>
                </a:cubicBezTo>
                <a:cubicBezTo>
                  <a:pt x="115461" y="1578258"/>
                  <a:pt x="28741" y="1432062"/>
                  <a:pt x="0" y="1317616"/>
                </a:cubicBezTo>
                <a:cubicBezTo>
                  <a:pt x="-31163" y="1135859"/>
                  <a:pt x="58040" y="1009642"/>
                  <a:pt x="0" y="769491"/>
                </a:cubicBezTo>
                <a:cubicBezTo>
                  <a:pt x="-58040" y="529341"/>
                  <a:pt x="44533" y="456269"/>
                  <a:pt x="0" y="263530"/>
                </a:cubicBezTo>
                <a:close/>
              </a:path>
              <a:path w="4312078" h="1581146" stroke="0" extrusionOk="0">
                <a:moveTo>
                  <a:pt x="0" y="263530"/>
                </a:moveTo>
                <a:cubicBezTo>
                  <a:pt x="-10382" y="111582"/>
                  <a:pt x="98506" y="7311"/>
                  <a:pt x="263530" y="0"/>
                </a:cubicBezTo>
                <a:cubicBezTo>
                  <a:pt x="526561" y="-41998"/>
                  <a:pt x="708052" y="54024"/>
                  <a:pt x="879947" y="0"/>
                </a:cubicBezTo>
                <a:cubicBezTo>
                  <a:pt x="1051842" y="-54024"/>
                  <a:pt x="1264468" y="57027"/>
                  <a:pt x="1382814" y="0"/>
                </a:cubicBezTo>
                <a:cubicBezTo>
                  <a:pt x="1501160" y="-57027"/>
                  <a:pt x="1702694" y="46570"/>
                  <a:pt x="1847830" y="0"/>
                </a:cubicBezTo>
                <a:cubicBezTo>
                  <a:pt x="1992966" y="-46570"/>
                  <a:pt x="2270552" y="4575"/>
                  <a:pt x="2426397" y="0"/>
                </a:cubicBezTo>
                <a:cubicBezTo>
                  <a:pt x="2582242" y="-4575"/>
                  <a:pt x="2773376" y="27767"/>
                  <a:pt x="2929264" y="0"/>
                </a:cubicBezTo>
                <a:cubicBezTo>
                  <a:pt x="3085152" y="-27767"/>
                  <a:pt x="3315624" y="51042"/>
                  <a:pt x="3545681" y="0"/>
                </a:cubicBezTo>
                <a:cubicBezTo>
                  <a:pt x="3775738" y="-51042"/>
                  <a:pt x="3812654" y="5041"/>
                  <a:pt x="4048548" y="0"/>
                </a:cubicBezTo>
                <a:cubicBezTo>
                  <a:pt x="4183043" y="18278"/>
                  <a:pt x="4287199" y="89130"/>
                  <a:pt x="4312078" y="263530"/>
                </a:cubicBezTo>
                <a:cubicBezTo>
                  <a:pt x="4323742" y="509026"/>
                  <a:pt x="4276791" y="569873"/>
                  <a:pt x="4312078" y="769491"/>
                </a:cubicBezTo>
                <a:cubicBezTo>
                  <a:pt x="4347365" y="969109"/>
                  <a:pt x="4285469" y="1193768"/>
                  <a:pt x="4312078" y="1317616"/>
                </a:cubicBezTo>
                <a:cubicBezTo>
                  <a:pt x="4333428" y="1442062"/>
                  <a:pt x="4209673" y="1571099"/>
                  <a:pt x="4048548" y="1581146"/>
                </a:cubicBezTo>
                <a:cubicBezTo>
                  <a:pt x="3897768" y="1590369"/>
                  <a:pt x="3652539" y="1553792"/>
                  <a:pt x="3507831" y="1581146"/>
                </a:cubicBezTo>
                <a:cubicBezTo>
                  <a:pt x="3363123" y="1608500"/>
                  <a:pt x="3145805" y="1578332"/>
                  <a:pt x="3042815" y="1581146"/>
                </a:cubicBezTo>
                <a:cubicBezTo>
                  <a:pt x="2939825" y="1583960"/>
                  <a:pt x="2625804" y="1570438"/>
                  <a:pt x="2502098" y="1581146"/>
                </a:cubicBezTo>
                <a:cubicBezTo>
                  <a:pt x="2378392" y="1591854"/>
                  <a:pt x="2036314" y="1552824"/>
                  <a:pt x="1885681" y="1581146"/>
                </a:cubicBezTo>
                <a:cubicBezTo>
                  <a:pt x="1735048" y="1609468"/>
                  <a:pt x="1479961" y="1573199"/>
                  <a:pt x="1344964" y="1581146"/>
                </a:cubicBezTo>
                <a:cubicBezTo>
                  <a:pt x="1209967" y="1589093"/>
                  <a:pt x="1008234" y="1545472"/>
                  <a:pt x="917797" y="1581146"/>
                </a:cubicBezTo>
                <a:cubicBezTo>
                  <a:pt x="827360" y="1616820"/>
                  <a:pt x="577354" y="1532186"/>
                  <a:pt x="263530" y="1581146"/>
                </a:cubicBezTo>
                <a:cubicBezTo>
                  <a:pt x="139556" y="1568351"/>
                  <a:pt x="-14915" y="1486839"/>
                  <a:pt x="0" y="1317616"/>
                </a:cubicBezTo>
                <a:cubicBezTo>
                  <a:pt x="-1241" y="1131579"/>
                  <a:pt x="48676" y="1050162"/>
                  <a:pt x="0" y="801114"/>
                </a:cubicBezTo>
                <a:cubicBezTo>
                  <a:pt x="-48676" y="552066"/>
                  <a:pt x="1422" y="427008"/>
                  <a:pt x="0" y="263530"/>
                </a:cubicBezTo>
                <a:close/>
              </a:path>
            </a:pathLst>
          </a:custGeom>
          <a:solidFill>
            <a:srgbClr val="00B0F0">
              <a:alpha val="9000"/>
            </a:srgbClr>
          </a:solidFill>
          <a:ln>
            <a:solidFill>
              <a:schemeClr val="accent1">
                <a:shade val="15000"/>
                <a:shade val="90000"/>
                <a:alpha val="29000"/>
              </a:schemeClr>
            </a:solidFill>
            <a:extLst>
              <a:ext uri="{C807C97D-BFC1-408E-A445-0C87EB9F89A2}">
                <ask:lineSketchStyleProps xmlns:ask="http://schemas.microsoft.com/office/drawing/2018/sketchyshapes" sd="1219033472">
                  <a:prstGeom prst="round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Arrow: Right 13">
            <a:extLst>
              <a:ext uri="{FF2B5EF4-FFF2-40B4-BE49-F238E27FC236}">
                <a16:creationId xmlns:a16="http://schemas.microsoft.com/office/drawing/2014/main" id="{DD2D4213-BAAE-ECD7-8544-B12129CFF33C}"/>
              </a:ext>
            </a:extLst>
          </p:cNvPr>
          <p:cNvSpPr/>
          <p:nvPr/>
        </p:nvSpPr>
        <p:spPr>
          <a:xfrm>
            <a:off x="8002597" y="2094146"/>
            <a:ext cx="421241" cy="34932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5" name="Group 14">
            <a:extLst>
              <a:ext uri="{FF2B5EF4-FFF2-40B4-BE49-F238E27FC236}">
                <a16:creationId xmlns:a16="http://schemas.microsoft.com/office/drawing/2014/main" id="{94A1C2A7-C587-2FBB-7C5E-5AFE01781F81}"/>
              </a:ext>
            </a:extLst>
          </p:cNvPr>
          <p:cNvGrpSpPr/>
          <p:nvPr/>
        </p:nvGrpSpPr>
        <p:grpSpPr>
          <a:xfrm>
            <a:off x="8482370" y="1698598"/>
            <a:ext cx="2760503" cy="1199006"/>
            <a:chOff x="3280528" y="1635765"/>
            <a:chExt cx="4392023" cy="1793399"/>
          </a:xfrm>
        </p:grpSpPr>
        <p:cxnSp>
          <p:nvCxnSpPr>
            <p:cNvPr id="16" name="Straight Connector 15">
              <a:extLst>
                <a:ext uri="{FF2B5EF4-FFF2-40B4-BE49-F238E27FC236}">
                  <a16:creationId xmlns:a16="http://schemas.microsoft.com/office/drawing/2014/main" id="{DDAE0124-EF71-CCE6-F063-F9BAAE289C91}"/>
                </a:ext>
              </a:extLst>
            </p:cNvPr>
            <p:cNvCxnSpPr/>
            <p:nvPr/>
          </p:nvCxnSpPr>
          <p:spPr>
            <a:xfrm>
              <a:off x="3280528" y="2639505"/>
              <a:ext cx="343135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E8B2D8DB-E0B9-CB84-0346-555095A78AA2}"/>
                    </a:ext>
                  </a:extLst>
                </p:cNvPr>
                <p:cNvSpPr txBox="1"/>
                <p:nvPr/>
              </p:nvSpPr>
              <p:spPr>
                <a:xfrm>
                  <a:off x="4774029" y="2639505"/>
                  <a:ext cx="523345" cy="4603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p:txBody>
            </p:sp>
          </mc:Choice>
          <mc:Fallback xmlns="">
            <p:sp>
              <p:nvSpPr>
                <p:cNvPr id="17" name="TextBox 16">
                  <a:extLst>
                    <a:ext uri="{FF2B5EF4-FFF2-40B4-BE49-F238E27FC236}">
                      <a16:creationId xmlns:a16="http://schemas.microsoft.com/office/drawing/2014/main" id="{E8B2D8DB-E0B9-CB84-0346-555095A78AA2}"/>
                    </a:ext>
                  </a:extLst>
                </p:cNvPr>
                <p:cNvSpPr txBox="1">
                  <a:spLocks noRot="1" noChangeAspect="1" noMove="1" noResize="1" noEditPoints="1" noAdjustHandles="1" noChangeArrowheads="1" noChangeShapeType="1" noTextEdit="1"/>
                </p:cNvSpPr>
                <p:nvPr/>
              </p:nvSpPr>
              <p:spPr>
                <a:xfrm>
                  <a:off x="4774029" y="2639505"/>
                  <a:ext cx="523345" cy="460354"/>
                </a:xfrm>
                <a:prstGeom prst="rect">
                  <a:avLst/>
                </a:prstGeom>
                <a:blipFill>
                  <a:blip r:embed="rId6"/>
                  <a:stretch>
                    <a:fillRect/>
                  </a:stretch>
                </a:blipFill>
              </p:spPr>
              <p:txBody>
                <a:bodyPr/>
                <a:lstStyle/>
                <a:p>
                  <a:r>
                    <a:rPr lang="en-IN">
                      <a:noFill/>
                    </a:rPr>
                    <a:t> </a:t>
                  </a:r>
                </a:p>
              </p:txBody>
            </p:sp>
          </mc:Fallback>
        </mc:AlternateContent>
        <p:sp>
          <p:nvSpPr>
            <p:cNvPr id="18" name="Rectangle 17">
              <a:extLst>
                <a:ext uri="{FF2B5EF4-FFF2-40B4-BE49-F238E27FC236}">
                  <a16:creationId xmlns:a16="http://schemas.microsoft.com/office/drawing/2014/main" id="{CA9950E6-9F49-F89F-D5F2-C2724827EF76}"/>
                </a:ext>
              </a:extLst>
            </p:cNvPr>
            <p:cNvSpPr/>
            <p:nvPr/>
          </p:nvSpPr>
          <p:spPr>
            <a:xfrm>
              <a:off x="3280528" y="2300140"/>
              <a:ext cx="3431357" cy="339363"/>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D5E64926-7D5E-E129-95C0-3D6077C6BB36}"/>
                </a:ext>
              </a:extLst>
            </p:cNvPr>
            <p:cNvCxnSpPr/>
            <p:nvPr/>
          </p:nvCxnSpPr>
          <p:spPr>
            <a:xfrm>
              <a:off x="3280528" y="2149311"/>
              <a:ext cx="1706251" cy="0"/>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54400524-5AA8-6733-9387-508233DE9493}"/>
                </a:ext>
              </a:extLst>
            </p:cNvPr>
            <p:cNvCxnSpPr/>
            <p:nvPr/>
          </p:nvCxnSpPr>
          <p:spPr>
            <a:xfrm>
              <a:off x="5005634" y="2149311"/>
              <a:ext cx="1706251" cy="0"/>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597647C-0F46-A7FA-7924-416B0324A470}"/>
                    </a:ext>
                  </a:extLst>
                </p:cNvPr>
                <p:cNvSpPr txBox="1"/>
                <p:nvPr/>
              </p:nvSpPr>
              <p:spPr>
                <a:xfrm>
                  <a:off x="3912124" y="1635766"/>
                  <a:ext cx="647193" cy="4603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𝐺</m:t>
                            </m:r>
                          </m:e>
                          <m:sub>
                            <m:r>
                              <a:rPr lang="en-US" sz="1400" b="0" i="1" smtClean="0">
                                <a:latin typeface="Cambria Math" panose="02040503050406030204" pitchFamily="18" charset="0"/>
                              </a:rPr>
                              <m:t>𝑡</m:t>
                            </m:r>
                          </m:sub>
                        </m:sSub>
                      </m:oMath>
                    </m:oMathPara>
                  </a14:m>
                  <a:endParaRPr lang="en-US" sz="1400" dirty="0"/>
                </a:p>
              </p:txBody>
            </p:sp>
          </mc:Choice>
          <mc:Fallback xmlns="">
            <p:sp>
              <p:nvSpPr>
                <p:cNvPr id="24" name="TextBox 23">
                  <a:extLst>
                    <a:ext uri="{FF2B5EF4-FFF2-40B4-BE49-F238E27FC236}">
                      <a16:creationId xmlns:a16="http://schemas.microsoft.com/office/drawing/2014/main" id="{A597647C-0F46-A7FA-7924-416B0324A470}"/>
                    </a:ext>
                  </a:extLst>
                </p:cNvPr>
                <p:cNvSpPr txBox="1">
                  <a:spLocks noRot="1" noChangeAspect="1" noMove="1" noResize="1" noEditPoints="1" noAdjustHandles="1" noChangeArrowheads="1" noChangeShapeType="1" noTextEdit="1"/>
                </p:cNvSpPr>
                <p:nvPr/>
              </p:nvSpPr>
              <p:spPr>
                <a:xfrm>
                  <a:off x="3912124" y="1635766"/>
                  <a:ext cx="647193" cy="460354"/>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D5E4425E-0623-DF00-2C60-5DAFC8AE31E4}"/>
                    </a:ext>
                  </a:extLst>
                </p:cNvPr>
                <p:cNvSpPr txBox="1"/>
                <p:nvPr/>
              </p:nvSpPr>
              <p:spPr>
                <a:xfrm>
                  <a:off x="5564736" y="1635765"/>
                  <a:ext cx="647193" cy="4603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𝐺</m:t>
                            </m:r>
                          </m:e>
                          <m:sub>
                            <m:r>
                              <a:rPr lang="en-US" sz="1400" b="0" i="1" smtClean="0">
                                <a:latin typeface="Cambria Math" panose="02040503050406030204" pitchFamily="18" charset="0"/>
                              </a:rPr>
                              <m:t>𝑡</m:t>
                            </m:r>
                          </m:sub>
                        </m:sSub>
                      </m:oMath>
                    </m:oMathPara>
                  </a14:m>
                  <a:endParaRPr lang="en-US" sz="1400" dirty="0"/>
                </a:p>
              </p:txBody>
            </p:sp>
          </mc:Choice>
          <mc:Fallback xmlns="">
            <p:sp>
              <p:nvSpPr>
                <p:cNvPr id="25" name="TextBox 24">
                  <a:extLst>
                    <a:ext uri="{FF2B5EF4-FFF2-40B4-BE49-F238E27FC236}">
                      <a16:creationId xmlns:a16="http://schemas.microsoft.com/office/drawing/2014/main" id="{D5E4425E-0623-DF00-2C60-5DAFC8AE31E4}"/>
                    </a:ext>
                  </a:extLst>
                </p:cNvPr>
                <p:cNvSpPr txBox="1">
                  <a:spLocks noRot="1" noChangeAspect="1" noMove="1" noResize="1" noEditPoints="1" noAdjustHandles="1" noChangeArrowheads="1" noChangeShapeType="1" noTextEdit="1"/>
                </p:cNvSpPr>
                <p:nvPr/>
              </p:nvSpPr>
              <p:spPr>
                <a:xfrm>
                  <a:off x="5564736" y="1635765"/>
                  <a:ext cx="647193" cy="460354"/>
                </a:xfrm>
                <a:prstGeom prst="rect">
                  <a:avLst/>
                </a:prstGeom>
                <a:blipFill>
                  <a:blip r:embed="rId8"/>
                  <a:stretch>
                    <a:fillRect/>
                  </a:stretch>
                </a:blipFill>
              </p:spPr>
              <p:txBody>
                <a:bodyPr/>
                <a:lstStyle/>
                <a:p>
                  <a:r>
                    <a:rPr lang="en-IN">
                      <a:noFill/>
                    </a:rPr>
                    <a:t> </a:t>
                  </a:r>
                </a:p>
              </p:txBody>
            </p:sp>
          </mc:Fallback>
        </mc:AlternateContent>
        <p:cxnSp>
          <p:nvCxnSpPr>
            <p:cNvPr id="27" name="Straight Arrow Connector 26">
              <a:extLst>
                <a:ext uri="{FF2B5EF4-FFF2-40B4-BE49-F238E27FC236}">
                  <a16:creationId xmlns:a16="http://schemas.microsoft.com/office/drawing/2014/main" id="{B46E9013-48B5-15F7-5FA4-2CD7C4658AF8}"/>
                </a:ext>
              </a:extLst>
            </p:cNvPr>
            <p:cNvCxnSpPr>
              <a:cxnSpLocks/>
            </p:cNvCxnSpPr>
            <p:nvPr/>
          </p:nvCxnSpPr>
          <p:spPr>
            <a:xfrm>
              <a:off x="5924650" y="2521228"/>
              <a:ext cx="451394" cy="41590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43C92444-2BAE-CD7A-EBD9-189D83F53763}"/>
                    </a:ext>
                  </a:extLst>
                </p:cNvPr>
                <p:cNvSpPr txBox="1"/>
                <p:nvPr/>
              </p:nvSpPr>
              <p:spPr>
                <a:xfrm>
                  <a:off x="4751306" y="2968810"/>
                  <a:ext cx="2921245" cy="460354"/>
                </a:xfrm>
                <a:prstGeom prst="rect">
                  <a:avLst/>
                </a:prstGeom>
                <a:noFill/>
              </p:spPr>
              <p:txBody>
                <a:bodyPr wrap="none" rtlCol="0">
                  <a:spAutoFit/>
                </a:bodyPr>
                <a:lstStyle/>
                <a:p>
                  <a:r>
                    <a:rPr lang="en-US" sz="1400" dirty="0"/>
                    <a:t>Typical region for </a:t>
                  </a:r>
                  <a14:m>
                    <m:oMath xmlns:m="http://schemas.openxmlformats.org/officeDocument/2006/math">
                      <m:sSub>
                        <m:sSubPr>
                          <m:ctrlPr>
                            <a:rPr lang="en-US" sz="1400" b="0" i="1" dirty="0" smtClean="0">
                              <a:latin typeface="Cambria Math" panose="02040503050406030204" pitchFamily="18" charset="0"/>
                            </a:rPr>
                          </m:ctrlPr>
                        </m:sSubPr>
                        <m:e>
                          <m:acc>
                            <m:accPr>
                              <m:chr m:val="̂"/>
                              <m:ctrlPr>
                                <a:rPr lang="en-US" sz="1400" b="0" i="1" smtClean="0">
                                  <a:latin typeface="Cambria Math" panose="02040503050406030204" pitchFamily="18" charset="0"/>
                                </a:rPr>
                              </m:ctrlPr>
                            </m:accPr>
                            <m:e>
                              <m:r>
                                <a:rPr lang="en-US" sz="1400" b="0" i="1" smtClean="0">
                                  <a:latin typeface="Cambria Math" panose="02040503050406030204" pitchFamily="18" charset="0"/>
                                </a:rPr>
                                <m:t>𝑟</m:t>
                              </m:r>
                            </m:e>
                          </m:acc>
                        </m:e>
                        <m:sub>
                          <m:r>
                            <a:rPr lang="en-US" sz="1400" b="0" i="1" dirty="0" smtClean="0">
                              <a:latin typeface="Cambria Math" panose="02040503050406030204" pitchFamily="18" charset="0"/>
                            </a:rPr>
                            <m:t>𝑡</m:t>
                          </m:r>
                        </m:sub>
                      </m:sSub>
                    </m:oMath>
                  </a14:m>
                  <a:endParaRPr lang="en-US" sz="1400" dirty="0"/>
                </a:p>
              </p:txBody>
            </p:sp>
          </mc:Choice>
          <mc:Fallback xmlns="">
            <p:sp>
              <p:nvSpPr>
                <p:cNvPr id="28" name="TextBox 27">
                  <a:extLst>
                    <a:ext uri="{FF2B5EF4-FFF2-40B4-BE49-F238E27FC236}">
                      <a16:creationId xmlns:a16="http://schemas.microsoft.com/office/drawing/2014/main" id="{43C92444-2BAE-CD7A-EBD9-189D83F53763}"/>
                    </a:ext>
                  </a:extLst>
                </p:cNvPr>
                <p:cNvSpPr txBox="1">
                  <a:spLocks noRot="1" noChangeAspect="1" noMove="1" noResize="1" noEditPoints="1" noAdjustHandles="1" noChangeArrowheads="1" noChangeShapeType="1" noTextEdit="1"/>
                </p:cNvSpPr>
                <p:nvPr/>
              </p:nvSpPr>
              <p:spPr>
                <a:xfrm>
                  <a:off x="4751306" y="2968810"/>
                  <a:ext cx="2921245" cy="460354"/>
                </a:xfrm>
                <a:prstGeom prst="rect">
                  <a:avLst/>
                </a:prstGeom>
                <a:blipFill>
                  <a:blip r:embed="rId9"/>
                  <a:stretch>
                    <a:fillRect l="-997" t="-4000" r="-6645" b="-20000"/>
                  </a:stretch>
                </a:blipFill>
              </p:spPr>
              <p:txBody>
                <a:bodyPr/>
                <a:lstStyle/>
                <a:p>
                  <a:r>
                    <a:rPr lang="en-IN">
                      <a:noFill/>
                    </a:rPr>
                    <a:t> </a:t>
                  </a:r>
                </a:p>
              </p:txBody>
            </p:sp>
          </mc:Fallback>
        </mc:AlternateContent>
      </p:gr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1F970225-0113-37BE-F6FF-7E9753EA9DE7}"/>
                  </a:ext>
                </a:extLst>
              </p:cNvPr>
              <p:cNvSpPr txBox="1"/>
              <p:nvPr/>
            </p:nvSpPr>
            <p:spPr>
              <a:xfrm>
                <a:off x="2456340" y="3293789"/>
                <a:ext cx="6118260" cy="88505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1600" i="1">
                              <a:latin typeface="Cambria Math" panose="02040503050406030204" pitchFamily="18" charset="0"/>
                            </a:rPr>
                          </m:ctrlPr>
                        </m:dPr>
                        <m:e>
                          <m:sSub>
                            <m:sSubPr>
                              <m:ctrlPr>
                                <a:rPr lang="en-US" sz="1600" i="1">
                                  <a:latin typeface="Cambria Math" panose="02040503050406030204" pitchFamily="18" charset="0"/>
                                </a:rPr>
                              </m:ctrlPr>
                            </m:sSubPr>
                            <m:e>
                              <m:acc>
                                <m:accPr>
                                  <m:chr m:val="̂"/>
                                  <m:ctrlPr>
                                    <a:rPr lang="en-US" sz="1600" i="1">
                                      <a:latin typeface="Cambria Math" panose="02040503050406030204" pitchFamily="18" charset="0"/>
                                    </a:rPr>
                                  </m:ctrlPr>
                                </m:accPr>
                                <m:e>
                                  <m:r>
                                    <a:rPr lang="en-US" sz="1600" i="1">
                                      <a:latin typeface="Cambria Math" panose="02040503050406030204" pitchFamily="18" charset="0"/>
                                    </a:rPr>
                                    <m:t>𝑟</m:t>
                                  </m:r>
                                </m:e>
                              </m:acc>
                            </m:e>
                            <m:sub>
                              <m:r>
                                <a:rPr lang="en-US" sz="1600" i="1">
                                  <a:latin typeface="Cambria Math" panose="02040503050406030204" pitchFamily="18" charset="0"/>
                                </a:rPr>
                                <m:t>𝑡</m:t>
                              </m:r>
                            </m:sub>
                          </m:sSub>
                          <m:r>
                            <a:rPr lang="en-US" sz="1600" i="1">
                              <a:latin typeface="Cambria Math" panose="02040503050406030204" pitchFamily="18" charset="0"/>
                            </a:rPr>
                            <m:t>−</m:t>
                          </m:r>
                          <m:r>
                            <a:rPr lang="en-US" sz="1600" i="1">
                              <a:latin typeface="Cambria Math" panose="02040503050406030204" pitchFamily="18" charset="0"/>
                            </a:rPr>
                            <m:t>𝑅</m:t>
                          </m:r>
                          <m:d>
                            <m:dPr>
                              <m:ctrlPr>
                                <a:rPr lang="en-US" sz="1600" i="1">
                                  <a:latin typeface="Cambria Math" panose="02040503050406030204" pitchFamily="18" charset="0"/>
                                </a:rPr>
                              </m:ctrlPr>
                            </m:dPr>
                            <m:e>
                              <m:sSub>
                                <m:sSubPr>
                                  <m:ctrlPr>
                                    <a:rPr lang="en-US" sz="1600" i="1">
                                      <a:latin typeface="Cambria Math" panose="02040503050406030204" pitchFamily="18" charset="0"/>
                                    </a:rPr>
                                  </m:ctrlPr>
                                </m:sSubPr>
                                <m:e>
                                  <m:r>
                                    <a:rPr lang="en-US" sz="1600" i="1">
                                      <a:latin typeface="Cambria Math" panose="02040503050406030204" pitchFamily="18" charset="0"/>
                                    </a:rPr>
                                    <m:t>𝑠</m:t>
                                  </m:r>
                                </m:e>
                                <m:sub>
                                  <m:r>
                                    <a:rPr lang="en-US" sz="1600" i="1">
                                      <a:latin typeface="Cambria Math" panose="02040503050406030204" pitchFamily="18" charset="0"/>
                                    </a:rPr>
                                    <m:t>𝑡</m:t>
                                  </m:r>
                                </m:sub>
                              </m:sSub>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𝑎</m:t>
                                  </m:r>
                                </m:e>
                                <m:sub>
                                  <m:r>
                                    <a:rPr lang="en-US" sz="1600" i="1">
                                      <a:latin typeface="Cambria Math" panose="02040503050406030204" pitchFamily="18" charset="0"/>
                                    </a:rPr>
                                    <m:t>𝑡</m:t>
                                  </m:r>
                                </m:sub>
                              </m:sSub>
                            </m:e>
                          </m:d>
                        </m:e>
                      </m:d>
                      <m:r>
                        <a:rPr lang="en-US" sz="1600" i="1">
                          <a:latin typeface="Cambria Math" panose="02040503050406030204" pitchFamily="18" charset="0"/>
                        </a:rPr>
                        <m:t>≤</m:t>
                      </m:r>
                      <m:r>
                        <a:rPr lang="en-US" sz="1600" i="1">
                          <a:latin typeface="Cambria Math" panose="02040503050406030204" pitchFamily="18" charset="0"/>
                        </a:rPr>
                        <m:t>𝑐</m:t>
                      </m:r>
                      <m:acc>
                        <m:accPr>
                          <m:chr m:val="̅"/>
                          <m:ctrlPr>
                            <a:rPr lang="en-US" sz="1600" i="1" smtClean="0">
                              <a:solidFill>
                                <a:srgbClr val="11651F"/>
                              </a:solidFill>
                              <a:latin typeface="Cambria Math" panose="02040503050406030204" pitchFamily="18" charset="0"/>
                            </a:rPr>
                          </m:ctrlPr>
                        </m:accPr>
                        <m:e>
                          <m:r>
                            <a:rPr lang="en-US" sz="1600" i="1">
                              <a:solidFill>
                                <a:srgbClr val="11651F"/>
                              </a:solidFill>
                              <a:latin typeface="Cambria Math" panose="02040503050406030204" pitchFamily="18" charset="0"/>
                            </a:rPr>
                            <m:t>𝜎</m:t>
                          </m:r>
                        </m:e>
                      </m:acc>
                      <m:d>
                        <m:dPr>
                          <m:ctrlPr>
                            <a:rPr lang="en-US" sz="1600" i="1">
                              <a:latin typeface="Cambria Math" panose="02040503050406030204" pitchFamily="18" charset="0"/>
                            </a:rPr>
                          </m:ctrlPr>
                        </m:dPr>
                        <m:e>
                          <m:rad>
                            <m:radPr>
                              <m:degHide m:val="on"/>
                              <m:ctrlPr>
                                <a:rPr lang="en-US" sz="1600" i="1">
                                  <a:latin typeface="Cambria Math" panose="02040503050406030204" pitchFamily="18" charset="0"/>
                                </a:rPr>
                              </m:ctrlPr>
                            </m:radPr>
                            <m:deg/>
                            <m:e>
                              <m:f>
                                <m:fPr>
                                  <m:ctrlPr>
                                    <a:rPr lang="en-US" sz="1600" i="1">
                                      <a:latin typeface="Cambria Math" panose="02040503050406030204" pitchFamily="18" charset="0"/>
                                    </a:rPr>
                                  </m:ctrlPr>
                                </m:fPr>
                                <m:num>
                                  <m:func>
                                    <m:funcPr>
                                      <m:ctrlPr>
                                        <a:rPr lang="en-US" sz="1600" i="1">
                                          <a:latin typeface="Cambria Math" panose="02040503050406030204" pitchFamily="18" charset="0"/>
                                        </a:rPr>
                                      </m:ctrlPr>
                                    </m:funcPr>
                                    <m:fName>
                                      <m:r>
                                        <m:rPr>
                                          <m:sty m:val="p"/>
                                        </m:rPr>
                                        <a:rPr lang="en-US" sz="1600">
                                          <a:latin typeface="Cambria Math" panose="02040503050406030204" pitchFamily="18" charset="0"/>
                                        </a:rPr>
                                        <m:t>log</m:t>
                                      </m:r>
                                    </m:fName>
                                    <m:e>
                                      <m:d>
                                        <m:dPr>
                                          <m:ctrlPr>
                                            <a:rPr lang="en-US" sz="1600" i="1">
                                              <a:latin typeface="Cambria Math" panose="02040503050406030204" pitchFamily="18" charset="0"/>
                                            </a:rPr>
                                          </m:ctrlPr>
                                        </m:dPr>
                                        <m:e>
                                          <m:f>
                                            <m:fPr>
                                              <m:ctrlPr>
                                                <a:rPr lang="en-US" sz="1600" i="1">
                                                  <a:latin typeface="Cambria Math" panose="02040503050406030204" pitchFamily="18" charset="0"/>
                                                </a:rPr>
                                              </m:ctrlPr>
                                            </m:fPr>
                                            <m:num>
                                              <m:r>
                                                <a:rPr lang="en-US" sz="1600" i="1">
                                                  <a:latin typeface="Cambria Math" panose="02040503050406030204" pitchFamily="18" charset="0"/>
                                                </a:rPr>
                                                <m:t>1</m:t>
                                              </m:r>
                                            </m:num>
                                            <m:den>
                                              <m:r>
                                                <a:rPr lang="en-US" sz="1600" i="1">
                                                  <a:latin typeface="Cambria Math" panose="02040503050406030204" pitchFamily="18" charset="0"/>
                                                </a:rPr>
                                                <m:t>𝛿</m:t>
                                              </m:r>
                                            </m:den>
                                          </m:f>
                                        </m:e>
                                      </m:d>
                                    </m:e>
                                  </m:func>
                                </m:num>
                                <m:den>
                                  <m:r>
                                    <a:rPr lang="en-US" sz="1600" b="1" i="1" smtClean="0">
                                      <a:solidFill>
                                        <a:srgbClr val="002060"/>
                                      </a:solidFill>
                                      <a:latin typeface="Cambria Math" panose="02040503050406030204" pitchFamily="18" charset="0"/>
                                    </a:rPr>
                                    <m:t>𝝀</m:t>
                                  </m:r>
                                  <m:r>
                                    <a:rPr lang="en-US" sz="1600" i="1">
                                      <a:latin typeface="Cambria Math" panose="02040503050406030204" pitchFamily="18" charset="0"/>
                                    </a:rPr>
                                    <m:t>𝑡</m:t>
                                  </m:r>
                                </m:den>
                              </m:f>
                              <m:r>
                                <a:rPr lang="en-US" sz="1600" i="1">
                                  <a:latin typeface="Cambria Math" panose="02040503050406030204" pitchFamily="18" charset="0"/>
                                </a:rPr>
                                <m:t> </m:t>
                              </m:r>
                            </m:e>
                          </m:rad>
                          <m:r>
                            <a:rPr lang="en-US" sz="1600" i="1">
                              <a:latin typeface="Cambria Math" panose="02040503050406030204" pitchFamily="18" charset="0"/>
                            </a:rPr>
                            <m:t>+</m:t>
                          </m:r>
                          <m:rad>
                            <m:radPr>
                              <m:degHide m:val="on"/>
                              <m:ctrlPr>
                                <a:rPr lang="en-US" sz="1600" i="1" smtClean="0">
                                  <a:solidFill>
                                    <a:schemeClr val="accent1"/>
                                  </a:solidFill>
                                  <a:latin typeface="Cambria Math" panose="02040503050406030204" pitchFamily="18" charset="0"/>
                                </a:rPr>
                              </m:ctrlPr>
                            </m:radPr>
                            <m:deg/>
                            <m:e>
                              <m:r>
                                <a:rPr lang="en-US" sz="1600" i="1">
                                  <a:solidFill>
                                    <a:schemeClr val="accent1"/>
                                  </a:solidFill>
                                  <a:latin typeface="Cambria Math" panose="02040503050406030204" pitchFamily="18" charset="0"/>
                                </a:rPr>
                                <m:t>𝜀</m:t>
                              </m:r>
                            </m:e>
                          </m:rad>
                        </m:e>
                      </m:d>
                    </m:oMath>
                  </m:oMathPara>
                </a14:m>
                <a:endParaRPr lang="en-IN" sz="1600" dirty="0"/>
              </a:p>
            </p:txBody>
          </p:sp>
        </mc:Choice>
        <mc:Fallback xmlns="">
          <p:sp>
            <p:nvSpPr>
              <p:cNvPr id="30" name="TextBox 29">
                <a:extLst>
                  <a:ext uri="{FF2B5EF4-FFF2-40B4-BE49-F238E27FC236}">
                    <a16:creationId xmlns:a16="http://schemas.microsoft.com/office/drawing/2014/main" id="{1F970225-0113-37BE-F6FF-7E9753EA9DE7}"/>
                  </a:ext>
                </a:extLst>
              </p:cNvPr>
              <p:cNvSpPr txBox="1">
                <a:spLocks noRot="1" noChangeAspect="1" noMove="1" noResize="1" noEditPoints="1" noAdjustHandles="1" noChangeArrowheads="1" noChangeShapeType="1" noTextEdit="1"/>
              </p:cNvSpPr>
              <p:nvPr/>
            </p:nvSpPr>
            <p:spPr>
              <a:xfrm>
                <a:off x="2456340" y="3293789"/>
                <a:ext cx="6118260" cy="88505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4C96AECE-EA08-B08A-A03C-CC601923DC7C}"/>
                  </a:ext>
                </a:extLst>
              </p:cNvPr>
              <p:cNvSpPr txBox="1"/>
              <p:nvPr/>
            </p:nvSpPr>
            <p:spPr>
              <a:xfrm>
                <a:off x="2673376" y="4461580"/>
                <a:ext cx="3624154" cy="523220"/>
              </a:xfrm>
              <a:prstGeom prst="rect">
                <a:avLst/>
              </a:prstGeom>
              <a:noFill/>
            </p:spPr>
            <p:txBody>
              <a:bodyPr wrap="square">
                <a:spAutoFit/>
              </a:bodyPr>
              <a:lstStyle/>
              <a:p>
                <a14:m>
                  <m:oMath xmlns:m="http://schemas.openxmlformats.org/officeDocument/2006/math">
                    <m:acc>
                      <m:accPr>
                        <m:chr m:val="̅"/>
                        <m:ctrlPr>
                          <a:rPr lang="en-US" sz="1400" b="1" i="1" smtClean="0">
                            <a:solidFill>
                              <a:srgbClr val="11651F"/>
                            </a:solidFill>
                            <a:latin typeface="Cambria Math" panose="02040503050406030204" pitchFamily="18" charset="0"/>
                          </a:rPr>
                        </m:ctrlPr>
                      </m:accPr>
                      <m:e>
                        <m:r>
                          <a:rPr lang="en-US" sz="1400" b="1" i="1" smtClean="0">
                            <a:solidFill>
                              <a:srgbClr val="11651F"/>
                            </a:solidFill>
                            <a:latin typeface="Cambria Math" panose="02040503050406030204" pitchFamily="18" charset="0"/>
                          </a:rPr>
                          <m:t>𝝈</m:t>
                        </m:r>
                      </m:e>
                    </m:acc>
                    <m:r>
                      <a:rPr lang="en-US" sz="1400" b="0" i="1" smtClean="0">
                        <a:latin typeface="Cambria Math" panose="02040503050406030204" pitchFamily="18" charset="0"/>
                      </a:rPr>
                      <m:t>=</m:t>
                    </m:r>
                    <m:func>
                      <m:funcPr>
                        <m:ctrlPr>
                          <a:rPr lang="en-US" sz="1400" b="0" i="1" smtClean="0">
                            <a:latin typeface="Cambria Math" panose="02040503050406030204" pitchFamily="18" charset="0"/>
                          </a:rPr>
                        </m:ctrlPr>
                      </m:funcPr>
                      <m:fName>
                        <m:r>
                          <m:rPr>
                            <m:sty m:val="p"/>
                          </m:rPr>
                          <a:rPr lang="en-US" sz="1400" b="0" i="0" smtClean="0">
                            <a:latin typeface="Cambria Math" panose="02040503050406030204" pitchFamily="18" charset="0"/>
                          </a:rPr>
                          <m:t>max</m:t>
                        </m:r>
                      </m:fName>
                      <m:e>
                        <m:d>
                          <m:dPr>
                            <m:ctrlPr>
                              <a:rPr lang="en-US" sz="1400" b="0" i="1" smtClean="0">
                                <a:latin typeface="Cambria Math" panose="02040503050406030204" pitchFamily="18" charset="0"/>
                              </a:rPr>
                            </m:ctrlPr>
                          </m:dPr>
                          <m:e>
                            <m:r>
                              <a:rPr lang="en-US" sz="1400" b="0" i="1" smtClean="0">
                                <a:latin typeface="Cambria Math" panose="02040503050406030204" pitchFamily="18" charset="0"/>
                              </a:rPr>
                              <m:t>𝜎</m:t>
                            </m:r>
                            <m:r>
                              <a:rPr lang="en-US" sz="1400" b="0" i="1" smtClean="0">
                                <a:latin typeface="Cambria Math" panose="02040503050406030204" pitchFamily="18" charset="0"/>
                              </a:rPr>
                              <m:t>, </m:t>
                            </m:r>
                            <m:acc>
                              <m:accPr>
                                <m:chr m:val="̅"/>
                                <m:ctrlPr>
                                  <a:rPr lang="en-US" sz="1400" b="0" i="1" smtClean="0">
                                    <a:latin typeface="Cambria Math" panose="02040503050406030204" pitchFamily="18" charset="0"/>
                                  </a:rPr>
                                </m:ctrlPr>
                              </m:accPr>
                              <m:e>
                                <m:r>
                                  <a:rPr lang="en-US" sz="1400" b="0" i="1" smtClean="0">
                                    <a:latin typeface="Cambria Math" panose="02040503050406030204" pitchFamily="18" charset="0"/>
                                  </a:rPr>
                                  <m:t>𝑅</m:t>
                                </m:r>
                              </m:e>
                            </m:acc>
                          </m:e>
                        </m:d>
                      </m:e>
                    </m:func>
                    <m:r>
                      <a:rPr lang="en-US" sz="1400" b="0" i="1" smtClean="0">
                        <a:latin typeface="Cambria Math" panose="02040503050406030204" pitchFamily="18" charset="0"/>
                      </a:rPr>
                      <m:t>,</m:t>
                    </m:r>
                  </m:oMath>
                </a14:m>
                <a:r>
                  <a:rPr lang="en-US" sz="1400" dirty="0"/>
                  <a:t> where </a:t>
                </a:r>
                <a14:m>
                  <m:oMath xmlns:m="http://schemas.openxmlformats.org/officeDocument/2006/math">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𝜎</m:t>
                        </m:r>
                      </m:e>
                      <m:sup>
                        <m:r>
                          <a:rPr lang="en-US" sz="1400" b="0" i="1" smtClean="0">
                            <a:latin typeface="Cambria Math" panose="02040503050406030204" pitchFamily="18" charset="0"/>
                          </a:rPr>
                          <m:t>2</m:t>
                        </m:r>
                      </m:sup>
                    </m:sSup>
                  </m:oMath>
                </a14:m>
                <a:r>
                  <a:rPr lang="en-US" sz="1400" dirty="0"/>
                  <a:t> is noise variance and </a:t>
                </a:r>
                <a14:m>
                  <m:oMath xmlns:m="http://schemas.openxmlformats.org/officeDocument/2006/math">
                    <m:d>
                      <m:dPr>
                        <m:begChr m:val="|"/>
                        <m:endChr m:val="|"/>
                        <m:ctrlPr>
                          <a:rPr lang="en-US" sz="1400" b="0" i="1" smtClean="0">
                            <a:latin typeface="Cambria Math" panose="02040503050406030204" pitchFamily="18" charset="0"/>
                          </a:rPr>
                        </m:ctrlPr>
                      </m:dPr>
                      <m:e>
                        <m:r>
                          <a:rPr lang="en-US" sz="1400" b="0" i="1" smtClean="0">
                            <a:latin typeface="Cambria Math" panose="02040503050406030204" pitchFamily="18" charset="0"/>
                          </a:rPr>
                          <m:t>𝑅</m:t>
                        </m:r>
                        <m:d>
                          <m:dPr>
                            <m:ctrlPr>
                              <a:rPr lang="en-US" sz="1400" b="0" i="1" smtClean="0">
                                <a:latin typeface="Cambria Math" panose="02040503050406030204" pitchFamily="18" charset="0"/>
                              </a:rPr>
                            </m:ctrlPr>
                          </m:dPr>
                          <m:e>
                            <m:r>
                              <a:rPr lang="en-US" sz="1400" b="0" i="1" smtClean="0">
                                <a:latin typeface="Cambria Math" panose="02040503050406030204" pitchFamily="18" charset="0"/>
                              </a:rPr>
                              <m:t>𝑠</m:t>
                            </m:r>
                            <m:r>
                              <a:rPr lang="en-US" sz="1400" b="0" i="1" smtClean="0">
                                <a:latin typeface="Cambria Math" panose="02040503050406030204" pitchFamily="18" charset="0"/>
                              </a:rPr>
                              <m:t>,</m:t>
                            </m:r>
                            <m:r>
                              <a:rPr lang="en-US" sz="1400" b="0" i="1" smtClean="0">
                                <a:latin typeface="Cambria Math" panose="02040503050406030204" pitchFamily="18" charset="0"/>
                              </a:rPr>
                              <m:t>𝑎</m:t>
                            </m:r>
                          </m:e>
                        </m:d>
                      </m:e>
                    </m:d>
                    <m:r>
                      <a:rPr lang="en-US" sz="1400" b="0" i="1" smtClean="0">
                        <a:latin typeface="Cambria Math" panose="02040503050406030204" pitchFamily="18" charset="0"/>
                      </a:rPr>
                      <m:t>≤</m:t>
                    </m:r>
                    <m:acc>
                      <m:accPr>
                        <m:chr m:val="̅"/>
                        <m:ctrlPr>
                          <a:rPr lang="en-US" sz="1400" b="0" i="1" smtClean="0">
                            <a:latin typeface="Cambria Math" panose="02040503050406030204" pitchFamily="18" charset="0"/>
                          </a:rPr>
                        </m:ctrlPr>
                      </m:accPr>
                      <m:e>
                        <m:r>
                          <a:rPr lang="en-US" sz="1400" b="0" i="1" smtClean="0">
                            <a:latin typeface="Cambria Math" panose="02040503050406030204" pitchFamily="18" charset="0"/>
                          </a:rPr>
                          <m:t>𝑅</m:t>
                        </m:r>
                      </m:e>
                    </m:acc>
                    <m:r>
                      <a:rPr lang="en-US" sz="1400" b="0" i="1" smtClean="0">
                        <a:latin typeface="Cambria Math" panose="02040503050406030204" pitchFamily="18" charset="0"/>
                      </a:rPr>
                      <m:t>, ∀</m:t>
                    </m:r>
                    <m:r>
                      <a:rPr lang="en-US" sz="1400" b="0" i="1" smtClean="0">
                        <a:latin typeface="Cambria Math" panose="02040503050406030204" pitchFamily="18" charset="0"/>
                      </a:rPr>
                      <m:t>𝑠</m:t>
                    </m:r>
                    <m:r>
                      <a:rPr lang="en-US" sz="1400" b="0" i="1" smtClean="0">
                        <a:latin typeface="Cambria Math" panose="02040503050406030204" pitchFamily="18" charset="0"/>
                      </a:rPr>
                      <m:t>,</m:t>
                    </m:r>
                    <m:r>
                      <a:rPr lang="en-US" sz="1400" b="0" i="1" smtClean="0">
                        <a:latin typeface="Cambria Math" panose="02040503050406030204" pitchFamily="18" charset="0"/>
                      </a:rPr>
                      <m:t>𝑎</m:t>
                    </m:r>
                  </m:oMath>
                </a14:m>
                <a:r>
                  <a:rPr lang="en-IN" sz="1400" dirty="0"/>
                  <a:t>.</a:t>
                </a:r>
              </a:p>
            </p:txBody>
          </p:sp>
        </mc:Choice>
        <mc:Fallback xmlns="">
          <p:sp>
            <p:nvSpPr>
              <p:cNvPr id="39" name="TextBox 38">
                <a:extLst>
                  <a:ext uri="{FF2B5EF4-FFF2-40B4-BE49-F238E27FC236}">
                    <a16:creationId xmlns:a16="http://schemas.microsoft.com/office/drawing/2014/main" id="{4C96AECE-EA08-B08A-A03C-CC601923DC7C}"/>
                  </a:ext>
                </a:extLst>
              </p:cNvPr>
              <p:cNvSpPr txBox="1">
                <a:spLocks noRot="1" noChangeAspect="1" noMove="1" noResize="1" noEditPoints="1" noAdjustHandles="1" noChangeArrowheads="1" noChangeShapeType="1" noTextEdit="1"/>
              </p:cNvSpPr>
              <p:nvPr/>
            </p:nvSpPr>
            <p:spPr>
              <a:xfrm>
                <a:off x="2673376" y="4461580"/>
                <a:ext cx="3624154" cy="523220"/>
              </a:xfrm>
              <a:prstGeom prst="rect">
                <a:avLst/>
              </a:prstGeom>
              <a:blipFill>
                <a:blip r:embed="rId11"/>
                <a:stretch>
                  <a:fillRect l="-505" t="-2326" b="-10465"/>
                </a:stretch>
              </a:blipFill>
            </p:spPr>
            <p:txBody>
              <a:bodyPr/>
              <a:lstStyle/>
              <a:p>
                <a:r>
                  <a:rPr lang="en-IN">
                    <a:noFill/>
                  </a:rPr>
                  <a:t> </a:t>
                </a:r>
              </a:p>
            </p:txBody>
          </p:sp>
        </mc:Fallback>
      </mc:AlternateContent>
      <p:cxnSp>
        <p:nvCxnSpPr>
          <p:cNvPr id="43" name="Straight Arrow Connector 42">
            <a:extLst>
              <a:ext uri="{FF2B5EF4-FFF2-40B4-BE49-F238E27FC236}">
                <a16:creationId xmlns:a16="http://schemas.microsoft.com/office/drawing/2014/main" id="{76B74A31-13B6-DE5A-A129-AAF90207CB43}"/>
              </a:ext>
            </a:extLst>
          </p:cNvPr>
          <p:cNvCxnSpPr>
            <a:cxnSpLocks/>
          </p:cNvCxnSpPr>
          <p:nvPr/>
        </p:nvCxnSpPr>
        <p:spPr>
          <a:xfrm flipV="1">
            <a:off x="4972692" y="4047582"/>
            <a:ext cx="431514" cy="411255"/>
          </a:xfrm>
          <a:prstGeom prst="straightConnector1">
            <a:avLst/>
          </a:prstGeom>
          <a:ln>
            <a:solidFill>
              <a:srgbClr val="11651F"/>
            </a:solidFill>
            <a:tailEnd type="triangle"/>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3375F7F6-FB67-638F-CB70-5000C8E28087}"/>
              </a:ext>
            </a:extLst>
          </p:cNvPr>
          <p:cNvSpPr txBox="1"/>
          <p:nvPr/>
        </p:nvSpPr>
        <p:spPr>
          <a:xfrm>
            <a:off x="6187155" y="4461580"/>
            <a:ext cx="2933783" cy="307777"/>
          </a:xfrm>
          <a:prstGeom prst="rect">
            <a:avLst/>
          </a:prstGeom>
          <a:noFill/>
        </p:spPr>
        <p:txBody>
          <a:bodyPr wrap="square">
            <a:spAutoFit/>
          </a:bodyPr>
          <a:lstStyle/>
          <a:p>
            <a:r>
              <a:rPr lang="en-US" sz="1400" dirty="0">
                <a:solidFill>
                  <a:srgbClr val="002060"/>
                </a:solidFill>
              </a:rPr>
              <a:t>Minimum visitation probability</a:t>
            </a:r>
          </a:p>
        </p:txBody>
      </p:sp>
      <p:cxnSp>
        <p:nvCxnSpPr>
          <p:cNvPr id="50" name="Straight Arrow Connector 49">
            <a:extLst>
              <a:ext uri="{FF2B5EF4-FFF2-40B4-BE49-F238E27FC236}">
                <a16:creationId xmlns:a16="http://schemas.microsoft.com/office/drawing/2014/main" id="{A07E3CD9-6185-1AA8-C587-B63EB3E65202}"/>
              </a:ext>
            </a:extLst>
          </p:cNvPr>
          <p:cNvCxnSpPr>
            <a:cxnSpLocks/>
          </p:cNvCxnSpPr>
          <p:nvPr/>
        </p:nvCxnSpPr>
        <p:spPr>
          <a:xfrm flipH="1" flipV="1">
            <a:off x="6187155" y="4113211"/>
            <a:ext cx="442509" cy="345626"/>
          </a:xfrm>
          <a:prstGeom prst="straightConnector1">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5273F4F2-82DB-D6C1-C42D-9315748700E5}"/>
              </a:ext>
            </a:extLst>
          </p:cNvPr>
          <p:cNvSpPr txBox="1"/>
          <p:nvPr/>
        </p:nvSpPr>
        <p:spPr>
          <a:xfrm>
            <a:off x="6893655" y="4149454"/>
            <a:ext cx="6097712" cy="307777"/>
          </a:xfrm>
          <a:prstGeom prst="rect">
            <a:avLst/>
          </a:prstGeom>
          <a:noFill/>
        </p:spPr>
        <p:txBody>
          <a:bodyPr wrap="square">
            <a:spAutoFit/>
          </a:bodyPr>
          <a:lstStyle/>
          <a:p>
            <a:r>
              <a:rPr lang="en-US" sz="1400" dirty="0">
                <a:solidFill>
                  <a:srgbClr val="C00000"/>
                </a:solidFill>
              </a:rPr>
              <a:t>Corruption fraction</a:t>
            </a:r>
          </a:p>
        </p:txBody>
      </p:sp>
      <p:cxnSp>
        <p:nvCxnSpPr>
          <p:cNvPr id="55" name="Straight Arrow Connector 54">
            <a:extLst>
              <a:ext uri="{FF2B5EF4-FFF2-40B4-BE49-F238E27FC236}">
                <a16:creationId xmlns:a16="http://schemas.microsoft.com/office/drawing/2014/main" id="{C60DC92D-3107-32EB-25B0-E6B0579C5945}"/>
              </a:ext>
            </a:extLst>
          </p:cNvPr>
          <p:cNvCxnSpPr>
            <a:cxnSpLocks/>
          </p:cNvCxnSpPr>
          <p:nvPr/>
        </p:nvCxnSpPr>
        <p:spPr>
          <a:xfrm flipH="1" flipV="1">
            <a:off x="7078894" y="3939401"/>
            <a:ext cx="155068" cy="272793"/>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67E2B0FC-261F-DB10-EC38-DA0498935FC1}"/>
                  </a:ext>
                </a:extLst>
              </p:cNvPr>
              <p:cNvSpPr txBox="1"/>
              <p:nvPr/>
            </p:nvSpPr>
            <p:spPr>
              <a:xfrm>
                <a:off x="8067185" y="2940400"/>
                <a:ext cx="6493266" cy="785921"/>
              </a:xfrm>
              <a:prstGeom prst="rect">
                <a:avLst/>
              </a:prstGeom>
              <a:noFill/>
            </p:spPr>
            <p:txBody>
              <a:bodyPr wrap="square">
                <a:spAutoFit/>
              </a:bodyPr>
              <a:lstStyle/>
              <a:p>
                <a:r>
                  <a:rPr lang="en-US" sz="1400" dirty="0"/>
                  <a:t>If </a:t>
                </a:r>
                <a14:m>
                  <m:oMath xmlns:m="http://schemas.openxmlformats.org/officeDocument/2006/math">
                    <m:d>
                      <m:dPr>
                        <m:begChr m:val="|"/>
                        <m:endChr m:val="|"/>
                        <m:ctrlPr>
                          <a:rPr lang="en-US" sz="1400" b="0" i="1" smtClean="0">
                            <a:latin typeface="Cambria Math" panose="02040503050406030204" pitchFamily="18" charset="0"/>
                          </a:rPr>
                        </m:ctrlPr>
                      </m:dPr>
                      <m:e>
                        <m:sSub>
                          <m:sSubPr>
                            <m:ctrlPr>
                              <a:rPr lang="en-US" sz="1400" b="0" i="1" smtClean="0">
                                <a:latin typeface="Cambria Math" panose="02040503050406030204" pitchFamily="18" charset="0"/>
                              </a:rPr>
                            </m:ctrlPr>
                          </m:sSubPr>
                          <m:e>
                            <m:acc>
                              <m:accPr>
                                <m:chr m:val="̂"/>
                                <m:ctrlPr>
                                  <a:rPr lang="en-US" sz="1400" b="0" i="1" smtClean="0">
                                    <a:latin typeface="Cambria Math" panose="02040503050406030204" pitchFamily="18" charset="0"/>
                                  </a:rPr>
                                </m:ctrlPr>
                              </m:accPr>
                              <m:e>
                                <m:r>
                                  <a:rPr lang="en-US" sz="1400" b="0" i="1" smtClean="0">
                                    <a:latin typeface="Cambria Math" panose="02040503050406030204" pitchFamily="18" charset="0"/>
                                  </a:rPr>
                                  <m:t>𝑟</m:t>
                                </m:r>
                              </m:e>
                            </m:acc>
                          </m:e>
                          <m:sub>
                            <m:r>
                              <a:rPr lang="en-US" sz="1400" b="0" i="1" smtClean="0">
                                <a:latin typeface="Cambria Math" panose="02040503050406030204" pitchFamily="18" charset="0"/>
                              </a:rPr>
                              <m:t>𝑡</m:t>
                            </m:r>
                          </m:sub>
                        </m:sSub>
                      </m:e>
                    </m:d>
                    <m:r>
                      <a:rPr lang="en-US" sz="1400" b="0" i="1" smtClean="0">
                        <a:latin typeface="Cambria Math" panose="02040503050406030204" pitchFamily="18" charset="0"/>
                      </a:rPr>
                      <m:t>&gt;</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𝐺</m:t>
                        </m:r>
                      </m:e>
                      <m:sub>
                        <m:r>
                          <a:rPr lang="en-US" sz="1400" b="0" i="1" smtClean="0">
                            <a:latin typeface="Cambria Math" panose="02040503050406030204" pitchFamily="18" charset="0"/>
                          </a:rPr>
                          <m:t>𝑡</m:t>
                        </m:r>
                      </m:sub>
                    </m:sSub>
                    <m:r>
                      <a:rPr lang="en-US" sz="1400" b="0" i="1" smtClean="0">
                        <a:latin typeface="Cambria Math" panose="02040503050406030204" pitchFamily="18" charset="0"/>
                      </a:rPr>
                      <m:t> ≔</m:t>
                    </m:r>
                    <m:r>
                      <a:rPr lang="en-US" sz="1400" i="1">
                        <a:latin typeface="Cambria Math" panose="02040503050406030204" pitchFamily="18" charset="0"/>
                      </a:rPr>
                      <m:t>𝑐</m:t>
                    </m:r>
                    <m:acc>
                      <m:accPr>
                        <m:chr m:val="̅"/>
                        <m:ctrlPr>
                          <a:rPr lang="en-US" sz="1400" i="1">
                            <a:solidFill>
                              <a:srgbClr val="11651F"/>
                            </a:solidFill>
                            <a:latin typeface="Cambria Math" panose="02040503050406030204" pitchFamily="18" charset="0"/>
                          </a:rPr>
                        </m:ctrlPr>
                      </m:accPr>
                      <m:e>
                        <m:r>
                          <a:rPr lang="en-US" sz="1400" i="1">
                            <a:solidFill>
                              <a:srgbClr val="11651F"/>
                            </a:solidFill>
                            <a:latin typeface="Cambria Math" panose="02040503050406030204" pitchFamily="18" charset="0"/>
                          </a:rPr>
                          <m:t>𝜎</m:t>
                        </m:r>
                      </m:e>
                    </m:acc>
                    <m:d>
                      <m:dPr>
                        <m:ctrlPr>
                          <a:rPr lang="en-US" sz="1400" i="1">
                            <a:latin typeface="Cambria Math" panose="02040503050406030204" pitchFamily="18" charset="0"/>
                          </a:rPr>
                        </m:ctrlPr>
                      </m:dPr>
                      <m:e>
                        <m:rad>
                          <m:radPr>
                            <m:degHide m:val="on"/>
                            <m:ctrlPr>
                              <a:rPr lang="en-US" sz="1400" i="1">
                                <a:latin typeface="Cambria Math" panose="02040503050406030204" pitchFamily="18" charset="0"/>
                              </a:rPr>
                            </m:ctrlPr>
                          </m:radPr>
                          <m:deg/>
                          <m:e>
                            <m:f>
                              <m:fPr>
                                <m:ctrlPr>
                                  <a:rPr lang="en-US" sz="1400" i="1">
                                    <a:latin typeface="Cambria Math" panose="02040503050406030204" pitchFamily="18" charset="0"/>
                                  </a:rPr>
                                </m:ctrlPr>
                              </m:fPr>
                              <m:num>
                                <m:func>
                                  <m:funcPr>
                                    <m:ctrlPr>
                                      <a:rPr lang="en-US" sz="1400" i="1">
                                        <a:latin typeface="Cambria Math" panose="02040503050406030204" pitchFamily="18" charset="0"/>
                                      </a:rPr>
                                    </m:ctrlPr>
                                  </m:funcPr>
                                  <m:fName>
                                    <m:r>
                                      <m:rPr>
                                        <m:sty m:val="p"/>
                                      </m:rPr>
                                      <a:rPr lang="en-US" sz="1400">
                                        <a:latin typeface="Cambria Math" panose="02040503050406030204" pitchFamily="18" charset="0"/>
                                      </a:rPr>
                                      <m:t>log</m:t>
                                    </m:r>
                                  </m:fName>
                                  <m:e>
                                    <m:d>
                                      <m:dPr>
                                        <m:ctrlPr>
                                          <a:rPr lang="en-US" sz="1400" i="1">
                                            <a:latin typeface="Cambria Math" panose="02040503050406030204" pitchFamily="18" charset="0"/>
                                          </a:rPr>
                                        </m:ctrlPr>
                                      </m:dPr>
                                      <m:e>
                                        <m:f>
                                          <m:fPr>
                                            <m:ctrlPr>
                                              <a:rPr lang="en-US" sz="1400" i="1">
                                                <a:latin typeface="Cambria Math" panose="02040503050406030204" pitchFamily="18" charset="0"/>
                                              </a:rPr>
                                            </m:ctrlPr>
                                          </m:fPr>
                                          <m:num>
                                            <m:r>
                                              <a:rPr lang="en-US" sz="1400" i="1">
                                                <a:latin typeface="Cambria Math" panose="02040503050406030204" pitchFamily="18" charset="0"/>
                                              </a:rPr>
                                              <m:t>1</m:t>
                                            </m:r>
                                          </m:num>
                                          <m:den>
                                            <m:r>
                                              <a:rPr lang="en-US" sz="1400" i="1">
                                                <a:latin typeface="Cambria Math" panose="02040503050406030204" pitchFamily="18" charset="0"/>
                                              </a:rPr>
                                              <m:t>𝛿</m:t>
                                            </m:r>
                                          </m:den>
                                        </m:f>
                                      </m:e>
                                    </m:d>
                                  </m:e>
                                </m:func>
                              </m:num>
                              <m:den>
                                <m:r>
                                  <a:rPr lang="en-US" sz="1400" b="1" i="1">
                                    <a:solidFill>
                                      <a:srgbClr val="002060"/>
                                    </a:solidFill>
                                    <a:latin typeface="Cambria Math" panose="02040503050406030204" pitchFamily="18" charset="0"/>
                                  </a:rPr>
                                  <m:t>𝝀</m:t>
                                </m:r>
                                <m:r>
                                  <a:rPr lang="en-US" sz="1400" i="1">
                                    <a:latin typeface="Cambria Math" panose="02040503050406030204" pitchFamily="18" charset="0"/>
                                  </a:rPr>
                                  <m:t>𝑡</m:t>
                                </m:r>
                              </m:den>
                            </m:f>
                            <m:r>
                              <a:rPr lang="en-US" sz="1400" i="1">
                                <a:latin typeface="Cambria Math" panose="02040503050406030204" pitchFamily="18" charset="0"/>
                              </a:rPr>
                              <m:t> </m:t>
                            </m:r>
                          </m:e>
                        </m:rad>
                        <m:r>
                          <a:rPr lang="en-US" sz="1400" i="1">
                            <a:latin typeface="Cambria Math" panose="02040503050406030204" pitchFamily="18" charset="0"/>
                          </a:rPr>
                          <m:t>+</m:t>
                        </m:r>
                        <m:rad>
                          <m:radPr>
                            <m:degHide m:val="on"/>
                            <m:ctrlPr>
                              <a:rPr lang="en-US" sz="1400" i="1">
                                <a:solidFill>
                                  <a:schemeClr val="accent1"/>
                                </a:solidFill>
                                <a:latin typeface="Cambria Math" panose="02040503050406030204" pitchFamily="18" charset="0"/>
                              </a:rPr>
                            </m:ctrlPr>
                          </m:radPr>
                          <m:deg/>
                          <m:e>
                            <m:r>
                              <a:rPr lang="en-US" sz="1400" i="1">
                                <a:solidFill>
                                  <a:schemeClr val="accent1"/>
                                </a:solidFill>
                                <a:latin typeface="Cambria Math" panose="02040503050406030204" pitchFamily="18" charset="0"/>
                              </a:rPr>
                              <m:t>𝜀</m:t>
                            </m:r>
                          </m:e>
                        </m:rad>
                      </m:e>
                    </m:d>
                    <m:r>
                      <a:rPr lang="en-US" sz="1400" b="0" i="1" smtClean="0">
                        <a:solidFill>
                          <a:schemeClr val="tx1"/>
                        </a:solidFill>
                        <a:latin typeface="Cambria Math" panose="02040503050406030204" pitchFamily="18" charset="0"/>
                      </a:rPr>
                      <m:t>+</m:t>
                    </m:r>
                    <m:acc>
                      <m:accPr>
                        <m:chr m:val="̅"/>
                        <m:ctrlPr>
                          <a:rPr lang="en-US" sz="1400" i="1">
                            <a:solidFill>
                              <a:srgbClr val="11651F"/>
                            </a:solidFill>
                            <a:latin typeface="Cambria Math" panose="02040503050406030204" pitchFamily="18" charset="0"/>
                          </a:rPr>
                        </m:ctrlPr>
                      </m:accPr>
                      <m:e>
                        <m:r>
                          <a:rPr lang="en-US" sz="1400" i="1">
                            <a:solidFill>
                              <a:srgbClr val="11651F"/>
                            </a:solidFill>
                            <a:latin typeface="Cambria Math" panose="02040503050406030204" pitchFamily="18" charset="0"/>
                          </a:rPr>
                          <m:t>𝜎</m:t>
                        </m:r>
                      </m:e>
                    </m:acc>
                    <m:r>
                      <a:rPr lang="en-US" sz="1400" b="0" i="1" smtClean="0">
                        <a:solidFill>
                          <a:srgbClr val="11651F"/>
                        </a:solidFill>
                        <a:latin typeface="Cambria Math" panose="02040503050406030204" pitchFamily="18" charset="0"/>
                      </a:rPr>
                      <m:t>,</m:t>
                    </m:r>
                    <m:r>
                      <a:rPr lang="en-US" sz="1400" b="0" i="0" smtClean="0">
                        <a:solidFill>
                          <a:srgbClr val="11651F"/>
                        </a:solidFill>
                        <a:latin typeface="Cambria Math" panose="02040503050406030204" pitchFamily="18" charset="0"/>
                      </a:rPr>
                      <m:t>  </m:t>
                    </m:r>
                  </m:oMath>
                </a14:m>
                <a:r>
                  <a:rPr lang="en-US" sz="1400" dirty="0"/>
                  <a:t>set </a:t>
                </a:r>
                <a14:m>
                  <m:oMath xmlns:m="http://schemas.openxmlformats.org/officeDocument/2006/math">
                    <m:sSub>
                      <m:sSubPr>
                        <m:ctrlPr>
                          <a:rPr lang="en-US" sz="1400" b="0" i="1" dirty="0" smtClean="0">
                            <a:latin typeface="Cambria Math" panose="02040503050406030204" pitchFamily="18" charset="0"/>
                          </a:rPr>
                        </m:ctrlPr>
                      </m:sSubPr>
                      <m:e>
                        <m:acc>
                          <m:accPr>
                            <m:chr m:val="̂"/>
                            <m:ctrlPr>
                              <a:rPr lang="en-US" sz="1400" b="0" i="1" smtClean="0">
                                <a:latin typeface="Cambria Math" panose="02040503050406030204" pitchFamily="18" charset="0"/>
                              </a:rPr>
                            </m:ctrlPr>
                          </m:accPr>
                          <m:e>
                            <m:r>
                              <a:rPr lang="en-US" sz="1400" b="0" i="1" smtClean="0">
                                <a:latin typeface="Cambria Math" panose="02040503050406030204" pitchFamily="18" charset="0"/>
                              </a:rPr>
                              <m:t>𝑟</m:t>
                            </m:r>
                          </m:e>
                        </m:acc>
                      </m:e>
                      <m:sub>
                        <m:r>
                          <a:rPr lang="en-US" sz="1400" b="0" i="1" dirty="0" smtClean="0">
                            <a:latin typeface="Cambria Math" panose="02040503050406030204" pitchFamily="18" charset="0"/>
                          </a:rPr>
                          <m:t>𝑡</m:t>
                        </m:r>
                      </m:sub>
                    </m:sSub>
                    <m:r>
                      <a:rPr lang="en-US" sz="1400" b="0" i="1" dirty="0" smtClean="0">
                        <a:latin typeface="Cambria Math" panose="02040503050406030204" pitchFamily="18" charset="0"/>
                      </a:rPr>
                      <m:t>=0.</m:t>
                    </m:r>
                  </m:oMath>
                </a14:m>
                <a:r>
                  <a:rPr lang="en-US" sz="1400" dirty="0"/>
                  <a:t> </a:t>
                </a:r>
                <a:endParaRPr lang="en-IN" sz="1400" dirty="0"/>
              </a:p>
            </p:txBody>
          </p:sp>
        </mc:Choice>
        <mc:Fallback xmlns="">
          <p:sp>
            <p:nvSpPr>
              <p:cNvPr id="59" name="TextBox 58">
                <a:extLst>
                  <a:ext uri="{FF2B5EF4-FFF2-40B4-BE49-F238E27FC236}">
                    <a16:creationId xmlns:a16="http://schemas.microsoft.com/office/drawing/2014/main" id="{67E2B0FC-261F-DB10-EC38-DA0498935FC1}"/>
                  </a:ext>
                </a:extLst>
              </p:cNvPr>
              <p:cNvSpPr txBox="1">
                <a:spLocks noRot="1" noChangeAspect="1" noMove="1" noResize="1" noEditPoints="1" noAdjustHandles="1" noChangeArrowheads="1" noChangeShapeType="1" noTextEdit="1"/>
              </p:cNvSpPr>
              <p:nvPr/>
            </p:nvSpPr>
            <p:spPr>
              <a:xfrm>
                <a:off x="8067185" y="2940400"/>
                <a:ext cx="6493266" cy="785921"/>
              </a:xfrm>
              <a:prstGeom prst="rect">
                <a:avLst/>
              </a:prstGeom>
              <a:blipFill>
                <a:blip r:embed="rId12"/>
                <a:stretch>
                  <a:fillRect l="-281"/>
                </a:stretch>
              </a:blipFill>
            </p:spPr>
            <p:txBody>
              <a:bodyPr/>
              <a:lstStyle/>
              <a:p>
                <a:r>
                  <a:rPr lang="en-IN">
                    <a:noFill/>
                  </a:rPr>
                  <a:t> </a:t>
                </a:r>
              </a:p>
            </p:txBody>
          </p:sp>
        </mc:Fallback>
      </mc:AlternateContent>
      <p:sp>
        <p:nvSpPr>
          <p:cNvPr id="60" name="Arrow: Right 59">
            <a:extLst>
              <a:ext uri="{FF2B5EF4-FFF2-40B4-BE49-F238E27FC236}">
                <a16:creationId xmlns:a16="http://schemas.microsoft.com/office/drawing/2014/main" id="{D06A0A8C-9BAC-88B0-7319-52A7F17CC302}"/>
              </a:ext>
            </a:extLst>
          </p:cNvPr>
          <p:cNvSpPr/>
          <p:nvPr/>
        </p:nvSpPr>
        <p:spPr>
          <a:xfrm>
            <a:off x="10892577" y="2118844"/>
            <a:ext cx="421241" cy="34932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mc:Choice xmlns:a14="http://schemas.microsoft.com/office/drawing/2010/main" Requires="a14">
          <p:sp>
            <p:nvSpPr>
              <p:cNvPr id="61" name="TextBox 60">
                <a:extLst>
                  <a:ext uri="{FF2B5EF4-FFF2-40B4-BE49-F238E27FC236}">
                    <a16:creationId xmlns:a16="http://schemas.microsoft.com/office/drawing/2014/main" id="{199A72DF-BE60-5DF4-7D36-D4A3E8BFF40E}"/>
                  </a:ext>
                </a:extLst>
              </p:cNvPr>
              <p:cNvSpPr txBox="1"/>
              <p:nvPr/>
            </p:nvSpPr>
            <p:spPr>
              <a:xfrm>
                <a:off x="11411912" y="2025438"/>
                <a:ext cx="534057"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en-US" sz="2400" b="1" i="1" smtClean="0">
                              <a:solidFill>
                                <a:srgbClr val="C00000"/>
                              </a:solidFill>
                              <a:latin typeface="Cambria Math" panose="02040503050406030204" pitchFamily="18" charset="0"/>
                            </a:rPr>
                          </m:ctrlPr>
                        </m:accPr>
                        <m:e>
                          <m:sSub>
                            <m:sSubPr>
                              <m:ctrlPr>
                                <a:rPr lang="en-US" sz="2400" b="1" i="1" smtClean="0">
                                  <a:solidFill>
                                    <a:srgbClr val="C00000"/>
                                  </a:solidFill>
                                  <a:latin typeface="Cambria Math" panose="02040503050406030204" pitchFamily="18" charset="0"/>
                                </a:rPr>
                              </m:ctrlPr>
                            </m:sSubPr>
                            <m:e>
                              <m:r>
                                <a:rPr lang="en-US" sz="2400" b="1" i="1" smtClean="0">
                                  <a:solidFill>
                                    <a:srgbClr val="C00000"/>
                                  </a:solidFill>
                                  <a:latin typeface="Cambria Math" panose="02040503050406030204" pitchFamily="18" charset="0"/>
                                </a:rPr>
                                <m:t>𝒓</m:t>
                              </m:r>
                            </m:e>
                            <m:sub>
                              <m:r>
                                <a:rPr lang="en-US" sz="2400" b="1" i="1" smtClean="0">
                                  <a:solidFill>
                                    <a:srgbClr val="C00000"/>
                                  </a:solidFill>
                                  <a:latin typeface="Cambria Math" panose="02040503050406030204" pitchFamily="18" charset="0"/>
                                </a:rPr>
                                <m:t>𝒕</m:t>
                              </m:r>
                            </m:sub>
                          </m:sSub>
                        </m:e>
                      </m:acc>
                    </m:oMath>
                  </m:oMathPara>
                </a14:m>
                <a:endParaRPr lang="en-IN" sz="2400" b="1" dirty="0"/>
              </a:p>
            </p:txBody>
          </p:sp>
        </mc:Choice>
        <mc:Fallback>
          <p:sp>
            <p:nvSpPr>
              <p:cNvPr id="61" name="TextBox 60">
                <a:extLst>
                  <a:ext uri="{FF2B5EF4-FFF2-40B4-BE49-F238E27FC236}">
                    <a16:creationId xmlns:a16="http://schemas.microsoft.com/office/drawing/2014/main" id="{199A72DF-BE60-5DF4-7D36-D4A3E8BFF40E}"/>
                  </a:ext>
                </a:extLst>
              </p:cNvPr>
              <p:cNvSpPr txBox="1">
                <a:spLocks noRot="1" noChangeAspect="1" noMove="1" noResize="1" noEditPoints="1" noAdjustHandles="1" noChangeArrowheads="1" noChangeShapeType="1" noTextEdit="1"/>
              </p:cNvSpPr>
              <p:nvPr/>
            </p:nvSpPr>
            <p:spPr>
              <a:xfrm>
                <a:off x="11411912" y="2025438"/>
                <a:ext cx="534057" cy="461665"/>
              </a:xfrm>
              <a:prstGeom prst="rect">
                <a:avLst/>
              </a:prstGeom>
              <a:blipFill>
                <a:blip r:embed="rId13"/>
                <a:stretch>
                  <a:fillRect r="-17045" b="-2632"/>
                </a:stretch>
              </a:blipFill>
            </p:spPr>
            <p:txBody>
              <a:bodyPr/>
              <a:lstStyle/>
              <a:p>
                <a:r>
                  <a:rPr lang="en-IN">
                    <a:noFill/>
                  </a:rPr>
                  <a:t> </a:t>
                </a:r>
              </a:p>
            </p:txBody>
          </p:sp>
        </mc:Fallback>
      </mc:AlternateContent>
      <p:sp>
        <p:nvSpPr>
          <p:cNvPr id="62" name="Rectangle 61">
            <a:extLst>
              <a:ext uri="{FF2B5EF4-FFF2-40B4-BE49-F238E27FC236}">
                <a16:creationId xmlns:a16="http://schemas.microsoft.com/office/drawing/2014/main" id="{BFADE595-AD06-46CD-54BB-35DDEC44AAF4}"/>
              </a:ext>
            </a:extLst>
          </p:cNvPr>
          <p:cNvSpPr/>
          <p:nvPr/>
        </p:nvSpPr>
        <p:spPr>
          <a:xfrm>
            <a:off x="4436469" y="5521832"/>
            <a:ext cx="7132255" cy="607271"/>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63" name="TextBox 62">
                <a:extLst>
                  <a:ext uri="{FF2B5EF4-FFF2-40B4-BE49-F238E27FC236}">
                    <a16:creationId xmlns:a16="http://schemas.microsoft.com/office/drawing/2014/main" id="{E5A9A4C4-991A-BDEB-F21C-7C1DE169E0AF}"/>
                  </a:ext>
                </a:extLst>
              </p:cNvPr>
              <p:cNvSpPr txBox="1"/>
              <p:nvPr/>
            </p:nvSpPr>
            <p:spPr>
              <a:xfrm>
                <a:off x="2456340" y="5546149"/>
                <a:ext cx="11019934" cy="58407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𝑄</m:t>
                          </m:r>
                        </m:e>
                        <m:sub>
                          <m:r>
                            <a:rPr lang="en-US" sz="2000" b="0" i="1" smtClean="0">
                              <a:latin typeface="Cambria Math" panose="02040503050406030204" pitchFamily="18" charset="0"/>
                            </a:rPr>
                            <m:t>𝑡</m:t>
                          </m:r>
                          <m:r>
                            <a:rPr lang="en-US" sz="2000" b="0" i="1" smtClean="0">
                              <a:latin typeface="Cambria Math" panose="02040503050406030204" pitchFamily="18" charset="0"/>
                            </a:rPr>
                            <m:t>+1</m:t>
                          </m:r>
                        </m:sub>
                      </m:sSub>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𝑠</m:t>
                              </m:r>
                            </m:e>
                            <m:sub>
                              <m:r>
                                <a:rPr lang="en-US" sz="2000" b="0" i="1" smtClean="0">
                                  <a:latin typeface="Cambria Math" panose="02040503050406030204" pitchFamily="18" charset="0"/>
                                </a:rPr>
                                <m:t>𝑡</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𝑎</m:t>
                              </m:r>
                            </m:e>
                            <m:sub>
                              <m:r>
                                <a:rPr lang="en-US" sz="2000" b="0" i="1" smtClean="0">
                                  <a:latin typeface="Cambria Math" panose="02040503050406030204" pitchFamily="18" charset="0"/>
                                </a:rPr>
                                <m:t>𝑡</m:t>
                              </m:r>
                            </m:sub>
                          </m:sSub>
                        </m:e>
                      </m:d>
                      <m:r>
                        <a:rPr lang="en-US" sz="2000" b="0" i="1" smtClean="0">
                          <a:latin typeface="Cambria Math" panose="02040503050406030204" pitchFamily="18" charset="0"/>
                        </a:rPr>
                        <m:t>=</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1−</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𝛼</m:t>
                              </m:r>
                            </m:e>
                            <m:sub>
                              <m:r>
                                <a:rPr lang="en-US" sz="2000" b="0" i="1" smtClean="0">
                                  <a:latin typeface="Cambria Math" panose="02040503050406030204" pitchFamily="18" charset="0"/>
                                </a:rPr>
                                <m:t>𝑡</m:t>
                              </m:r>
                            </m:sub>
                          </m:sSub>
                        </m:e>
                      </m:d>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𝑄</m:t>
                          </m:r>
                        </m:e>
                        <m:sub>
                          <m:r>
                            <a:rPr lang="en-US" sz="2000" b="0" i="1" smtClean="0">
                              <a:latin typeface="Cambria Math" panose="02040503050406030204" pitchFamily="18" charset="0"/>
                            </a:rPr>
                            <m:t>𝑡</m:t>
                          </m:r>
                        </m:sub>
                      </m:sSub>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𝑠</m:t>
                              </m:r>
                            </m:e>
                            <m:sub>
                              <m:r>
                                <a:rPr lang="en-US" sz="2000" b="0" i="1" smtClean="0">
                                  <a:latin typeface="Cambria Math" panose="02040503050406030204" pitchFamily="18" charset="0"/>
                                </a:rPr>
                                <m:t>𝑡</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𝑎</m:t>
                              </m:r>
                            </m:e>
                            <m:sub>
                              <m:r>
                                <a:rPr lang="en-US" sz="2000" b="0" i="1" smtClean="0">
                                  <a:latin typeface="Cambria Math" panose="02040503050406030204" pitchFamily="18" charset="0"/>
                                </a:rPr>
                                <m:t>𝑡</m:t>
                              </m:r>
                            </m:sub>
                          </m:sSub>
                        </m:e>
                      </m:d>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𝛼</m:t>
                          </m:r>
                        </m:e>
                        <m:sub>
                          <m:r>
                            <a:rPr lang="en-US" sz="2000" b="0" i="1" smtClean="0">
                              <a:latin typeface="Cambria Math" panose="02040503050406030204" pitchFamily="18" charset="0"/>
                            </a:rPr>
                            <m:t>𝑡</m:t>
                          </m:r>
                        </m:sub>
                      </m:sSub>
                      <m:d>
                        <m:dPr>
                          <m:ctrlPr>
                            <a:rPr lang="en-US" sz="2000" b="0" i="1" smtClean="0">
                              <a:latin typeface="Cambria Math" panose="02040503050406030204" pitchFamily="18" charset="0"/>
                            </a:rPr>
                          </m:ctrlPr>
                        </m:dPr>
                        <m:e>
                          <m:acc>
                            <m:accPr>
                              <m:chr m:val="̃"/>
                              <m:ctrlPr>
                                <a:rPr lang="en-US" sz="2000" b="1" i="1" smtClean="0">
                                  <a:solidFill>
                                    <a:srgbClr val="C00000"/>
                                  </a:solidFill>
                                  <a:latin typeface="Cambria Math" panose="02040503050406030204" pitchFamily="18" charset="0"/>
                                </a:rPr>
                              </m:ctrlPr>
                            </m:accPr>
                            <m:e>
                              <m:sSub>
                                <m:sSubPr>
                                  <m:ctrlPr>
                                    <a:rPr lang="en-US" sz="2000" b="1" i="1" smtClean="0">
                                      <a:solidFill>
                                        <a:srgbClr val="C00000"/>
                                      </a:solidFill>
                                      <a:latin typeface="Cambria Math" panose="02040503050406030204" pitchFamily="18" charset="0"/>
                                    </a:rPr>
                                  </m:ctrlPr>
                                </m:sSubPr>
                                <m:e>
                                  <m:r>
                                    <a:rPr lang="en-US" sz="2000" b="1" i="1" smtClean="0">
                                      <a:solidFill>
                                        <a:srgbClr val="C00000"/>
                                      </a:solidFill>
                                      <a:latin typeface="Cambria Math" panose="02040503050406030204" pitchFamily="18" charset="0"/>
                                    </a:rPr>
                                    <m:t>𝒓</m:t>
                                  </m:r>
                                </m:e>
                                <m:sub>
                                  <m:r>
                                    <a:rPr lang="en-US" sz="2000" b="1" i="1" smtClean="0">
                                      <a:solidFill>
                                        <a:srgbClr val="C00000"/>
                                      </a:solidFill>
                                      <a:latin typeface="Cambria Math" panose="02040503050406030204" pitchFamily="18" charset="0"/>
                                    </a:rPr>
                                    <m:t>𝒕</m:t>
                                  </m:r>
                                </m:sub>
                              </m:sSub>
                            </m:e>
                          </m:acc>
                          <m:r>
                            <a:rPr lang="en-US" sz="2000" b="1" i="1" smtClean="0">
                              <a:solidFill>
                                <a:srgbClr val="C00000"/>
                              </a:solidFill>
                              <a:latin typeface="Cambria Math" panose="02040503050406030204" pitchFamily="18" charset="0"/>
                            </a:rPr>
                            <m:t> </m:t>
                          </m:r>
                          <m:r>
                            <a:rPr lang="en-US" sz="2000" b="0" i="1" smtClean="0">
                              <a:latin typeface="Cambria Math" panose="02040503050406030204" pitchFamily="18" charset="0"/>
                            </a:rPr>
                            <m:t>+</m:t>
                          </m:r>
                          <m:r>
                            <a:rPr lang="en-US" sz="2000" b="0" i="1" smtClean="0">
                              <a:latin typeface="Cambria Math" panose="02040503050406030204" pitchFamily="18" charset="0"/>
                            </a:rPr>
                            <m:t>𝛾</m:t>
                          </m:r>
                          <m:func>
                            <m:funcPr>
                              <m:ctrlPr>
                                <a:rPr lang="en-US" sz="2000" b="0" i="1" smtClean="0">
                                  <a:latin typeface="Cambria Math" panose="02040503050406030204" pitchFamily="18" charset="0"/>
                                </a:rPr>
                              </m:ctrlPr>
                            </m:funcPr>
                            <m:fName>
                              <m:limLow>
                                <m:limLowPr>
                                  <m:ctrlPr>
                                    <a:rPr lang="en-US" sz="2000" b="0" i="1" smtClean="0">
                                      <a:latin typeface="Cambria Math" panose="02040503050406030204" pitchFamily="18" charset="0"/>
                                    </a:rPr>
                                  </m:ctrlPr>
                                </m:limLowPr>
                                <m:e>
                                  <m:r>
                                    <m:rPr>
                                      <m:sty m:val="p"/>
                                    </m:rPr>
                                    <a:rPr lang="en-US" sz="2000" b="0" i="0" smtClean="0">
                                      <a:latin typeface="Cambria Math" panose="02040503050406030204" pitchFamily="18" charset="0"/>
                                    </a:rPr>
                                    <m:t>max</m:t>
                                  </m:r>
                                </m:e>
                                <m:lim>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𝑎</m:t>
                                      </m:r>
                                    </m:e>
                                    <m:sup>
                                      <m:r>
                                        <a:rPr lang="en-US" sz="2000" b="0" i="1" smtClean="0">
                                          <a:latin typeface="Cambria Math" panose="02040503050406030204" pitchFamily="18" charset="0"/>
                                        </a:rPr>
                                        <m:t>′</m:t>
                                      </m:r>
                                    </m:sup>
                                  </m:sSup>
                                  <m:r>
                                    <a:rPr lang="en-US" sz="2000" b="0" i="1" smtClean="0">
                                      <a:latin typeface="Cambria Math" panose="02040503050406030204" pitchFamily="18" charset="0"/>
                                    </a:rPr>
                                    <m:t>∈</m:t>
                                  </m:r>
                                  <m:r>
                                    <a:rPr lang="en-US" sz="2000" b="0" i="1" smtClean="0">
                                      <a:latin typeface="Cambria Math" panose="02040503050406030204" pitchFamily="18" charset="0"/>
                                    </a:rPr>
                                    <m:t>𝐴</m:t>
                                  </m:r>
                                </m:lim>
                              </m:limLow>
                            </m:fName>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𝑄</m:t>
                                  </m:r>
                                </m:e>
                                <m:sub>
                                  <m:r>
                                    <a:rPr lang="en-US" sz="2000" b="0" i="1" smtClean="0">
                                      <a:latin typeface="Cambria Math" panose="02040503050406030204" pitchFamily="18" charset="0"/>
                                    </a:rPr>
                                    <m:t>𝑡</m:t>
                                  </m:r>
                                </m:sub>
                              </m:sSub>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𝑠</m:t>
                                      </m:r>
                                    </m:e>
                                    <m:sub>
                                      <m:r>
                                        <a:rPr lang="en-US" sz="2000" b="0" i="1" smtClean="0">
                                          <a:latin typeface="Cambria Math" panose="02040503050406030204" pitchFamily="18" charset="0"/>
                                        </a:rPr>
                                        <m:t>𝑡</m:t>
                                      </m:r>
                                      <m:r>
                                        <a:rPr lang="en-US" sz="2000" b="0" i="1" smtClean="0">
                                          <a:latin typeface="Cambria Math" panose="02040503050406030204" pitchFamily="18" charset="0"/>
                                        </a:rPr>
                                        <m:t>+1</m:t>
                                      </m:r>
                                    </m:sub>
                                  </m:sSub>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𝑎</m:t>
                                      </m:r>
                                    </m:e>
                                    <m:sup>
                                      <m:r>
                                        <a:rPr lang="en-US" sz="2000" b="0" i="1" smtClean="0">
                                          <a:latin typeface="Cambria Math" panose="02040503050406030204" pitchFamily="18" charset="0"/>
                                        </a:rPr>
                                        <m:t>′</m:t>
                                      </m:r>
                                    </m:sup>
                                  </m:sSup>
                                </m:e>
                              </m:d>
                            </m:e>
                          </m:func>
                        </m:e>
                      </m:d>
                    </m:oMath>
                  </m:oMathPara>
                </a14:m>
                <a:endParaRPr lang="en-US" sz="2000" dirty="0"/>
              </a:p>
            </p:txBody>
          </p:sp>
        </mc:Choice>
        <mc:Fallback>
          <p:sp>
            <p:nvSpPr>
              <p:cNvPr id="63" name="TextBox 62">
                <a:extLst>
                  <a:ext uri="{FF2B5EF4-FFF2-40B4-BE49-F238E27FC236}">
                    <a16:creationId xmlns:a16="http://schemas.microsoft.com/office/drawing/2014/main" id="{E5A9A4C4-991A-BDEB-F21C-7C1DE169E0AF}"/>
                  </a:ext>
                </a:extLst>
              </p:cNvPr>
              <p:cNvSpPr txBox="1">
                <a:spLocks noRot="1" noChangeAspect="1" noMove="1" noResize="1" noEditPoints="1" noAdjustHandles="1" noChangeArrowheads="1" noChangeShapeType="1" noTextEdit="1"/>
              </p:cNvSpPr>
              <p:nvPr/>
            </p:nvSpPr>
            <p:spPr>
              <a:xfrm>
                <a:off x="2456340" y="5546149"/>
                <a:ext cx="11019934" cy="584071"/>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E4B1563D-7264-A909-5FDA-D21777709285}"/>
                  </a:ext>
                </a:extLst>
              </p:cNvPr>
              <p:cNvSpPr txBox="1"/>
              <p:nvPr/>
            </p:nvSpPr>
            <p:spPr>
              <a:xfrm>
                <a:off x="430259" y="5612734"/>
                <a:ext cx="3305520" cy="400110"/>
              </a:xfrm>
              <a:prstGeom prst="rect">
                <a:avLst/>
              </a:prstGeom>
              <a:noFill/>
            </p:spPr>
            <p:txBody>
              <a:bodyPr wrap="none" rtlCol="0">
                <a:spAutoFit/>
              </a:bodyPr>
              <a:lstStyle/>
              <a:p>
                <a:r>
                  <a:rPr lang="en-US" sz="2000" dirty="0">
                    <a:solidFill>
                      <a:srgbClr val="002060"/>
                    </a:solidFill>
                  </a:rPr>
                  <a:t>Robust </a:t>
                </a:r>
                <a14:m>
                  <m:oMath xmlns:m="http://schemas.openxmlformats.org/officeDocument/2006/math">
                    <m:r>
                      <a:rPr lang="en-US" sz="2000" b="0" i="1" smtClean="0">
                        <a:solidFill>
                          <a:srgbClr val="002060"/>
                        </a:solidFill>
                        <a:latin typeface="Cambria Math" panose="02040503050406030204" pitchFamily="18" charset="0"/>
                      </a:rPr>
                      <m:t>𝑄</m:t>
                    </m:r>
                  </m:oMath>
                </a14:m>
                <a:r>
                  <a:rPr lang="en-US" sz="2000" dirty="0">
                    <a:solidFill>
                      <a:srgbClr val="002060"/>
                    </a:solidFill>
                  </a:rPr>
                  <a:t>-Learning Update</a:t>
                </a:r>
                <a:endParaRPr lang="en-IN" sz="2000" dirty="0">
                  <a:solidFill>
                    <a:srgbClr val="002060"/>
                  </a:solidFill>
                </a:endParaRPr>
              </a:p>
            </p:txBody>
          </p:sp>
        </mc:Choice>
        <mc:Fallback xmlns="">
          <p:sp>
            <p:nvSpPr>
              <p:cNvPr id="64" name="TextBox 63">
                <a:extLst>
                  <a:ext uri="{FF2B5EF4-FFF2-40B4-BE49-F238E27FC236}">
                    <a16:creationId xmlns:a16="http://schemas.microsoft.com/office/drawing/2014/main" id="{E4B1563D-7264-A909-5FDA-D21777709285}"/>
                  </a:ext>
                </a:extLst>
              </p:cNvPr>
              <p:cNvSpPr txBox="1">
                <a:spLocks noRot="1" noChangeAspect="1" noMove="1" noResize="1" noEditPoints="1" noAdjustHandles="1" noChangeArrowheads="1" noChangeShapeType="1" noTextEdit="1"/>
              </p:cNvSpPr>
              <p:nvPr/>
            </p:nvSpPr>
            <p:spPr>
              <a:xfrm>
                <a:off x="430259" y="5612734"/>
                <a:ext cx="3305520" cy="400110"/>
              </a:xfrm>
              <a:prstGeom prst="rect">
                <a:avLst/>
              </a:prstGeom>
              <a:blipFill>
                <a:blip r:embed="rId15"/>
                <a:stretch>
                  <a:fillRect l="-2030" t="-9231" r="-923" b="-27692"/>
                </a:stretch>
              </a:blipFill>
            </p:spPr>
            <p:txBody>
              <a:bodyPr/>
              <a:lstStyle/>
              <a:p>
                <a:r>
                  <a:rPr lang="en-IN">
                    <a:noFill/>
                  </a:rPr>
                  <a:t> </a:t>
                </a:r>
              </a:p>
            </p:txBody>
          </p:sp>
        </mc:Fallback>
      </mc:AlternateContent>
      <p:sp>
        <p:nvSpPr>
          <p:cNvPr id="65" name="Arrow: Right 64">
            <a:extLst>
              <a:ext uri="{FF2B5EF4-FFF2-40B4-BE49-F238E27FC236}">
                <a16:creationId xmlns:a16="http://schemas.microsoft.com/office/drawing/2014/main" id="{0B7C46AB-A2F6-7486-1F76-0EF9E5C8F126}"/>
              </a:ext>
            </a:extLst>
          </p:cNvPr>
          <p:cNvSpPr/>
          <p:nvPr/>
        </p:nvSpPr>
        <p:spPr>
          <a:xfrm>
            <a:off x="3875503" y="5663523"/>
            <a:ext cx="421241" cy="349321"/>
          </a:xfrm>
          <a:prstGeom prst="rightArrow">
            <a:avLst/>
          </a:prstGeom>
          <a:solidFill>
            <a:srgbClr val="06240B">
              <a:alpha val="42000"/>
            </a:srgbClr>
          </a:solidFill>
          <a:ln>
            <a:solidFill>
              <a:srgbClr val="0624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719622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5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500"/>
                                        <p:tgtEl>
                                          <p:spTgt spid="3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9"/>
                                        </p:tgtEl>
                                        <p:attrNameLst>
                                          <p:attrName>style.visibility</p:attrName>
                                        </p:attrNameLst>
                                      </p:cBhvr>
                                      <p:to>
                                        <p:strVal val="visible"/>
                                      </p:to>
                                    </p:set>
                                    <p:animEffect transition="in" filter="fade">
                                      <p:cBhvr>
                                        <p:cTn id="34" dur="500"/>
                                        <p:tgtEl>
                                          <p:spTgt spid="39"/>
                                        </p:tgtEl>
                                      </p:cBhvr>
                                    </p:animEffect>
                                  </p:childTnLst>
                                </p:cTn>
                              </p:par>
                              <p:par>
                                <p:cTn id="35" presetID="10" presetClass="entr" presetSubtype="0" fill="hold" nodeType="withEffect">
                                  <p:stCondLst>
                                    <p:cond delay="0"/>
                                  </p:stCondLst>
                                  <p:childTnLst>
                                    <p:set>
                                      <p:cBhvr>
                                        <p:cTn id="36" dur="1" fill="hold">
                                          <p:stCondLst>
                                            <p:cond delay="0"/>
                                          </p:stCondLst>
                                        </p:cTn>
                                        <p:tgtEl>
                                          <p:spTgt spid="43"/>
                                        </p:tgtEl>
                                        <p:attrNameLst>
                                          <p:attrName>style.visibility</p:attrName>
                                        </p:attrNameLst>
                                      </p:cBhvr>
                                      <p:to>
                                        <p:strVal val="visible"/>
                                      </p:to>
                                    </p:set>
                                    <p:animEffect transition="in" filter="fade">
                                      <p:cBhvr>
                                        <p:cTn id="37" dur="500"/>
                                        <p:tgtEl>
                                          <p:spTgt spid="43"/>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48"/>
                                        </p:tgtEl>
                                        <p:attrNameLst>
                                          <p:attrName>style.visibility</p:attrName>
                                        </p:attrNameLst>
                                      </p:cBhvr>
                                      <p:to>
                                        <p:strVal val="visible"/>
                                      </p:to>
                                    </p:set>
                                    <p:animEffect transition="in" filter="fade">
                                      <p:cBhvr>
                                        <p:cTn id="40" dur="500"/>
                                        <p:tgtEl>
                                          <p:spTgt spid="48"/>
                                        </p:tgtEl>
                                      </p:cBhvr>
                                    </p:animEffect>
                                  </p:childTnLst>
                                </p:cTn>
                              </p:par>
                              <p:par>
                                <p:cTn id="41" presetID="10" presetClass="entr" presetSubtype="0" fill="hold" nodeType="withEffect">
                                  <p:stCondLst>
                                    <p:cond delay="0"/>
                                  </p:stCondLst>
                                  <p:childTnLst>
                                    <p:set>
                                      <p:cBhvr>
                                        <p:cTn id="42" dur="1" fill="hold">
                                          <p:stCondLst>
                                            <p:cond delay="0"/>
                                          </p:stCondLst>
                                        </p:cTn>
                                        <p:tgtEl>
                                          <p:spTgt spid="50"/>
                                        </p:tgtEl>
                                        <p:attrNameLst>
                                          <p:attrName>style.visibility</p:attrName>
                                        </p:attrNameLst>
                                      </p:cBhvr>
                                      <p:to>
                                        <p:strVal val="visible"/>
                                      </p:to>
                                    </p:set>
                                    <p:animEffect transition="in" filter="fade">
                                      <p:cBhvr>
                                        <p:cTn id="43" dur="500"/>
                                        <p:tgtEl>
                                          <p:spTgt spid="50"/>
                                        </p:tgtEl>
                                      </p:cBhvr>
                                    </p:animEffect>
                                  </p:childTnLst>
                                </p:cTn>
                              </p:par>
                              <p:par>
                                <p:cTn id="44" presetID="10" presetClass="entr" presetSubtype="0" fill="hold" nodeType="withEffect">
                                  <p:stCondLst>
                                    <p:cond delay="0"/>
                                  </p:stCondLst>
                                  <p:childTnLst>
                                    <p:set>
                                      <p:cBhvr>
                                        <p:cTn id="45" dur="1" fill="hold">
                                          <p:stCondLst>
                                            <p:cond delay="0"/>
                                          </p:stCondLst>
                                        </p:cTn>
                                        <p:tgtEl>
                                          <p:spTgt spid="55"/>
                                        </p:tgtEl>
                                        <p:attrNameLst>
                                          <p:attrName>style.visibility</p:attrName>
                                        </p:attrNameLst>
                                      </p:cBhvr>
                                      <p:to>
                                        <p:strVal val="visible"/>
                                      </p:to>
                                    </p:set>
                                    <p:animEffect transition="in" filter="fade">
                                      <p:cBhvr>
                                        <p:cTn id="46" dur="500"/>
                                        <p:tgtEl>
                                          <p:spTgt spid="55"/>
                                        </p:tgtEl>
                                      </p:cBhvr>
                                    </p:animEffect>
                                  </p:childTnLst>
                                </p:cTn>
                              </p:par>
                              <p:par>
                                <p:cTn id="47" presetID="1" presetClass="entr" presetSubtype="0" fill="hold" nodeType="withEffect">
                                  <p:stCondLst>
                                    <p:cond delay="0"/>
                                  </p:stCondLst>
                                  <p:childTnLst>
                                    <p:set>
                                      <p:cBhvr>
                                        <p:cTn id="48" dur="1" fill="hold">
                                          <p:stCondLst>
                                            <p:cond delay="0"/>
                                          </p:stCondLst>
                                        </p:cTn>
                                        <p:tgtEl>
                                          <p:spTgt spid="54">
                                            <p:txEl>
                                              <p:pRg st="0" end="0"/>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15"/>
                                        </p:tgtEl>
                                        <p:attrNameLst>
                                          <p:attrName>style.visibility</p:attrName>
                                        </p:attrNameLst>
                                      </p:cBhvr>
                                      <p:to>
                                        <p:strVal val="visible"/>
                                      </p:to>
                                    </p:set>
                                    <p:animEffect transition="in" filter="fade">
                                      <p:cBhvr>
                                        <p:cTn id="53" dur="500"/>
                                        <p:tgtEl>
                                          <p:spTgt spid="15"/>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60"/>
                                        </p:tgtEl>
                                        <p:attrNameLst>
                                          <p:attrName>style.visibility</p:attrName>
                                        </p:attrNameLst>
                                      </p:cBhvr>
                                      <p:to>
                                        <p:strVal val="visible"/>
                                      </p:to>
                                    </p:set>
                                    <p:animEffect transition="in" filter="fade">
                                      <p:cBhvr>
                                        <p:cTn id="56" dur="500"/>
                                        <p:tgtEl>
                                          <p:spTgt spid="60"/>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61"/>
                                        </p:tgtEl>
                                        <p:attrNameLst>
                                          <p:attrName>style.visibility</p:attrName>
                                        </p:attrNameLst>
                                      </p:cBhvr>
                                      <p:to>
                                        <p:strVal val="visible"/>
                                      </p:to>
                                    </p:set>
                                    <p:animEffect transition="in" filter="fade">
                                      <p:cBhvr>
                                        <p:cTn id="59" dur="500"/>
                                        <p:tgtEl>
                                          <p:spTgt spid="61"/>
                                        </p:tgtEl>
                                      </p:cBhvr>
                                    </p:animEffect>
                                  </p:childTnLst>
                                </p:cTn>
                              </p:par>
                              <p:par>
                                <p:cTn id="60" presetID="10" presetClass="entr" presetSubtype="0" fill="hold" nodeType="withEffect">
                                  <p:stCondLst>
                                    <p:cond delay="0"/>
                                  </p:stCondLst>
                                  <p:childTnLst>
                                    <p:set>
                                      <p:cBhvr>
                                        <p:cTn id="61" dur="1" fill="hold">
                                          <p:stCondLst>
                                            <p:cond delay="0"/>
                                          </p:stCondLst>
                                        </p:cTn>
                                        <p:tgtEl>
                                          <p:spTgt spid="59">
                                            <p:txEl>
                                              <p:pRg st="0" end="0"/>
                                            </p:txEl>
                                          </p:spTgt>
                                        </p:tgtEl>
                                        <p:attrNameLst>
                                          <p:attrName>style.visibility</p:attrName>
                                        </p:attrNameLst>
                                      </p:cBhvr>
                                      <p:to>
                                        <p:strVal val="visible"/>
                                      </p:to>
                                    </p:set>
                                    <p:animEffect transition="in" filter="fade">
                                      <p:cBhvr>
                                        <p:cTn id="62" dur="500"/>
                                        <p:tgtEl>
                                          <p:spTgt spid="59">
                                            <p:txEl>
                                              <p:pRg st="0" end="0"/>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64">
                                            <p:txEl>
                                              <p:pRg st="0" end="0"/>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65"/>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62"/>
                                        </p:tgtEl>
                                        <p:attrNameLst>
                                          <p:attrName>style.visibility</p:attrName>
                                        </p:attrNameLst>
                                      </p:cBhvr>
                                      <p:to>
                                        <p:strVal val="visible"/>
                                      </p:to>
                                    </p:set>
                                    <p:animEffect transition="in" filter="fade">
                                      <p:cBhvr>
                                        <p:cTn id="75" dur="500"/>
                                        <p:tgtEl>
                                          <p:spTgt spid="62"/>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63"/>
                                        </p:tgtEl>
                                        <p:attrNameLst>
                                          <p:attrName>style.visibility</p:attrName>
                                        </p:attrNameLst>
                                      </p:cBhvr>
                                      <p:to>
                                        <p:strVal val="visible"/>
                                      </p:to>
                                    </p:set>
                                    <p:animEffect transition="in" filter="fade">
                                      <p:cBhvr>
                                        <p:cTn id="78"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p:bldP spid="11" grpId="0"/>
      <p:bldP spid="12" grpId="0" animBg="1"/>
      <p:bldP spid="13" grpId="0" animBg="1"/>
      <p:bldP spid="14" grpId="0" animBg="1"/>
      <p:bldP spid="30" grpId="0"/>
      <p:bldP spid="39" grpId="0"/>
      <p:bldP spid="48" grpId="0"/>
      <p:bldP spid="60" grpId="0" animBg="1"/>
      <p:bldP spid="61" grpId="0"/>
      <p:bldP spid="62" grpId="0" animBg="1"/>
      <p:bldP spid="63" grpId="0"/>
      <p:bldP spid="6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F3F87D6-48FA-FA1B-CF5F-23E38264D26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4E2F2DF-263A-B199-8791-567BA65DC41A}"/>
              </a:ext>
            </a:extLst>
          </p:cNvPr>
          <p:cNvSpPr>
            <a:spLocks noGrp="1"/>
          </p:cNvSpPr>
          <p:nvPr>
            <p:ph type="sldNum" sz="quarter" idx="12"/>
          </p:nvPr>
        </p:nvSpPr>
        <p:spPr>
          <a:xfrm>
            <a:off x="11116127" y="6487841"/>
            <a:ext cx="914400" cy="320040"/>
          </a:xfrm>
        </p:spPr>
        <p:txBody>
          <a:bodyPr/>
          <a:lstStyle/>
          <a:p>
            <a:fld id="{6D22F896-40B5-4ADD-8801-0D06FADFA095}" type="slidenum">
              <a:rPr lang="en-US" smtClean="0"/>
              <a:t>7</a:t>
            </a:fld>
            <a:endParaRPr lang="en-US" dirty="0"/>
          </a:p>
        </p:txBody>
      </p:sp>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19796F6-5021-E316-16F0-812694DCF079}"/>
                  </a:ext>
                </a:extLst>
              </p:cNvPr>
              <p:cNvSpPr txBox="1">
                <a:spLocks/>
              </p:cNvSpPr>
              <p:nvPr/>
            </p:nvSpPr>
            <p:spPr>
              <a:xfrm>
                <a:off x="787879" y="331609"/>
                <a:ext cx="10730524" cy="850217"/>
              </a:xfrm>
              <a:prstGeom prst="rect">
                <a:avLst/>
              </a:prstGeom>
            </p:spPr>
            <p:txBody>
              <a:bodyPr/>
              <a:lstStyle>
                <a:lvl1pPr algn="ctr" defTabSz="914400" rtl="0" eaLnBrk="1" latinLnBrk="0" hangingPunct="1">
                  <a:lnSpc>
                    <a:spcPct val="85000"/>
                  </a:lnSpc>
                  <a:spcBef>
                    <a:spcPct val="0"/>
                  </a:spcBef>
                  <a:buNone/>
                  <a:defRPr sz="4000" b="0" i="0" kern="1200" cap="none" spc="-150">
                    <a:solidFill>
                      <a:schemeClr val="tx1"/>
                    </a:solidFill>
                    <a:effectLst/>
                    <a:latin typeface="+mj-lt"/>
                    <a:ea typeface="+mj-ea"/>
                    <a:cs typeface="+mj-cs"/>
                  </a:defRPr>
                </a:lvl1pPr>
              </a:lstStyle>
              <a:p>
                <a:r>
                  <a:rPr lang="en-US" dirty="0">
                    <a:solidFill>
                      <a:srgbClr val="002060"/>
                    </a:solidFill>
                    <a:latin typeface="+mn-lt"/>
                  </a:rPr>
                  <a:t>Convergence Guarantee of Robust </a:t>
                </a:r>
                <a14:m>
                  <m:oMath xmlns:m="http://schemas.openxmlformats.org/officeDocument/2006/math">
                    <m:r>
                      <a:rPr lang="en-US" b="0" i="1" smtClean="0">
                        <a:solidFill>
                          <a:srgbClr val="002060"/>
                        </a:solidFill>
                        <a:latin typeface="Cambria Math" panose="02040503050406030204" pitchFamily="18" charset="0"/>
                      </a:rPr>
                      <m:t>𝑄</m:t>
                    </m:r>
                    <m:r>
                      <a:rPr lang="en-US" b="0" i="1" smtClean="0">
                        <a:solidFill>
                          <a:srgbClr val="002060"/>
                        </a:solidFill>
                        <a:latin typeface="Cambria Math" panose="02040503050406030204" pitchFamily="18" charset="0"/>
                      </a:rPr>
                      <m:t>− </m:t>
                    </m:r>
                  </m:oMath>
                </a14:m>
                <a:r>
                  <a:rPr lang="en-IN" dirty="0">
                    <a:solidFill>
                      <a:srgbClr val="002060"/>
                    </a:solidFill>
                    <a:latin typeface="+mn-lt"/>
                  </a:rPr>
                  <a:t>Learning</a:t>
                </a:r>
                <a:endParaRPr lang="en-IN" dirty="0">
                  <a:solidFill>
                    <a:srgbClr val="C00000"/>
                  </a:solidFill>
                  <a:latin typeface="+mn-lt"/>
                </a:endParaRPr>
              </a:p>
            </p:txBody>
          </p:sp>
        </mc:Choice>
        <mc:Fallback xmlns="">
          <p:sp>
            <p:nvSpPr>
              <p:cNvPr id="2" name="Title 1">
                <a:extLst>
                  <a:ext uri="{FF2B5EF4-FFF2-40B4-BE49-F238E27FC236}">
                    <a16:creationId xmlns:a16="http://schemas.microsoft.com/office/drawing/2014/main" id="{819796F6-5021-E316-16F0-812694DCF079}"/>
                  </a:ext>
                </a:extLst>
              </p:cNvPr>
              <p:cNvSpPr txBox="1">
                <a:spLocks noRot="1" noChangeAspect="1" noMove="1" noResize="1" noEditPoints="1" noAdjustHandles="1" noChangeArrowheads="1" noChangeShapeType="1" noTextEdit="1"/>
              </p:cNvSpPr>
              <p:nvPr/>
            </p:nvSpPr>
            <p:spPr>
              <a:xfrm>
                <a:off x="787879" y="331609"/>
                <a:ext cx="10730524" cy="850217"/>
              </a:xfrm>
              <a:prstGeom prst="rect">
                <a:avLst/>
              </a:prstGeom>
              <a:blipFill>
                <a:blip r:embed="rId3"/>
                <a:stretch>
                  <a:fillRect l="-1249" t="-23571" r="-1249" b="-214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 name="Rectangle: Rounded Corners 2">
                <a:extLst>
                  <a:ext uri="{FF2B5EF4-FFF2-40B4-BE49-F238E27FC236}">
                    <a16:creationId xmlns:a16="http://schemas.microsoft.com/office/drawing/2014/main" id="{7705A2E5-3EE8-1367-512C-7B4BC8DC054C}"/>
                  </a:ext>
                </a:extLst>
              </p:cNvPr>
              <p:cNvSpPr/>
              <p:nvPr/>
            </p:nvSpPr>
            <p:spPr>
              <a:xfrm>
                <a:off x="287071" y="1223609"/>
                <a:ext cx="11231332" cy="2773038"/>
              </a:xfrm>
              <a:custGeom>
                <a:avLst/>
                <a:gdLst>
                  <a:gd name="csX0" fmla="*/ 0 w 11231332"/>
                  <a:gd name="csY0" fmla="*/ 462182 h 2773038"/>
                  <a:gd name="csX1" fmla="*/ 462182 w 11231332"/>
                  <a:gd name="csY1" fmla="*/ 0 h 2773038"/>
                  <a:gd name="csX2" fmla="*/ 1149313 w 11231332"/>
                  <a:gd name="csY2" fmla="*/ 0 h 2773038"/>
                  <a:gd name="csX3" fmla="*/ 1939514 w 11231332"/>
                  <a:gd name="csY3" fmla="*/ 0 h 2773038"/>
                  <a:gd name="csX4" fmla="*/ 2420506 w 11231332"/>
                  <a:gd name="csY4" fmla="*/ 0 h 2773038"/>
                  <a:gd name="csX5" fmla="*/ 3107637 w 11231332"/>
                  <a:gd name="csY5" fmla="*/ 0 h 2773038"/>
                  <a:gd name="csX6" fmla="*/ 3485559 w 11231332"/>
                  <a:gd name="csY6" fmla="*/ 0 h 2773038"/>
                  <a:gd name="csX7" fmla="*/ 4378830 w 11231332"/>
                  <a:gd name="csY7" fmla="*/ 0 h 2773038"/>
                  <a:gd name="csX8" fmla="*/ 5065961 w 11231332"/>
                  <a:gd name="csY8" fmla="*/ 0 h 2773038"/>
                  <a:gd name="csX9" fmla="*/ 5959232 w 11231332"/>
                  <a:gd name="csY9" fmla="*/ 0 h 2773038"/>
                  <a:gd name="csX10" fmla="*/ 6543293 w 11231332"/>
                  <a:gd name="csY10" fmla="*/ 0 h 2773038"/>
                  <a:gd name="csX11" fmla="*/ 7024285 w 11231332"/>
                  <a:gd name="csY11" fmla="*/ 0 h 2773038"/>
                  <a:gd name="csX12" fmla="*/ 7711416 w 11231332"/>
                  <a:gd name="csY12" fmla="*/ 0 h 2773038"/>
                  <a:gd name="csX13" fmla="*/ 8501617 w 11231332"/>
                  <a:gd name="csY13" fmla="*/ 0 h 2773038"/>
                  <a:gd name="csX14" fmla="*/ 9394888 w 11231332"/>
                  <a:gd name="csY14" fmla="*/ 0 h 2773038"/>
                  <a:gd name="csX15" fmla="*/ 10185088 w 11231332"/>
                  <a:gd name="csY15" fmla="*/ 0 h 2773038"/>
                  <a:gd name="csX16" fmla="*/ 10769150 w 11231332"/>
                  <a:gd name="csY16" fmla="*/ 0 h 2773038"/>
                  <a:gd name="csX17" fmla="*/ 11231332 w 11231332"/>
                  <a:gd name="csY17" fmla="*/ 462182 h 2773038"/>
                  <a:gd name="csX18" fmla="*/ 11231332 w 11231332"/>
                  <a:gd name="csY18" fmla="*/ 1078407 h 2773038"/>
                  <a:gd name="csX19" fmla="*/ 11231332 w 11231332"/>
                  <a:gd name="csY19" fmla="*/ 1676145 h 2773038"/>
                  <a:gd name="csX20" fmla="*/ 11231332 w 11231332"/>
                  <a:gd name="csY20" fmla="*/ 2310856 h 2773038"/>
                  <a:gd name="csX21" fmla="*/ 10769150 w 11231332"/>
                  <a:gd name="csY21" fmla="*/ 2773038 h 2773038"/>
                  <a:gd name="csX22" fmla="*/ 10391228 w 11231332"/>
                  <a:gd name="csY22" fmla="*/ 2773038 h 2773038"/>
                  <a:gd name="csX23" fmla="*/ 9704097 w 11231332"/>
                  <a:gd name="csY23" fmla="*/ 2773038 h 2773038"/>
                  <a:gd name="csX24" fmla="*/ 9016965 w 11231332"/>
                  <a:gd name="csY24" fmla="*/ 2773038 h 2773038"/>
                  <a:gd name="csX25" fmla="*/ 8432904 w 11231332"/>
                  <a:gd name="csY25" fmla="*/ 2773038 h 2773038"/>
                  <a:gd name="csX26" fmla="*/ 7539633 w 11231332"/>
                  <a:gd name="csY26" fmla="*/ 2773038 h 2773038"/>
                  <a:gd name="csX27" fmla="*/ 7058642 w 11231332"/>
                  <a:gd name="csY27" fmla="*/ 2773038 h 2773038"/>
                  <a:gd name="csX28" fmla="*/ 6165371 w 11231332"/>
                  <a:gd name="csY28" fmla="*/ 2773038 h 2773038"/>
                  <a:gd name="csX29" fmla="*/ 5684379 w 11231332"/>
                  <a:gd name="csY29" fmla="*/ 2773038 h 2773038"/>
                  <a:gd name="csX30" fmla="*/ 4894178 w 11231332"/>
                  <a:gd name="csY30" fmla="*/ 2773038 h 2773038"/>
                  <a:gd name="csX31" fmla="*/ 4000908 w 11231332"/>
                  <a:gd name="csY31" fmla="*/ 2773038 h 2773038"/>
                  <a:gd name="csX32" fmla="*/ 3622986 w 11231332"/>
                  <a:gd name="csY32" fmla="*/ 2773038 h 2773038"/>
                  <a:gd name="csX33" fmla="*/ 2729715 w 11231332"/>
                  <a:gd name="csY33" fmla="*/ 2773038 h 2773038"/>
                  <a:gd name="csX34" fmla="*/ 1836444 w 11231332"/>
                  <a:gd name="csY34" fmla="*/ 2773038 h 2773038"/>
                  <a:gd name="csX35" fmla="*/ 1458522 w 11231332"/>
                  <a:gd name="csY35" fmla="*/ 2773038 h 2773038"/>
                  <a:gd name="csX36" fmla="*/ 462182 w 11231332"/>
                  <a:gd name="csY36" fmla="*/ 2773038 h 2773038"/>
                  <a:gd name="csX37" fmla="*/ 0 w 11231332"/>
                  <a:gd name="csY37" fmla="*/ 2310856 h 2773038"/>
                  <a:gd name="csX38" fmla="*/ 0 w 11231332"/>
                  <a:gd name="csY38" fmla="*/ 1731605 h 2773038"/>
                  <a:gd name="csX39" fmla="*/ 0 w 11231332"/>
                  <a:gd name="csY39" fmla="*/ 1170840 h 2773038"/>
                  <a:gd name="csX40" fmla="*/ 0 w 11231332"/>
                  <a:gd name="csY40" fmla="*/ 462182 h 27730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Lst>
                <a:rect l="l" t="t" r="r" b="b"/>
                <a:pathLst>
                  <a:path w="11231332" h="2773038" fill="none" extrusionOk="0">
                    <a:moveTo>
                      <a:pt x="0" y="462182"/>
                    </a:moveTo>
                    <a:cubicBezTo>
                      <a:pt x="8530" y="236873"/>
                      <a:pt x="263637" y="23876"/>
                      <a:pt x="462182" y="0"/>
                    </a:cubicBezTo>
                    <a:cubicBezTo>
                      <a:pt x="695261" y="16721"/>
                      <a:pt x="954719" y="5268"/>
                      <a:pt x="1149313" y="0"/>
                    </a:cubicBezTo>
                    <a:cubicBezTo>
                      <a:pt x="1343907" y="-5268"/>
                      <a:pt x="1750695" y="22530"/>
                      <a:pt x="1939514" y="0"/>
                    </a:cubicBezTo>
                    <a:cubicBezTo>
                      <a:pt x="2128333" y="-22530"/>
                      <a:pt x="2281332" y="-19924"/>
                      <a:pt x="2420506" y="0"/>
                    </a:cubicBezTo>
                    <a:cubicBezTo>
                      <a:pt x="2559680" y="19924"/>
                      <a:pt x="2921150" y="-17102"/>
                      <a:pt x="3107637" y="0"/>
                    </a:cubicBezTo>
                    <a:cubicBezTo>
                      <a:pt x="3294124" y="17102"/>
                      <a:pt x="3409434" y="6750"/>
                      <a:pt x="3485559" y="0"/>
                    </a:cubicBezTo>
                    <a:cubicBezTo>
                      <a:pt x="3561684" y="-6750"/>
                      <a:pt x="4146091" y="28411"/>
                      <a:pt x="4378830" y="0"/>
                    </a:cubicBezTo>
                    <a:cubicBezTo>
                      <a:pt x="4611569" y="-28411"/>
                      <a:pt x="4793794" y="4326"/>
                      <a:pt x="5065961" y="0"/>
                    </a:cubicBezTo>
                    <a:cubicBezTo>
                      <a:pt x="5338128" y="-4326"/>
                      <a:pt x="5595003" y="23345"/>
                      <a:pt x="5959232" y="0"/>
                    </a:cubicBezTo>
                    <a:cubicBezTo>
                      <a:pt x="6323461" y="-23345"/>
                      <a:pt x="6391254" y="-15200"/>
                      <a:pt x="6543293" y="0"/>
                    </a:cubicBezTo>
                    <a:cubicBezTo>
                      <a:pt x="6695332" y="15200"/>
                      <a:pt x="6901168" y="4395"/>
                      <a:pt x="7024285" y="0"/>
                    </a:cubicBezTo>
                    <a:cubicBezTo>
                      <a:pt x="7147402" y="-4395"/>
                      <a:pt x="7496624" y="-19125"/>
                      <a:pt x="7711416" y="0"/>
                    </a:cubicBezTo>
                    <a:cubicBezTo>
                      <a:pt x="7926208" y="19125"/>
                      <a:pt x="8130729" y="-23022"/>
                      <a:pt x="8501617" y="0"/>
                    </a:cubicBezTo>
                    <a:cubicBezTo>
                      <a:pt x="8872505" y="23022"/>
                      <a:pt x="9058221" y="-41086"/>
                      <a:pt x="9394888" y="0"/>
                    </a:cubicBezTo>
                    <a:cubicBezTo>
                      <a:pt x="9731555" y="41086"/>
                      <a:pt x="9946414" y="-17313"/>
                      <a:pt x="10185088" y="0"/>
                    </a:cubicBezTo>
                    <a:cubicBezTo>
                      <a:pt x="10423762" y="17313"/>
                      <a:pt x="10482643" y="-938"/>
                      <a:pt x="10769150" y="0"/>
                    </a:cubicBezTo>
                    <a:cubicBezTo>
                      <a:pt x="10977269" y="-4503"/>
                      <a:pt x="11202192" y="219690"/>
                      <a:pt x="11231332" y="462182"/>
                    </a:cubicBezTo>
                    <a:cubicBezTo>
                      <a:pt x="11245631" y="629639"/>
                      <a:pt x="11234980" y="869731"/>
                      <a:pt x="11231332" y="1078407"/>
                    </a:cubicBezTo>
                    <a:cubicBezTo>
                      <a:pt x="11227684" y="1287083"/>
                      <a:pt x="11210933" y="1447934"/>
                      <a:pt x="11231332" y="1676145"/>
                    </a:cubicBezTo>
                    <a:cubicBezTo>
                      <a:pt x="11251731" y="1904356"/>
                      <a:pt x="11224914" y="2007176"/>
                      <a:pt x="11231332" y="2310856"/>
                    </a:cubicBezTo>
                    <a:cubicBezTo>
                      <a:pt x="11290947" y="2578143"/>
                      <a:pt x="10971446" y="2766658"/>
                      <a:pt x="10769150" y="2773038"/>
                    </a:cubicBezTo>
                    <a:cubicBezTo>
                      <a:pt x="10671095" y="2780066"/>
                      <a:pt x="10563389" y="2780429"/>
                      <a:pt x="10391228" y="2773038"/>
                    </a:cubicBezTo>
                    <a:cubicBezTo>
                      <a:pt x="10219067" y="2765647"/>
                      <a:pt x="9930898" y="2757044"/>
                      <a:pt x="9704097" y="2773038"/>
                    </a:cubicBezTo>
                    <a:cubicBezTo>
                      <a:pt x="9477296" y="2789032"/>
                      <a:pt x="9201571" y="2765274"/>
                      <a:pt x="9016965" y="2773038"/>
                    </a:cubicBezTo>
                    <a:cubicBezTo>
                      <a:pt x="8832359" y="2780802"/>
                      <a:pt x="8579143" y="2792486"/>
                      <a:pt x="8432904" y="2773038"/>
                    </a:cubicBezTo>
                    <a:cubicBezTo>
                      <a:pt x="8286665" y="2753590"/>
                      <a:pt x="7970781" y="2799891"/>
                      <a:pt x="7539633" y="2773038"/>
                    </a:cubicBezTo>
                    <a:cubicBezTo>
                      <a:pt x="7108485" y="2746185"/>
                      <a:pt x="7297484" y="2787155"/>
                      <a:pt x="7058642" y="2773038"/>
                    </a:cubicBezTo>
                    <a:cubicBezTo>
                      <a:pt x="6819800" y="2758921"/>
                      <a:pt x="6553359" y="2815110"/>
                      <a:pt x="6165371" y="2773038"/>
                    </a:cubicBezTo>
                    <a:cubicBezTo>
                      <a:pt x="5777383" y="2730966"/>
                      <a:pt x="5833166" y="2753905"/>
                      <a:pt x="5684379" y="2773038"/>
                    </a:cubicBezTo>
                    <a:cubicBezTo>
                      <a:pt x="5535592" y="2792171"/>
                      <a:pt x="5136742" y="2807895"/>
                      <a:pt x="4894178" y="2773038"/>
                    </a:cubicBezTo>
                    <a:cubicBezTo>
                      <a:pt x="4651614" y="2738181"/>
                      <a:pt x="4359280" y="2784468"/>
                      <a:pt x="4000908" y="2773038"/>
                    </a:cubicBezTo>
                    <a:cubicBezTo>
                      <a:pt x="3642536" y="2761609"/>
                      <a:pt x="3803211" y="2772273"/>
                      <a:pt x="3622986" y="2773038"/>
                    </a:cubicBezTo>
                    <a:cubicBezTo>
                      <a:pt x="3442761" y="2773803"/>
                      <a:pt x="2953399" y="2770839"/>
                      <a:pt x="2729715" y="2773038"/>
                    </a:cubicBezTo>
                    <a:cubicBezTo>
                      <a:pt x="2506031" y="2775237"/>
                      <a:pt x="2261538" y="2805746"/>
                      <a:pt x="1836444" y="2773038"/>
                    </a:cubicBezTo>
                    <a:cubicBezTo>
                      <a:pt x="1411350" y="2740330"/>
                      <a:pt x="1574748" y="2759970"/>
                      <a:pt x="1458522" y="2773038"/>
                    </a:cubicBezTo>
                    <a:cubicBezTo>
                      <a:pt x="1342296" y="2786106"/>
                      <a:pt x="887567" y="2802635"/>
                      <a:pt x="462182" y="2773038"/>
                    </a:cubicBezTo>
                    <a:cubicBezTo>
                      <a:pt x="267111" y="2771727"/>
                      <a:pt x="37765" y="2527388"/>
                      <a:pt x="0" y="2310856"/>
                    </a:cubicBezTo>
                    <a:cubicBezTo>
                      <a:pt x="-9252" y="2170995"/>
                      <a:pt x="-202" y="1999864"/>
                      <a:pt x="0" y="1731605"/>
                    </a:cubicBezTo>
                    <a:cubicBezTo>
                      <a:pt x="202" y="1463346"/>
                      <a:pt x="6602" y="1382296"/>
                      <a:pt x="0" y="1170840"/>
                    </a:cubicBezTo>
                    <a:cubicBezTo>
                      <a:pt x="-6602" y="959385"/>
                      <a:pt x="11322" y="666509"/>
                      <a:pt x="0" y="462182"/>
                    </a:cubicBezTo>
                    <a:close/>
                  </a:path>
                  <a:path w="11231332" h="2773038" stroke="0" extrusionOk="0">
                    <a:moveTo>
                      <a:pt x="0" y="462182"/>
                    </a:moveTo>
                    <a:cubicBezTo>
                      <a:pt x="-14868" y="197755"/>
                      <a:pt x="186056" y="7833"/>
                      <a:pt x="462182" y="0"/>
                    </a:cubicBezTo>
                    <a:cubicBezTo>
                      <a:pt x="894258" y="-39095"/>
                      <a:pt x="973805" y="-17549"/>
                      <a:pt x="1355453" y="0"/>
                    </a:cubicBezTo>
                    <a:cubicBezTo>
                      <a:pt x="1737101" y="17549"/>
                      <a:pt x="1733967" y="23288"/>
                      <a:pt x="1939514" y="0"/>
                    </a:cubicBezTo>
                    <a:cubicBezTo>
                      <a:pt x="2145061" y="-23288"/>
                      <a:pt x="2191727" y="-14581"/>
                      <a:pt x="2420506" y="0"/>
                    </a:cubicBezTo>
                    <a:cubicBezTo>
                      <a:pt x="2649285" y="14581"/>
                      <a:pt x="2924327" y="19029"/>
                      <a:pt x="3210707" y="0"/>
                    </a:cubicBezTo>
                    <a:cubicBezTo>
                      <a:pt x="3497087" y="-19029"/>
                      <a:pt x="3669083" y="21568"/>
                      <a:pt x="3794768" y="0"/>
                    </a:cubicBezTo>
                    <a:cubicBezTo>
                      <a:pt x="3920453" y="-21568"/>
                      <a:pt x="4458783" y="-1200"/>
                      <a:pt x="4688039" y="0"/>
                    </a:cubicBezTo>
                    <a:cubicBezTo>
                      <a:pt x="4917295" y="1200"/>
                      <a:pt x="4977727" y="-22532"/>
                      <a:pt x="5169031" y="0"/>
                    </a:cubicBezTo>
                    <a:cubicBezTo>
                      <a:pt x="5360335" y="22532"/>
                      <a:pt x="5693175" y="3373"/>
                      <a:pt x="6062301" y="0"/>
                    </a:cubicBezTo>
                    <a:cubicBezTo>
                      <a:pt x="6431427" y="-3373"/>
                      <a:pt x="6292105" y="18831"/>
                      <a:pt x="6440223" y="0"/>
                    </a:cubicBezTo>
                    <a:cubicBezTo>
                      <a:pt x="6588341" y="-18831"/>
                      <a:pt x="6801826" y="18237"/>
                      <a:pt x="7127355" y="0"/>
                    </a:cubicBezTo>
                    <a:cubicBezTo>
                      <a:pt x="7452884" y="-18237"/>
                      <a:pt x="7564294" y="27617"/>
                      <a:pt x="7814486" y="0"/>
                    </a:cubicBezTo>
                    <a:cubicBezTo>
                      <a:pt x="8064678" y="-27617"/>
                      <a:pt x="8143468" y="-14618"/>
                      <a:pt x="8398547" y="0"/>
                    </a:cubicBezTo>
                    <a:cubicBezTo>
                      <a:pt x="8653626" y="14618"/>
                      <a:pt x="8859110" y="-18544"/>
                      <a:pt x="9291818" y="0"/>
                    </a:cubicBezTo>
                    <a:cubicBezTo>
                      <a:pt x="9724526" y="18544"/>
                      <a:pt x="9960460" y="7228"/>
                      <a:pt x="10185088" y="0"/>
                    </a:cubicBezTo>
                    <a:cubicBezTo>
                      <a:pt x="10409716" y="-7228"/>
                      <a:pt x="10559785" y="3929"/>
                      <a:pt x="10769150" y="0"/>
                    </a:cubicBezTo>
                    <a:cubicBezTo>
                      <a:pt x="11013099" y="-10653"/>
                      <a:pt x="11219786" y="189666"/>
                      <a:pt x="11231332" y="462182"/>
                    </a:cubicBezTo>
                    <a:cubicBezTo>
                      <a:pt x="11236026" y="729828"/>
                      <a:pt x="11250418" y="880072"/>
                      <a:pt x="11231332" y="1096893"/>
                    </a:cubicBezTo>
                    <a:cubicBezTo>
                      <a:pt x="11212246" y="1313714"/>
                      <a:pt x="11244762" y="1393915"/>
                      <a:pt x="11231332" y="1657658"/>
                    </a:cubicBezTo>
                    <a:cubicBezTo>
                      <a:pt x="11217902" y="1921402"/>
                      <a:pt x="11202292" y="2019285"/>
                      <a:pt x="11231332" y="2310856"/>
                    </a:cubicBezTo>
                    <a:cubicBezTo>
                      <a:pt x="11263734" y="2546892"/>
                      <a:pt x="10994767" y="2820091"/>
                      <a:pt x="10769150" y="2773038"/>
                    </a:cubicBezTo>
                    <a:cubicBezTo>
                      <a:pt x="10643644" y="2775265"/>
                      <a:pt x="10395749" y="2773491"/>
                      <a:pt x="10185088" y="2773038"/>
                    </a:cubicBezTo>
                    <a:cubicBezTo>
                      <a:pt x="9974427" y="2772585"/>
                      <a:pt x="9642937" y="2800340"/>
                      <a:pt x="9497957" y="2773038"/>
                    </a:cubicBezTo>
                    <a:cubicBezTo>
                      <a:pt x="9352977" y="2745736"/>
                      <a:pt x="9268377" y="2764310"/>
                      <a:pt x="9120035" y="2773038"/>
                    </a:cubicBezTo>
                    <a:cubicBezTo>
                      <a:pt x="8971693" y="2781766"/>
                      <a:pt x="8865540" y="2756105"/>
                      <a:pt x="8742113" y="2773038"/>
                    </a:cubicBezTo>
                    <a:cubicBezTo>
                      <a:pt x="8618686" y="2789971"/>
                      <a:pt x="8319086" y="2764329"/>
                      <a:pt x="8054982" y="2773038"/>
                    </a:cubicBezTo>
                    <a:cubicBezTo>
                      <a:pt x="7790878" y="2781747"/>
                      <a:pt x="7690954" y="2758761"/>
                      <a:pt x="7573990" y="2773038"/>
                    </a:cubicBezTo>
                    <a:cubicBezTo>
                      <a:pt x="7457026" y="2787315"/>
                      <a:pt x="7117726" y="2759956"/>
                      <a:pt x="6783789" y="2773038"/>
                    </a:cubicBezTo>
                    <a:cubicBezTo>
                      <a:pt x="6449852" y="2786120"/>
                      <a:pt x="6402009" y="2782044"/>
                      <a:pt x="6302797" y="2773038"/>
                    </a:cubicBezTo>
                    <a:cubicBezTo>
                      <a:pt x="6203585" y="2764032"/>
                      <a:pt x="5819024" y="2775735"/>
                      <a:pt x="5512596" y="2773038"/>
                    </a:cubicBezTo>
                    <a:cubicBezTo>
                      <a:pt x="5206168" y="2770341"/>
                      <a:pt x="5265411" y="2754834"/>
                      <a:pt x="5134674" y="2773038"/>
                    </a:cubicBezTo>
                    <a:cubicBezTo>
                      <a:pt x="5003937" y="2791242"/>
                      <a:pt x="4516279" y="2737780"/>
                      <a:pt x="4344473" y="2773038"/>
                    </a:cubicBezTo>
                    <a:cubicBezTo>
                      <a:pt x="4172667" y="2808296"/>
                      <a:pt x="3998715" y="2763011"/>
                      <a:pt x="3863481" y="2773038"/>
                    </a:cubicBezTo>
                    <a:cubicBezTo>
                      <a:pt x="3728247" y="2783065"/>
                      <a:pt x="3628227" y="2768797"/>
                      <a:pt x="3485559" y="2773038"/>
                    </a:cubicBezTo>
                    <a:cubicBezTo>
                      <a:pt x="3342891" y="2777279"/>
                      <a:pt x="3237827" y="2757996"/>
                      <a:pt x="3004567" y="2773038"/>
                    </a:cubicBezTo>
                    <a:cubicBezTo>
                      <a:pt x="2771307" y="2788080"/>
                      <a:pt x="2404332" y="2767507"/>
                      <a:pt x="2214367" y="2773038"/>
                    </a:cubicBezTo>
                    <a:cubicBezTo>
                      <a:pt x="2024402" y="2778569"/>
                      <a:pt x="1953356" y="2782344"/>
                      <a:pt x="1733375" y="2773038"/>
                    </a:cubicBezTo>
                    <a:cubicBezTo>
                      <a:pt x="1513394" y="2763732"/>
                      <a:pt x="1528803" y="2774856"/>
                      <a:pt x="1355453" y="2773038"/>
                    </a:cubicBezTo>
                    <a:cubicBezTo>
                      <a:pt x="1182103" y="2771220"/>
                      <a:pt x="802726" y="2755201"/>
                      <a:pt x="462182" y="2773038"/>
                    </a:cubicBezTo>
                    <a:cubicBezTo>
                      <a:pt x="216512" y="2796470"/>
                      <a:pt x="6678" y="2572718"/>
                      <a:pt x="0" y="2310856"/>
                    </a:cubicBezTo>
                    <a:cubicBezTo>
                      <a:pt x="-24675" y="2123153"/>
                      <a:pt x="11440" y="1904503"/>
                      <a:pt x="0" y="1750092"/>
                    </a:cubicBezTo>
                    <a:cubicBezTo>
                      <a:pt x="-11440" y="1595681"/>
                      <a:pt x="-9912" y="1244500"/>
                      <a:pt x="0" y="1096893"/>
                    </a:cubicBezTo>
                    <a:cubicBezTo>
                      <a:pt x="9912" y="949286"/>
                      <a:pt x="28332" y="706422"/>
                      <a:pt x="0" y="462182"/>
                    </a:cubicBezTo>
                    <a:close/>
                  </a:path>
                </a:pathLst>
              </a:custGeom>
              <a:solidFill>
                <a:srgbClr val="92D050">
                  <a:alpha val="15000"/>
                </a:srgbClr>
              </a:solidFill>
              <a:ln w="6350">
                <a:prstDash val="sysDot"/>
                <a:extLst>
                  <a:ext uri="{C807C97D-BFC1-408E-A445-0C87EB9F89A2}">
                    <ask:lineSketchStyleProps xmlns:ask="http://schemas.microsoft.com/office/drawing/2018/sketchyshapes" sd="1219033472">
                      <a:prstGeom prst="round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600" b="1" dirty="0">
                    <a:solidFill>
                      <a:schemeClr val="tx1"/>
                    </a:solidFill>
                  </a:rPr>
                  <a:t>Theorem: </a:t>
                </a:r>
                <a:r>
                  <a:rPr lang="en-US" sz="2600" dirty="0">
                    <a:solidFill>
                      <a:schemeClr val="tx1"/>
                    </a:solidFill>
                  </a:rPr>
                  <a:t>Given any </a:t>
                </a:r>
                <a14:m>
                  <m:oMath xmlns:m="http://schemas.openxmlformats.org/officeDocument/2006/math">
                    <m:r>
                      <a:rPr lang="en-US" sz="2600" b="0" i="1" smtClean="0">
                        <a:solidFill>
                          <a:schemeClr val="tx1"/>
                        </a:solidFill>
                        <a:latin typeface="Cambria Math" panose="02040503050406030204" pitchFamily="18" charset="0"/>
                      </a:rPr>
                      <m:t>𝛿</m:t>
                    </m:r>
                    <m:r>
                      <a:rPr lang="en-US" sz="2600" b="0" i="1" smtClean="0">
                        <a:solidFill>
                          <a:schemeClr val="tx1"/>
                        </a:solidFill>
                        <a:latin typeface="Cambria Math" panose="02040503050406030204" pitchFamily="18" charset="0"/>
                      </a:rPr>
                      <m:t>∈</m:t>
                    </m:r>
                    <m:d>
                      <m:dPr>
                        <m:ctrlPr>
                          <a:rPr lang="en-US" sz="2600" i="1" smtClean="0">
                            <a:solidFill>
                              <a:schemeClr val="tx1"/>
                            </a:solidFill>
                            <a:latin typeface="Cambria Math" panose="02040503050406030204" pitchFamily="18" charset="0"/>
                          </a:rPr>
                        </m:ctrlPr>
                      </m:dPr>
                      <m:e>
                        <m:r>
                          <a:rPr lang="en-US" sz="2600" b="0" i="1" smtClean="0">
                            <a:solidFill>
                              <a:schemeClr val="tx1"/>
                            </a:solidFill>
                            <a:latin typeface="Cambria Math" panose="02040503050406030204" pitchFamily="18" charset="0"/>
                          </a:rPr>
                          <m:t>0</m:t>
                        </m:r>
                        <m:r>
                          <a:rPr lang="en-US" sz="2600" b="0" i="1" smtClean="0">
                            <a:solidFill>
                              <a:schemeClr val="tx1"/>
                            </a:solidFill>
                            <a:latin typeface="Cambria Math" panose="02040503050406030204" pitchFamily="18" charset="0"/>
                          </a:rPr>
                          <m:t>,</m:t>
                        </m:r>
                        <m:r>
                          <a:rPr lang="en-US" sz="2600" b="0" i="1" smtClean="0">
                            <a:solidFill>
                              <a:schemeClr val="tx1"/>
                            </a:solidFill>
                            <a:latin typeface="Cambria Math" panose="02040503050406030204" pitchFamily="18" charset="0"/>
                          </a:rPr>
                          <m:t>1</m:t>
                        </m:r>
                      </m:e>
                    </m:d>
                    <m:r>
                      <a:rPr lang="en-US" sz="2600" b="0" i="1" smtClean="0">
                        <a:solidFill>
                          <a:schemeClr val="tx1"/>
                        </a:solidFill>
                        <a:latin typeface="Cambria Math" panose="02040503050406030204" pitchFamily="18" charset="0"/>
                      </a:rPr>
                      <m:t>, </m:t>
                    </m:r>
                  </m:oMath>
                </a14:m>
                <a:r>
                  <a:rPr lang="en-US" sz="2600" dirty="0">
                    <a:solidFill>
                      <a:schemeClr val="tx1"/>
                    </a:solidFill>
                  </a:rPr>
                  <a:t>Robust </a:t>
                </a:r>
                <a14:m>
                  <m:oMath xmlns:m="http://schemas.openxmlformats.org/officeDocument/2006/math">
                    <m:r>
                      <a:rPr lang="en-US" sz="2800" i="1" smtClean="0">
                        <a:solidFill>
                          <a:schemeClr val="tx1"/>
                        </a:solidFill>
                        <a:latin typeface="Cambria Math" panose="02040503050406030204" pitchFamily="18" charset="0"/>
                      </a:rPr>
                      <m:t>𝑄</m:t>
                    </m:r>
                    <m:r>
                      <a:rPr lang="en-US" sz="2800" i="1">
                        <a:latin typeface="Cambria Math" panose="02040503050406030204" pitchFamily="18" charset="0"/>
                      </a:rPr>
                      <m:t> </m:t>
                    </m:r>
                  </m:oMath>
                </a14:m>
                <a:r>
                  <a:rPr lang="en-US" sz="2600" dirty="0">
                    <a:solidFill>
                      <a:schemeClr val="tx1"/>
                    </a:solidFill>
                  </a:rPr>
                  <a:t>guarantees the following with probability at least </a:t>
                </a:r>
                <a14:m>
                  <m:oMath xmlns:m="http://schemas.openxmlformats.org/officeDocument/2006/math">
                    <m:r>
                      <a:rPr lang="en-US" sz="2600" b="0" i="1" smtClean="0">
                        <a:solidFill>
                          <a:schemeClr val="tx1"/>
                        </a:solidFill>
                        <a:latin typeface="Cambria Math" panose="02040503050406030204" pitchFamily="18" charset="0"/>
                      </a:rPr>
                      <m:t>1</m:t>
                    </m:r>
                    <m:r>
                      <a:rPr lang="en-US" sz="2600" b="0" i="1" smtClean="0">
                        <a:solidFill>
                          <a:schemeClr val="tx1"/>
                        </a:solidFill>
                        <a:latin typeface="Cambria Math" panose="02040503050406030204" pitchFamily="18" charset="0"/>
                      </a:rPr>
                      <m:t>−</m:t>
                    </m:r>
                    <m:r>
                      <a:rPr lang="en-US" sz="2600" b="0" i="1" smtClean="0">
                        <a:solidFill>
                          <a:schemeClr val="tx1"/>
                        </a:solidFill>
                        <a:latin typeface="Cambria Math" panose="02040503050406030204" pitchFamily="18" charset="0"/>
                      </a:rPr>
                      <m:t>𝛿</m:t>
                    </m:r>
                    <m:r>
                      <a:rPr lang="en-US" sz="2600" b="0" i="1" smtClean="0">
                        <a:solidFill>
                          <a:schemeClr val="tx1"/>
                        </a:solidFill>
                        <a:latin typeface="Cambria Math" panose="02040503050406030204" pitchFamily="18" charset="0"/>
                      </a:rPr>
                      <m:t>:</m:t>
                    </m:r>
                  </m:oMath>
                </a14:m>
                <a:endParaRPr lang="en-US" sz="2600" dirty="0"/>
              </a:p>
              <a:p>
                <a:r>
                  <a:rPr lang="en-US" sz="2600" dirty="0"/>
                  <a:t>                    </a:t>
                </a:r>
                <a14:m>
                  <m:oMath xmlns:m="http://schemas.openxmlformats.org/officeDocument/2006/math">
                    <m:sSub>
                      <m:sSubPr>
                        <m:ctrlPr>
                          <a:rPr lang="en-US" sz="2600" b="0" i="1" smtClean="0">
                            <a:solidFill>
                              <a:schemeClr val="tx1"/>
                            </a:solidFill>
                            <a:latin typeface="Cambria Math" panose="02040503050406030204" pitchFamily="18" charset="0"/>
                          </a:rPr>
                        </m:ctrlPr>
                      </m:sSubPr>
                      <m:e>
                        <m:r>
                          <a:rPr lang="en-US" sz="2600" b="0" i="1" smtClean="0">
                            <a:solidFill>
                              <a:schemeClr val="tx1"/>
                            </a:solidFill>
                            <a:latin typeface="Cambria Math" panose="02040503050406030204" pitchFamily="18" charset="0"/>
                          </a:rPr>
                          <m:t>  </m:t>
                        </m:r>
                        <m:d>
                          <m:dPr>
                            <m:begChr m:val="‖"/>
                            <m:endChr m:val="‖"/>
                            <m:ctrlPr>
                              <a:rPr lang="en-US" sz="2600" b="0" i="1" smtClean="0">
                                <a:solidFill>
                                  <a:schemeClr val="tx1"/>
                                </a:solidFill>
                                <a:latin typeface="Cambria Math" panose="02040503050406030204" pitchFamily="18" charset="0"/>
                              </a:rPr>
                            </m:ctrlPr>
                          </m:dPr>
                          <m:e>
                            <m:sSub>
                              <m:sSubPr>
                                <m:ctrlPr>
                                  <a:rPr lang="en-US" sz="2600" b="0" i="1" smtClean="0">
                                    <a:solidFill>
                                      <a:schemeClr val="tx1"/>
                                    </a:solidFill>
                                    <a:latin typeface="Cambria Math" panose="02040503050406030204" pitchFamily="18" charset="0"/>
                                  </a:rPr>
                                </m:ctrlPr>
                              </m:sSubPr>
                              <m:e>
                                <m:r>
                                  <a:rPr lang="en-US" sz="2600" b="0" i="1" smtClean="0">
                                    <a:solidFill>
                                      <a:schemeClr val="tx1"/>
                                    </a:solidFill>
                                    <a:latin typeface="Cambria Math" panose="02040503050406030204" pitchFamily="18" charset="0"/>
                                  </a:rPr>
                                  <m:t>𝑄</m:t>
                                </m:r>
                              </m:e>
                              <m:sub>
                                <m:r>
                                  <a:rPr lang="en-US" sz="2600" b="0" i="1" smtClean="0">
                                    <a:solidFill>
                                      <a:schemeClr val="tx1"/>
                                    </a:solidFill>
                                    <a:latin typeface="Cambria Math" panose="02040503050406030204" pitchFamily="18" charset="0"/>
                                  </a:rPr>
                                  <m:t>𝑇</m:t>
                                </m:r>
                              </m:sub>
                            </m:sSub>
                            <m:r>
                              <a:rPr lang="en-US" sz="2600" b="0" i="1" smtClean="0">
                                <a:solidFill>
                                  <a:schemeClr val="tx1"/>
                                </a:solidFill>
                                <a:latin typeface="Cambria Math" panose="02040503050406030204" pitchFamily="18" charset="0"/>
                              </a:rPr>
                              <m:t>−</m:t>
                            </m:r>
                            <m:sSup>
                              <m:sSupPr>
                                <m:ctrlPr>
                                  <a:rPr lang="en-US" sz="2600" b="0" i="1" smtClean="0">
                                    <a:solidFill>
                                      <a:schemeClr val="tx1"/>
                                    </a:solidFill>
                                    <a:latin typeface="Cambria Math" panose="02040503050406030204" pitchFamily="18" charset="0"/>
                                  </a:rPr>
                                </m:ctrlPr>
                              </m:sSupPr>
                              <m:e>
                                <m:r>
                                  <a:rPr lang="en-US" sz="2600" b="0" i="1" smtClean="0">
                                    <a:solidFill>
                                      <a:schemeClr val="tx1"/>
                                    </a:solidFill>
                                    <a:latin typeface="Cambria Math" panose="02040503050406030204" pitchFamily="18" charset="0"/>
                                  </a:rPr>
                                  <m:t>𝑄</m:t>
                                </m:r>
                              </m:e>
                              <m:sup>
                                <m:r>
                                  <a:rPr lang="en-US" sz="2600" b="0" i="1" smtClean="0">
                                    <a:solidFill>
                                      <a:schemeClr val="tx1"/>
                                    </a:solidFill>
                                    <a:latin typeface="Cambria Math" panose="02040503050406030204" pitchFamily="18" charset="0"/>
                                  </a:rPr>
                                  <m:t>∗</m:t>
                                </m:r>
                              </m:sup>
                            </m:sSup>
                          </m:e>
                        </m:d>
                      </m:e>
                      <m:sub>
                        <m:r>
                          <a:rPr lang="en-US" sz="2600" b="0" i="1" smtClean="0">
                            <a:solidFill>
                              <a:schemeClr val="tx1"/>
                            </a:solidFill>
                            <a:latin typeface="Cambria Math" panose="02040503050406030204" pitchFamily="18" charset="0"/>
                          </a:rPr>
                          <m:t>∞</m:t>
                        </m:r>
                      </m:sub>
                    </m:sSub>
                    <m:r>
                      <a:rPr lang="en-US" sz="2600" b="0" i="1" smtClean="0">
                        <a:solidFill>
                          <a:schemeClr val="tx1"/>
                        </a:solidFill>
                        <a:latin typeface="Cambria Math" panose="02040503050406030204" pitchFamily="18" charset="0"/>
                      </a:rPr>
                      <m:t>≤  </m:t>
                    </m:r>
                    <m:acc>
                      <m:accPr>
                        <m:chr m:val="̃"/>
                        <m:ctrlPr>
                          <a:rPr lang="en-US" sz="2600" b="0" i="1" smtClean="0">
                            <a:solidFill>
                              <a:schemeClr val="tx1"/>
                            </a:solidFill>
                            <a:latin typeface="Cambria Math" panose="02040503050406030204" pitchFamily="18" charset="0"/>
                          </a:rPr>
                        </m:ctrlPr>
                      </m:accPr>
                      <m:e>
                        <m:r>
                          <a:rPr lang="en-US" sz="2800" i="1" dirty="0">
                            <a:solidFill>
                              <a:schemeClr val="tx1"/>
                            </a:solidFill>
                            <a:latin typeface="Cambria Math" panose="02040503050406030204" pitchFamily="18" charset="0"/>
                            <a:ea typeface="Cambria Math" panose="02040503050406030204" pitchFamily="18" charset="0"/>
                          </a:rPr>
                          <m:t>𝒪</m:t>
                        </m:r>
                        <m:r>
                          <m:rPr>
                            <m:nor/>
                          </m:rPr>
                          <a:rPr lang="en-US" sz="2800" dirty="0">
                            <a:solidFill>
                              <a:schemeClr val="tx1"/>
                            </a:solidFill>
                          </a:rPr>
                          <m:t> </m:t>
                        </m:r>
                      </m:e>
                    </m:acc>
                    <m:d>
                      <m:dPr>
                        <m:ctrlPr>
                          <a:rPr lang="en-US" sz="2600" b="0" i="1" smtClean="0">
                            <a:solidFill>
                              <a:schemeClr val="tx1"/>
                            </a:solidFill>
                            <a:latin typeface="Cambria Math" panose="02040503050406030204" pitchFamily="18" charset="0"/>
                          </a:rPr>
                        </m:ctrlPr>
                      </m:dPr>
                      <m:e>
                        <m:r>
                          <a:rPr lang="en-US" sz="2600" b="0" i="1" smtClean="0">
                            <a:solidFill>
                              <a:schemeClr val="tx1"/>
                            </a:solidFill>
                            <a:latin typeface="Cambria Math" panose="02040503050406030204" pitchFamily="18" charset="0"/>
                          </a:rPr>
                          <m:t> </m:t>
                        </m:r>
                        <m:f>
                          <m:fPr>
                            <m:ctrlPr>
                              <a:rPr lang="en-US" sz="2600" b="0" i="1" smtClean="0">
                                <a:solidFill>
                                  <a:schemeClr val="tx1"/>
                                </a:solidFill>
                                <a:latin typeface="Cambria Math" panose="02040503050406030204" pitchFamily="18" charset="0"/>
                              </a:rPr>
                            </m:ctrlPr>
                          </m:fPr>
                          <m:num>
                            <m:acc>
                              <m:accPr>
                                <m:chr m:val="̅"/>
                                <m:ctrlPr>
                                  <a:rPr lang="en-US" sz="2600" b="0" i="1" smtClean="0">
                                    <a:solidFill>
                                      <a:schemeClr val="tx1"/>
                                    </a:solidFill>
                                    <a:latin typeface="Cambria Math" panose="02040503050406030204" pitchFamily="18" charset="0"/>
                                  </a:rPr>
                                </m:ctrlPr>
                              </m:accPr>
                              <m:e>
                                <m:r>
                                  <a:rPr lang="en-US" sz="2600" b="0" i="1" smtClean="0">
                                    <a:solidFill>
                                      <a:schemeClr val="tx1"/>
                                    </a:solidFill>
                                    <a:latin typeface="Cambria Math" panose="02040503050406030204" pitchFamily="18" charset="0"/>
                                  </a:rPr>
                                  <m:t>𝜎</m:t>
                                </m:r>
                              </m:e>
                            </m:acc>
                          </m:num>
                          <m:den>
                            <m:sSup>
                              <m:sSupPr>
                                <m:ctrlPr>
                                  <a:rPr lang="en-US" sz="2600" b="0" i="1" smtClean="0">
                                    <a:solidFill>
                                      <a:schemeClr val="tx1"/>
                                    </a:solidFill>
                                    <a:latin typeface="Cambria Math" panose="02040503050406030204" pitchFamily="18" charset="0"/>
                                  </a:rPr>
                                </m:ctrlPr>
                              </m:sSupPr>
                              <m:e>
                                <m:d>
                                  <m:dPr>
                                    <m:ctrlPr>
                                      <a:rPr lang="en-US" sz="2600" b="0" i="1" smtClean="0">
                                        <a:solidFill>
                                          <a:schemeClr val="tx1"/>
                                        </a:solidFill>
                                        <a:latin typeface="Cambria Math" panose="02040503050406030204" pitchFamily="18" charset="0"/>
                                      </a:rPr>
                                    </m:ctrlPr>
                                  </m:dPr>
                                  <m:e>
                                    <m:r>
                                      <a:rPr lang="en-US" sz="2600" b="0" i="1" smtClean="0">
                                        <a:solidFill>
                                          <a:schemeClr val="tx1"/>
                                        </a:solidFill>
                                        <a:latin typeface="Cambria Math" panose="02040503050406030204" pitchFamily="18" charset="0"/>
                                      </a:rPr>
                                      <m:t>1</m:t>
                                    </m:r>
                                    <m:r>
                                      <a:rPr lang="en-US" sz="2600" b="0" i="1" smtClean="0">
                                        <a:solidFill>
                                          <a:schemeClr val="tx1"/>
                                        </a:solidFill>
                                        <a:latin typeface="Cambria Math" panose="02040503050406030204" pitchFamily="18" charset="0"/>
                                      </a:rPr>
                                      <m:t>−</m:t>
                                    </m:r>
                                    <m:r>
                                      <a:rPr lang="en-US" sz="2600" b="0" i="1" smtClean="0">
                                        <a:solidFill>
                                          <a:schemeClr val="tx1"/>
                                        </a:solidFill>
                                        <a:latin typeface="Cambria Math" panose="02040503050406030204" pitchFamily="18" charset="0"/>
                                      </a:rPr>
                                      <m:t>𝛾</m:t>
                                    </m:r>
                                  </m:e>
                                </m:d>
                              </m:e>
                              <m:sup>
                                <m:r>
                                  <a:rPr lang="en-US" sz="2600" b="0" i="1" smtClean="0">
                                    <a:solidFill>
                                      <a:schemeClr val="tx1"/>
                                    </a:solidFill>
                                    <a:latin typeface="Cambria Math" panose="02040503050406030204" pitchFamily="18" charset="0"/>
                                  </a:rPr>
                                  <m:t>2</m:t>
                                </m:r>
                                <m:r>
                                  <a:rPr lang="en-US" sz="2600" b="0" i="1" smtClean="0">
                                    <a:solidFill>
                                      <a:schemeClr val="tx1"/>
                                    </a:solidFill>
                                    <a:latin typeface="Cambria Math" panose="02040503050406030204" pitchFamily="18" charset="0"/>
                                  </a:rPr>
                                  <m:t>.</m:t>
                                </m:r>
                                <m:r>
                                  <a:rPr lang="en-US" sz="2600" b="0" i="1" smtClean="0">
                                    <a:solidFill>
                                      <a:schemeClr val="tx1"/>
                                    </a:solidFill>
                                    <a:latin typeface="Cambria Math" panose="02040503050406030204" pitchFamily="18" charset="0"/>
                                  </a:rPr>
                                  <m:t>5</m:t>
                                </m:r>
                              </m:sup>
                            </m:sSup>
                            <m:sSup>
                              <m:sSupPr>
                                <m:ctrlPr>
                                  <a:rPr lang="en-US" sz="2600" b="0" i="1" smtClean="0">
                                    <a:solidFill>
                                      <a:schemeClr val="tx1"/>
                                    </a:solidFill>
                                    <a:latin typeface="Cambria Math" panose="02040503050406030204" pitchFamily="18" charset="0"/>
                                  </a:rPr>
                                </m:ctrlPr>
                              </m:sSupPr>
                              <m:e>
                                <m:r>
                                  <a:rPr lang="en-US" sz="2600" b="0" i="1" smtClean="0">
                                    <a:solidFill>
                                      <a:schemeClr val="tx1"/>
                                    </a:solidFill>
                                    <a:latin typeface="Cambria Math" panose="02040503050406030204" pitchFamily="18" charset="0"/>
                                  </a:rPr>
                                  <m:t>𝜆</m:t>
                                </m:r>
                              </m:e>
                              <m:sup>
                                <m:r>
                                  <a:rPr lang="en-US" sz="2600" b="0" i="1" smtClean="0">
                                    <a:solidFill>
                                      <a:schemeClr val="tx1"/>
                                    </a:solidFill>
                                    <a:latin typeface="Cambria Math" panose="02040503050406030204" pitchFamily="18" charset="0"/>
                                  </a:rPr>
                                  <m:t>1</m:t>
                                </m:r>
                                <m:r>
                                  <a:rPr lang="en-US" sz="2600" b="0" i="1" smtClean="0">
                                    <a:solidFill>
                                      <a:schemeClr val="tx1"/>
                                    </a:solidFill>
                                    <a:latin typeface="Cambria Math" panose="02040503050406030204" pitchFamily="18" charset="0"/>
                                  </a:rPr>
                                  <m:t>.</m:t>
                                </m:r>
                                <m:r>
                                  <a:rPr lang="en-US" sz="2600" b="0" i="1" smtClean="0">
                                    <a:solidFill>
                                      <a:schemeClr val="tx1"/>
                                    </a:solidFill>
                                    <a:latin typeface="Cambria Math" panose="02040503050406030204" pitchFamily="18" charset="0"/>
                                  </a:rPr>
                                  <m:t>5</m:t>
                                </m:r>
                              </m:sup>
                            </m:sSup>
                            <m:rad>
                              <m:radPr>
                                <m:degHide m:val="on"/>
                                <m:ctrlPr>
                                  <a:rPr lang="en-US" sz="2600" b="0" i="1" smtClean="0">
                                    <a:solidFill>
                                      <a:schemeClr val="accent6">
                                        <a:lumMod val="75000"/>
                                      </a:schemeClr>
                                    </a:solidFill>
                                    <a:latin typeface="Cambria Math" panose="02040503050406030204" pitchFamily="18" charset="0"/>
                                  </a:rPr>
                                </m:ctrlPr>
                              </m:radPr>
                              <m:deg/>
                              <m:e>
                                <m:r>
                                  <a:rPr lang="en-US" sz="2600" b="0" i="1" smtClean="0">
                                    <a:solidFill>
                                      <a:schemeClr val="accent6">
                                        <a:lumMod val="75000"/>
                                      </a:schemeClr>
                                    </a:solidFill>
                                    <a:latin typeface="Cambria Math" panose="02040503050406030204" pitchFamily="18" charset="0"/>
                                  </a:rPr>
                                  <m:t>𝑇</m:t>
                                </m:r>
                              </m:e>
                            </m:rad>
                          </m:den>
                        </m:f>
                      </m:e>
                    </m:d>
                    <m:r>
                      <a:rPr lang="en-US" sz="2600" b="0" i="0" smtClean="0">
                        <a:solidFill>
                          <a:schemeClr val="tx1"/>
                        </a:solidFill>
                        <a:latin typeface="Cambria Math" panose="02040503050406030204" pitchFamily="18" charset="0"/>
                      </a:rPr>
                      <m:t>+</m:t>
                    </m:r>
                    <m:r>
                      <a:rPr lang="en-US" sz="2600" b="0" i="1" smtClean="0">
                        <a:solidFill>
                          <a:schemeClr val="tx1"/>
                        </a:solidFill>
                        <a:latin typeface="Cambria Math" panose="02040503050406030204" pitchFamily="18" charset="0"/>
                      </a:rPr>
                      <m:t>𝑐</m:t>
                    </m:r>
                    <m:r>
                      <a:rPr lang="en-US" sz="2600" b="0" i="1" smtClean="0">
                        <a:solidFill>
                          <a:schemeClr val="tx1"/>
                        </a:solidFill>
                        <a:latin typeface="Cambria Math" panose="02040503050406030204" pitchFamily="18" charset="0"/>
                      </a:rPr>
                      <m:t>⋅</m:t>
                    </m:r>
                    <m:d>
                      <m:dPr>
                        <m:ctrlPr>
                          <a:rPr lang="en-US" sz="2600" i="1">
                            <a:solidFill>
                              <a:schemeClr val="tx1"/>
                            </a:solidFill>
                            <a:latin typeface="Cambria Math" panose="02040503050406030204" pitchFamily="18" charset="0"/>
                          </a:rPr>
                        </m:ctrlPr>
                      </m:dPr>
                      <m:e>
                        <m:r>
                          <a:rPr lang="en-US" sz="2600" i="1">
                            <a:solidFill>
                              <a:schemeClr val="tx1"/>
                            </a:solidFill>
                            <a:latin typeface="Cambria Math" panose="02040503050406030204" pitchFamily="18" charset="0"/>
                          </a:rPr>
                          <m:t> </m:t>
                        </m:r>
                        <m:f>
                          <m:fPr>
                            <m:ctrlPr>
                              <a:rPr lang="en-US" sz="2600" i="1">
                                <a:solidFill>
                                  <a:schemeClr val="tx1"/>
                                </a:solidFill>
                                <a:latin typeface="Cambria Math" panose="02040503050406030204" pitchFamily="18" charset="0"/>
                              </a:rPr>
                            </m:ctrlPr>
                          </m:fPr>
                          <m:num>
                            <m:acc>
                              <m:accPr>
                                <m:chr m:val="̅"/>
                                <m:ctrlPr>
                                  <a:rPr lang="en-US" sz="2600" i="1">
                                    <a:solidFill>
                                      <a:schemeClr val="tx1"/>
                                    </a:solidFill>
                                    <a:latin typeface="Cambria Math" panose="02040503050406030204" pitchFamily="18" charset="0"/>
                                  </a:rPr>
                                </m:ctrlPr>
                              </m:accPr>
                              <m:e>
                                <m:r>
                                  <a:rPr lang="en-US" sz="2600" i="1">
                                    <a:solidFill>
                                      <a:schemeClr val="tx1"/>
                                    </a:solidFill>
                                    <a:latin typeface="Cambria Math" panose="02040503050406030204" pitchFamily="18" charset="0"/>
                                  </a:rPr>
                                  <m:t>𝜎</m:t>
                                </m:r>
                              </m:e>
                            </m:acc>
                            <m:rad>
                              <m:radPr>
                                <m:degHide m:val="on"/>
                                <m:ctrlPr>
                                  <a:rPr lang="en-US" sz="2600" b="0" i="1" smtClean="0">
                                    <a:solidFill>
                                      <a:srgbClr val="FF0000"/>
                                    </a:solidFill>
                                    <a:latin typeface="Cambria Math" panose="02040503050406030204" pitchFamily="18" charset="0"/>
                                  </a:rPr>
                                </m:ctrlPr>
                              </m:radPr>
                              <m:deg/>
                              <m:e>
                                <m:r>
                                  <a:rPr lang="en-US" sz="2600" b="0" i="1" smtClean="0">
                                    <a:solidFill>
                                      <a:srgbClr val="FF0000"/>
                                    </a:solidFill>
                                    <a:latin typeface="Cambria Math" panose="02040503050406030204" pitchFamily="18" charset="0"/>
                                  </a:rPr>
                                  <m:t>𝜀</m:t>
                                </m:r>
                              </m:e>
                            </m:rad>
                          </m:num>
                          <m:den>
                            <m:r>
                              <a:rPr lang="en-US" sz="2600" b="0" i="1" smtClean="0">
                                <a:solidFill>
                                  <a:schemeClr val="tx1"/>
                                </a:solidFill>
                                <a:latin typeface="Cambria Math" panose="02040503050406030204" pitchFamily="18" charset="0"/>
                              </a:rPr>
                              <m:t>𝜆</m:t>
                            </m:r>
                            <m:r>
                              <a:rPr lang="en-US" sz="2600" b="0" i="1" smtClean="0">
                                <a:solidFill>
                                  <a:schemeClr val="tx1"/>
                                </a:solidFill>
                                <a:latin typeface="Cambria Math" panose="02040503050406030204" pitchFamily="18" charset="0"/>
                              </a:rPr>
                              <m:t>(</m:t>
                            </m:r>
                            <m:r>
                              <a:rPr lang="en-US" sz="2600" b="0" i="1" smtClean="0">
                                <a:solidFill>
                                  <a:schemeClr val="tx1"/>
                                </a:solidFill>
                                <a:latin typeface="Cambria Math" panose="02040503050406030204" pitchFamily="18" charset="0"/>
                              </a:rPr>
                              <m:t>1</m:t>
                            </m:r>
                            <m:r>
                              <a:rPr lang="en-US" sz="2600" b="0" i="1" smtClean="0">
                                <a:solidFill>
                                  <a:schemeClr val="tx1"/>
                                </a:solidFill>
                                <a:latin typeface="Cambria Math" panose="02040503050406030204" pitchFamily="18" charset="0"/>
                              </a:rPr>
                              <m:t>−</m:t>
                            </m:r>
                            <m:r>
                              <a:rPr lang="en-US" sz="2600" b="0" i="1" smtClean="0">
                                <a:solidFill>
                                  <a:schemeClr val="tx1"/>
                                </a:solidFill>
                                <a:latin typeface="Cambria Math" panose="02040503050406030204" pitchFamily="18" charset="0"/>
                              </a:rPr>
                              <m:t>𝛾</m:t>
                            </m:r>
                            <m:r>
                              <a:rPr lang="en-US" sz="2600" b="0" i="1" smtClean="0">
                                <a:solidFill>
                                  <a:schemeClr val="tx1"/>
                                </a:solidFill>
                                <a:latin typeface="Cambria Math" panose="02040503050406030204" pitchFamily="18" charset="0"/>
                              </a:rPr>
                              <m:t>)</m:t>
                            </m:r>
                          </m:den>
                        </m:f>
                      </m:e>
                    </m:d>
                  </m:oMath>
                </a14:m>
                <a:endParaRPr lang="en-US" sz="2600" b="0" dirty="0"/>
              </a:p>
              <a:p>
                <a:endParaRPr lang="en-US" sz="2600" b="0" dirty="0"/>
              </a:p>
            </p:txBody>
          </p:sp>
        </mc:Choice>
        <mc:Fallback xmlns="">
          <p:sp>
            <p:nvSpPr>
              <p:cNvPr id="3" name="Rectangle: Rounded Corners 2">
                <a:extLst>
                  <a:ext uri="{FF2B5EF4-FFF2-40B4-BE49-F238E27FC236}">
                    <a16:creationId xmlns:a16="http://schemas.microsoft.com/office/drawing/2014/main" id="{7705A2E5-3EE8-1367-512C-7B4BC8DC054C}"/>
                  </a:ext>
                </a:extLst>
              </p:cNvPr>
              <p:cNvSpPr>
                <a:spLocks noRot="1" noChangeAspect="1" noMove="1" noResize="1" noEditPoints="1" noAdjustHandles="1" noChangeArrowheads="1" noChangeShapeType="1" noTextEdit="1"/>
              </p:cNvSpPr>
              <p:nvPr/>
            </p:nvSpPr>
            <p:spPr>
              <a:xfrm>
                <a:off x="287071" y="1223609"/>
                <a:ext cx="11231332" cy="2773038"/>
              </a:xfrm>
              <a:prstGeom prst="roundRect">
                <a:avLst/>
              </a:prstGeom>
              <a:blipFill>
                <a:blip r:embed="rId4"/>
                <a:stretch>
                  <a:fillRect/>
                </a:stretch>
              </a:blipFill>
              <a:ln w="6350">
                <a:prstDash val="sysDot"/>
                <a:extLst>
                  <a:ext uri="{C807C97D-BFC1-408E-A445-0C87EB9F89A2}">
                    <ask:lineSketchStyleProps xmlns:ask="http://schemas.microsoft.com/office/drawing/2018/sketchyshapes" sd="1219033472">
                      <a:custGeom>
                        <a:avLst/>
                        <a:gdLst>
                          <a:gd name="csX0" fmla="*/ 0 w 11231332"/>
                          <a:gd name="csY0" fmla="*/ 462182 h 2773038"/>
                          <a:gd name="csX1" fmla="*/ 462182 w 11231332"/>
                          <a:gd name="csY1" fmla="*/ 0 h 2773038"/>
                          <a:gd name="csX2" fmla="*/ 1149313 w 11231332"/>
                          <a:gd name="csY2" fmla="*/ 0 h 2773038"/>
                          <a:gd name="csX3" fmla="*/ 1939514 w 11231332"/>
                          <a:gd name="csY3" fmla="*/ 0 h 2773038"/>
                          <a:gd name="csX4" fmla="*/ 2420506 w 11231332"/>
                          <a:gd name="csY4" fmla="*/ 0 h 2773038"/>
                          <a:gd name="csX5" fmla="*/ 3107637 w 11231332"/>
                          <a:gd name="csY5" fmla="*/ 0 h 2773038"/>
                          <a:gd name="csX6" fmla="*/ 3485559 w 11231332"/>
                          <a:gd name="csY6" fmla="*/ 0 h 2773038"/>
                          <a:gd name="csX7" fmla="*/ 4378830 w 11231332"/>
                          <a:gd name="csY7" fmla="*/ 0 h 2773038"/>
                          <a:gd name="csX8" fmla="*/ 5065961 w 11231332"/>
                          <a:gd name="csY8" fmla="*/ 0 h 2773038"/>
                          <a:gd name="csX9" fmla="*/ 5959232 w 11231332"/>
                          <a:gd name="csY9" fmla="*/ 0 h 2773038"/>
                          <a:gd name="csX10" fmla="*/ 6543293 w 11231332"/>
                          <a:gd name="csY10" fmla="*/ 0 h 2773038"/>
                          <a:gd name="csX11" fmla="*/ 7024285 w 11231332"/>
                          <a:gd name="csY11" fmla="*/ 0 h 2773038"/>
                          <a:gd name="csX12" fmla="*/ 7711416 w 11231332"/>
                          <a:gd name="csY12" fmla="*/ 0 h 2773038"/>
                          <a:gd name="csX13" fmla="*/ 8501617 w 11231332"/>
                          <a:gd name="csY13" fmla="*/ 0 h 2773038"/>
                          <a:gd name="csX14" fmla="*/ 9394888 w 11231332"/>
                          <a:gd name="csY14" fmla="*/ 0 h 2773038"/>
                          <a:gd name="csX15" fmla="*/ 10185088 w 11231332"/>
                          <a:gd name="csY15" fmla="*/ 0 h 2773038"/>
                          <a:gd name="csX16" fmla="*/ 10769150 w 11231332"/>
                          <a:gd name="csY16" fmla="*/ 0 h 2773038"/>
                          <a:gd name="csX17" fmla="*/ 11231332 w 11231332"/>
                          <a:gd name="csY17" fmla="*/ 462182 h 2773038"/>
                          <a:gd name="csX18" fmla="*/ 11231332 w 11231332"/>
                          <a:gd name="csY18" fmla="*/ 1078407 h 2773038"/>
                          <a:gd name="csX19" fmla="*/ 11231332 w 11231332"/>
                          <a:gd name="csY19" fmla="*/ 1676145 h 2773038"/>
                          <a:gd name="csX20" fmla="*/ 11231332 w 11231332"/>
                          <a:gd name="csY20" fmla="*/ 2310856 h 2773038"/>
                          <a:gd name="csX21" fmla="*/ 10769150 w 11231332"/>
                          <a:gd name="csY21" fmla="*/ 2773038 h 2773038"/>
                          <a:gd name="csX22" fmla="*/ 10391228 w 11231332"/>
                          <a:gd name="csY22" fmla="*/ 2773038 h 2773038"/>
                          <a:gd name="csX23" fmla="*/ 9704097 w 11231332"/>
                          <a:gd name="csY23" fmla="*/ 2773038 h 2773038"/>
                          <a:gd name="csX24" fmla="*/ 9016965 w 11231332"/>
                          <a:gd name="csY24" fmla="*/ 2773038 h 2773038"/>
                          <a:gd name="csX25" fmla="*/ 8432904 w 11231332"/>
                          <a:gd name="csY25" fmla="*/ 2773038 h 2773038"/>
                          <a:gd name="csX26" fmla="*/ 7539633 w 11231332"/>
                          <a:gd name="csY26" fmla="*/ 2773038 h 2773038"/>
                          <a:gd name="csX27" fmla="*/ 7058642 w 11231332"/>
                          <a:gd name="csY27" fmla="*/ 2773038 h 2773038"/>
                          <a:gd name="csX28" fmla="*/ 6165371 w 11231332"/>
                          <a:gd name="csY28" fmla="*/ 2773038 h 2773038"/>
                          <a:gd name="csX29" fmla="*/ 5684379 w 11231332"/>
                          <a:gd name="csY29" fmla="*/ 2773038 h 2773038"/>
                          <a:gd name="csX30" fmla="*/ 4894178 w 11231332"/>
                          <a:gd name="csY30" fmla="*/ 2773038 h 2773038"/>
                          <a:gd name="csX31" fmla="*/ 4000908 w 11231332"/>
                          <a:gd name="csY31" fmla="*/ 2773038 h 2773038"/>
                          <a:gd name="csX32" fmla="*/ 3622986 w 11231332"/>
                          <a:gd name="csY32" fmla="*/ 2773038 h 2773038"/>
                          <a:gd name="csX33" fmla="*/ 2729715 w 11231332"/>
                          <a:gd name="csY33" fmla="*/ 2773038 h 2773038"/>
                          <a:gd name="csX34" fmla="*/ 1836444 w 11231332"/>
                          <a:gd name="csY34" fmla="*/ 2773038 h 2773038"/>
                          <a:gd name="csX35" fmla="*/ 1458522 w 11231332"/>
                          <a:gd name="csY35" fmla="*/ 2773038 h 2773038"/>
                          <a:gd name="csX36" fmla="*/ 462182 w 11231332"/>
                          <a:gd name="csY36" fmla="*/ 2773038 h 2773038"/>
                          <a:gd name="csX37" fmla="*/ 0 w 11231332"/>
                          <a:gd name="csY37" fmla="*/ 2310856 h 2773038"/>
                          <a:gd name="csX38" fmla="*/ 0 w 11231332"/>
                          <a:gd name="csY38" fmla="*/ 1731605 h 2773038"/>
                          <a:gd name="csX39" fmla="*/ 0 w 11231332"/>
                          <a:gd name="csY39" fmla="*/ 1170840 h 2773038"/>
                          <a:gd name="csX40" fmla="*/ 0 w 11231332"/>
                          <a:gd name="csY40" fmla="*/ 462182 h 27730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Lst>
                        <a:rect l="l" t="t" r="r" b="b"/>
                        <a:pathLst>
                          <a:path w="11231332" h="2773038" fill="none" extrusionOk="0">
                            <a:moveTo>
                              <a:pt x="0" y="462182"/>
                            </a:moveTo>
                            <a:cubicBezTo>
                              <a:pt x="8530" y="236873"/>
                              <a:pt x="263637" y="23876"/>
                              <a:pt x="462182" y="0"/>
                            </a:cubicBezTo>
                            <a:cubicBezTo>
                              <a:pt x="695261" y="16721"/>
                              <a:pt x="954719" y="5268"/>
                              <a:pt x="1149313" y="0"/>
                            </a:cubicBezTo>
                            <a:cubicBezTo>
                              <a:pt x="1343907" y="-5268"/>
                              <a:pt x="1750695" y="22530"/>
                              <a:pt x="1939514" y="0"/>
                            </a:cubicBezTo>
                            <a:cubicBezTo>
                              <a:pt x="2128333" y="-22530"/>
                              <a:pt x="2281332" y="-19924"/>
                              <a:pt x="2420506" y="0"/>
                            </a:cubicBezTo>
                            <a:cubicBezTo>
                              <a:pt x="2559680" y="19924"/>
                              <a:pt x="2921150" y="-17102"/>
                              <a:pt x="3107637" y="0"/>
                            </a:cubicBezTo>
                            <a:cubicBezTo>
                              <a:pt x="3294124" y="17102"/>
                              <a:pt x="3409434" y="6750"/>
                              <a:pt x="3485559" y="0"/>
                            </a:cubicBezTo>
                            <a:cubicBezTo>
                              <a:pt x="3561684" y="-6750"/>
                              <a:pt x="4146091" y="28411"/>
                              <a:pt x="4378830" y="0"/>
                            </a:cubicBezTo>
                            <a:cubicBezTo>
                              <a:pt x="4611569" y="-28411"/>
                              <a:pt x="4793794" y="4326"/>
                              <a:pt x="5065961" y="0"/>
                            </a:cubicBezTo>
                            <a:cubicBezTo>
                              <a:pt x="5338128" y="-4326"/>
                              <a:pt x="5595003" y="23345"/>
                              <a:pt x="5959232" y="0"/>
                            </a:cubicBezTo>
                            <a:cubicBezTo>
                              <a:pt x="6323461" y="-23345"/>
                              <a:pt x="6391254" y="-15200"/>
                              <a:pt x="6543293" y="0"/>
                            </a:cubicBezTo>
                            <a:cubicBezTo>
                              <a:pt x="6695332" y="15200"/>
                              <a:pt x="6901168" y="4395"/>
                              <a:pt x="7024285" y="0"/>
                            </a:cubicBezTo>
                            <a:cubicBezTo>
                              <a:pt x="7147402" y="-4395"/>
                              <a:pt x="7496624" y="-19125"/>
                              <a:pt x="7711416" y="0"/>
                            </a:cubicBezTo>
                            <a:cubicBezTo>
                              <a:pt x="7926208" y="19125"/>
                              <a:pt x="8130729" y="-23022"/>
                              <a:pt x="8501617" y="0"/>
                            </a:cubicBezTo>
                            <a:cubicBezTo>
                              <a:pt x="8872505" y="23022"/>
                              <a:pt x="9058221" y="-41086"/>
                              <a:pt x="9394888" y="0"/>
                            </a:cubicBezTo>
                            <a:cubicBezTo>
                              <a:pt x="9731555" y="41086"/>
                              <a:pt x="9946414" y="-17313"/>
                              <a:pt x="10185088" y="0"/>
                            </a:cubicBezTo>
                            <a:cubicBezTo>
                              <a:pt x="10423762" y="17313"/>
                              <a:pt x="10482643" y="-938"/>
                              <a:pt x="10769150" y="0"/>
                            </a:cubicBezTo>
                            <a:cubicBezTo>
                              <a:pt x="10977269" y="-4503"/>
                              <a:pt x="11202192" y="219690"/>
                              <a:pt x="11231332" y="462182"/>
                            </a:cubicBezTo>
                            <a:cubicBezTo>
                              <a:pt x="11245631" y="629639"/>
                              <a:pt x="11234980" y="869731"/>
                              <a:pt x="11231332" y="1078407"/>
                            </a:cubicBezTo>
                            <a:cubicBezTo>
                              <a:pt x="11227684" y="1287083"/>
                              <a:pt x="11210933" y="1447934"/>
                              <a:pt x="11231332" y="1676145"/>
                            </a:cubicBezTo>
                            <a:cubicBezTo>
                              <a:pt x="11251731" y="1904356"/>
                              <a:pt x="11224914" y="2007176"/>
                              <a:pt x="11231332" y="2310856"/>
                            </a:cubicBezTo>
                            <a:cubicBezTo>
                              <a:pt x="11290947" y="2578143"/>
                              <a:pt x="10971446" y="2766658"/>
                              <a:pt x="10769150" y="2773038"/>
                            </a:cubicBezTo>
                            <a:cubicBezTo>
                              <a:pt x="10671095" y="2780066"/>
                              <a:pt x="10563389" y="2780429"/>
                              <a:pt x="10391228" y="2773038"/>
                            </a:cubicBezTo>
                            <a:cubicBezTo>
                              <a:pt x="10219067" y="2765647"/>
                              <a:pt x="9930898" y="2757044"/>
                              <a:pt x="9704097" y="2773038"/>
                            </a:cubicBezTo>
                            <a:cubicBezTo>
                              <a:pt x="9477296" y="2789032"/>
                              <a:pt x="9201571" y="2765274"/>
                              <a:pt x="9016965" y="2773038"/>
                            </a:cubicBezTo>
                            <a:cubicBezTo>
                              <a:pt x="8832359" y="2780802"/>
                              <a:pt x="8579143" y="2792486"/>
                              <a:pt x="8432904" y="2773038"/>
                            </a:cubicBezTo>
                            <a:cubicBezTo>
                              <a:pt x="8286665" y="2753590"/>
                              <a:pt x="7970781" y="2799891"/>
                              <a:pt x="7539633" y="2773038"/>
                            </a:cubicBezTo>
                            <a:cubicBezTo>
                              <a:pt x="7108485" y="2746185"/>
                              <a:pt x="7297484" y="2787155"/>
                              <a:pt x="7058642" y="2773038"/>
                            </a:cubicBezTo>
                            <a:cubicBezTo>
                              <a:pt x="6819800" y="2758921"/>
                              <a:pt x="6553359" y="2815110"/>
                              <a:pt x="6165371" y="2773038"/>
                            </a:cubicBezTo>
                            <a:cubicBezTo>
                              <a:pt x="5777383" y="2730966"/>
                              <a:pt x="5833166" y="2753905"/>
                              <a:pt x="5684379" y="2773038"/>
                            </a:cubicBezTo>
                            <a:cubicBezTo>
                              <a:pt x="5535592" y="2792171"/>
                              <a:pt x="5136742" y="2807895"/>
                              <a:pt x="4894178" y="2773038"/>
                            </a:cubicBezTo>
                            <a:cubicBezTo>
                              <a:pt x="4651614" y="2738181"/>
                              <a:pt x="4359280" y="2784468"/>
                              <a:pt x="4000908" y="2773038"/>
                            </a:cubicBezTo>
                            <a:cubicBezTo>
                              <a:pt x="3642536" y="2761609"/>
                              <a:pt x="3803211" y="2772273"/>
                              <a:pt x="3622986" y="2773038"/>
                            </a:cubicBezTo>
                            <a:cubicBezTo>
                              <a:pt x="3442761" y="2773803"/>
                              <a:pt x="2953399" y="2770839"/>
                              <a:pt x="2729715" y="2773038"/>
                            </a:cubicBezTo>
                            <a:cubicBezTo>
                              <a:pt x="2506031" y="2775237"/>
                              <a:pt x="2261538" y="2805746"/>
                              <a:pt x="1836444" y="2773038"/>
                            </a:cubicBezTo>
                            <a:cubicBezTo>
                              <a:pt x="1411350" y="2740330"/>
                              <a:pt x="1574748" y="2759970"/>
                              <a:pt x="1458522" y="2773038"/>
                            </a:cubicBezTo>
                            <a:cubicBezTo>
                              <a:pt x="1342296" y="2786106"/>
                              <a:pt x="887567" y="2802635"/>
                              <a:pt x="462182" y="2773038"/>
                            </a:cubicBezTo>
                            <a:cubicBezTo>
                              <a:pt x="267111" y="2771727"/>
                              <a:pt x="37765" y="2527388"/>
                              <a:pt x="0" y="2310856"/>
                            </a:cubicBezTo>
                            <a:cubicBezTo>
                              <a:pt x="-9252" y="2170995"/>
                              <a:pt x="-202" y="1999864"/>
                              <a:pt x="0" y="1731605"/>
                            </a:cubicBezTo>
                            <a:cubicBezTo>
                              <a:pt x="202" y="1463346"/>
                              <a:pt x="6602" y="1382296"/>
                              <a:pt x="0" y="1170840"/>
                            </a:cubicBezTo>
                            <a:cubicBezTo>
                              <a:pt x="-6602" y="959385"/>
                              <a:pt x="11322" y="666509"/>
                              <a:pt x="0" y="462182"/>
                            </a:cubicBezTo>
                            <a:close/>
                          </a:path>
                          <a:path w="11231332" h="2773038" stroke="0" extrusionOk="0">
                            <a:moveTo>
                              <a:pt x="0" y="462182"/>
                            </a:moveTo>
                            <a:cubicBezTo>
                              <a:pt x="-14868" y="197755"/>
                              <a:pt x="186056" y="7833"/>
                              <a:pt x="462182" y="0"/>
                            </a:cubicBezTo>
                            <a:cubicBezTo>
                              <a:pt x="894258" y="-39095"/>
                              <a:pt x="973805" y="-17549"/>
                              <a:pt x="1355453" y="0"/>
                            </a:cubicBezTo>
                            <a:cubicBezTo>
                              <a:pt x="1737101" y="17549"/>
                              <a:pt x="1733967" y="23288"/>
                              <a:pt x="1939514" y="0"/>
                            </a:cubicBezTo>
                            <a:cubicBezTo>
                              <a:pt x="2145061" y="-23288"/>
                              <a:pt x="2191727" y="-14581"/>
                              <a:pt x="2420506" y="0"/>
                            </a:cubicBezTo>
                            <a:cubicBezTo>
                              <a:pt x="2649285" y="14581"/>
                              <a:pt x="2924327" y="19029"/>
                              <a:pt x="3210707" y="0"/>
                            </a:cubicBezTo>
                            <a:cubicBezTo>
                              <a:pt x="3497087" y="-19029"/>
                              <a:pt x="3669083" y="21568"/>
                              <a:pt x="3794768" y="0"/>
                            </a:cubicBezTo>
                            <a:cubicBezTo>
                              <a:pt x="3920453" y="-21568"/>
                              <a:pt x="4458783" y="-1200"/>
                              <a:pt x="4688039" y="0"/>
                            </a:cubicBezTo>
                            <a:cubicBezTo>
                              <a:pt x="4917295" y="1200"/>
                              <a:pt x="4977727" y="-22532"/>
                              <a:pt x="5169031" y="0"/>
                            </a:cubicBezTo>
                            <a:cubicBezTo>
                              <a:pt x="5360335" y="22532"/>
                              <a:pt x="5693175" y="3373"/>
                              <a:pt x="6062301" y="0"/>
                            </a:cubicBezTo>
                            <a:cubicBezTo>
                              <a:pt x="6431427" y="-3373"/>
                              <a:pt x="6292105" y="18831"/>
                              <a:pt x="6440223" y="0"/>
                            </a:cubicBezTo>
                            <a:cubicBezTo>
                              <a:pt x="6588341" y="-18831"/>
                              <a:pt x="6801826" y="18237"/>
                              <a:pt x="7127355" y="0"/>
                            </a:cubicBezTo>
                            <a:cubicBezTo>
                              <a:pt x="7452884" y="-18237"/>
                              <a:pt x="7564294" y="27617"/>
                              <a:pt x="7814486" y="0"/>
                            </a:cubicBezTo>
                            <a:cubicBezTo>
                              <a:pt x="8064678" y="-27617"/>
                              <a:pt x="8143468" y="-14618"/>
                              <a:pt x="8398547" y="0"/>
                            </a:cubicBezTo>
                            <a:cubicBezTo>
                              <a:pt x="8653626" y="14618"/>
                              <a:pt x="8859110" y="-18544"/>
                              <a:pt x="9291818" y="0"/>
                            </a:cubicBezTo>
                            <a:cubicBezTo>
                              <a:pt x="9724526" y="18544"/>
                              <a:pt x="9960460" y="7228"/>
                              <a:pt x="10185088" y="0"/>
                            </a:cubicBezTo>
                            <a:cubicBezTo>
                              <a:pt x="10409716" y="-7228"/>
                              <a:pt x="10559785" y="3929"/>
                              <a:pt x="10769150" y="0"/>
                            </a:cubicBezTo>
                            <a:cubicBezTo>
                              <a:pt x="11013099" y="-10653"/>
                              <a:pt x="11219786" y="189666"/>
                              <a:pt x="11231332" y="462182"/>
                            </a:cubicBezTo>
                            <a:cubicBezTo>
                              <a:pt x="11236026" y="729828"/>
                              <a:pt x="11250418" y="880072"/>
                              <a:pt x="11231332" y="1096893"/>
                            </a:cubicBezTo>
                            <a:cubicBezTo>
                              <a:pt x="11212246" y="1313714"/>
                              <a:pt x="11244762" y="1393915"/>
                              <a:pt x="11231332" y="1657658"/>
                            </a:cubicBezTo>
                            <a:cubicBezTo>
                              <a:pt x="11217902" y="1921402"/>
                              <a:pt x="11202292" y="2019285"/>
                              <a:pt x="11231332" y="2310856"/>
                            </a:cubicBezTo>
                            <a:cubicBezTo>
                              <a:pt x="11263734" y="2546892"/>
                              <a:pt x="10994767" y="2820091"/>
                              <a:pt x="10769150" y="2773038"/>
                            </a:cubicBezTo>
                            <a:cubicBezTo>
                              <a:pt x="10643644" y="2775265"/>
                              <a:pt x="10395749" y="2773491"/>
                              <a:pt x="10185088" y="2773038"/>
                            </a:cubicBezTo>
                            <a:cubicBezTo>
                              <a:pt x="9974427" y="2772585"/>
                              <a:pt x="9642937" y="2800340"/>
                              <a:pt x="9497957" y="2773038"/>
                            </a:cubicBezTo>
                            <a:cubicBezTo>
                              <a:pt x="9352977" y="2745736"/>
                              <a:pt x="9268377" y="2764310"/>
                              <a:pt x="9120035" y="2773038"/>
                            </a:cubicBezTo>
                            <a:cubicBezTo>
                              <a:pt x="8971693" y="2781766"/>
                              <a:pt x="8865540" y="2756105"/>
                              <a:pt x="8742113" y="2773038"/>
                            </a:cubicBezTo>
                            <a:cubicBezTo>
                              <a:pt x="8618686" y="2789971"/>
                              <a:pt x="8319086" y="2764329"/>
                              <a:pt x="8054982" y="2773038"/>
                            </a:cubicBezTo>
                            <a:cubicBezTo>
                              <a:pt x="7790878" y="2781747"/>
                              <a:pt x="7690954" y="2758761"/>
                              <a:pt x="7573990" y="2773038"/>
                            </a:cubicBezTo>
                            <a:cubicBezTo>
                              <a:pt x="7457026" y="2787315"/>
                              <a:pt x="7117726" y="2759956"/>
                              <a:pt x="6783789" y="2773038"/>
                            </a:cubicBezTo>
                            <a:cubicBezTo>
                              <a:pt x="6449852" y="2786120"/>
                              <a:pt x="6402009" y="2782044"/>
                              <a:pt x="6302797" y="2773038"/>
                            </a:cubicBezTo>
                            <a:cubicBezTo>
                              <a:pt x="6203585" y="2764032"/>
                              <a:pt x="5819024" y="2775735"/>
                              <a:pt x="5512596" y="2773038"/>
                            </a:cubicBezTo>
                            <a:cubicBezTo>
                              <a:pt x="5206168" y="2770341"/>
                              <a:pt x="5265411" y="2754834"/>
                              <a:pt x="5134674" y="2773038"/>
                            </a:cubicBezTo>
                            <a:cubicBezTo>
                              <a:pt x="5003937" y="2791242"/>
                              <a:pt x="4516279" y="2737780"/>
                              <a:pt x="4344473" y="2773038"/>
                            </a:cubicBezTo>
                            <a:cubicBezTo>
                              <a:pt x="4172667" y="2808296"/>
                              <a:pt x="3998715" y="2763011"/>
                              <a:pt x="3863481" y="2773038"/>
                            </a:cubicBezTo>
                            <a:cubicBezTo>
                              <a:pt x="3728247" y="2783065"/>
                              <a:pt x="3628227" y="2768797"/>
                              <a:pt x="3485559" y="2773038"/>
                            </a:cubicBezTo>
                            <a:cubicBezTo>
                              <a:pt x="3342891" y="2777279"/>
                              <a:pt x="3237827" y="2757996"/>
                              <a:pt x="3004567" y="2773038"/>
                            </a:cubicBezTo>
                            <a:cubicBezTo>
                              <a:pt x="2771307" y="2788080"/>
                              <a:pt x="2404332" y="2767507"/>
                              <a:pt x="2214367" y="2773038"/>
                            </a:cubicBezTo>
                            <a:cubicBezTo>
                              <a:pt x="2024402" y="2778569"/>
                              <a:pt x="1953356" y="2782344"/>
                              <a:pt x="1733375" y="2773038"/>
                            </a:cubicBezTo>
                            <a:cubicBezTo>
                              <a:pt x="1513394" y="2763732"/>
                              <a:pt x="1528803" y="2774856"/>
                              <a:pt x="1355453" y="2773038"/>
                            </a:cubicBezTo>
                            <a:cubicBezTo>
                              <a:pt x="1182103" y="2771220"/>
                              <a:pt x="802726" y="2755201"/>
                              <a:pt x="462182" y="2773038"/>
                            </a:cubicBezTo>
                            <a:cubicBezTo>
                              <a:pt x="216512" y="2796470"/>
                              <a:pt x="6678" y="2572718"/>
                              <a:pt x="0" y="2310856"/>
                            </a:cubicBezTo>
                            <a:cubicBezTo>
                              <a:pt x="-24675" y="2123153"/>
                              <a:pt x="11440" y="1904503"/>
                              <a:pt x="0" y="1750092"/>
                            </a:cubicBezTo>
                            <a:cubicBezTo>
                              <a:pt x="-11440" y="1595681"/>
                              <a:pt x="-9912" y="1244500"/>
                              <a:pt x="0" y="1096893"/>
                            </a:cubicBezTo>
                            <a:cubicBezTo>
                              <a:pt x="9912" y="949286"/>
                              <a:pt x="28332" y="706422"/>
                              <a:pt x="0" y="462182"/>
                            </a:cubicBezTo>
                            <a:close/>
                          </a:path>
                        </a:pathLst>
                      </a:custGeom>
                      <ask:type>
                        <ask:lineSketchFreehand/>
                      </ask:type>
                    </ask:lineSketchStyleProps>
                  </a:ext>
                </a:extLst>
              </a:ln>
            </p:spPr>
            <p:txBody>
              <a:bodyPr/>
              <a:lstStyle/>
              <a:p>
                <a:r>
                  <a:rPr lang="en-IN">
                    <a:noFill/>
                  </a:rPr>
                  <a:t> </a:t>
                </a:r>
              </a:p>
            </p:txBody>
          </p:sp>
        </mc:Fallback>
      </mc:AlternateContent>
      <p:sp>
        <p:nvSpPr>
          <p:cNvPr id="5" name="Right Brace 4">
            <a:extLst>
              <a:ext uri="{FF2B5EF4-FFF2-40B4-BE49-F238E27FC236}">
                <a16:creationId xmlns:a16="http://schemas.microsoft.com/office/drawing/2014/main" id="{D47DCFFD-AB40-4B10-C3E1-E10F6B00BD12}"/>
              </a:ext>
            </a:extLst>
          </p:cNvPr>
          <p:cNvSpPr/>
          <p:nvPr/>
        </p:nvSpPr>
        <p:spPr>
          <a:xfrm rot="5400000">
            <a:off x="5677280" y="2081133"/>
            <a:ext cx="487790" cy="2207945"/>
          </a:xfrm>
          <a:prstGeom prst="righ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Right Brace 5">
            <a:extLst>
              <a:ext uri="{FF2B5EF4-FFF2-40B4-BE49-F238E27FC236}">
                <a16:creationId xmlns:a16="http://schemas.microsoft.com/office/drawing/2014/main" id="{961B74E6-4D06-EDD5-6891-34968AB0E338}"/>
              </a:ext>
            </a:extLst>
          </p:cNvPr>
          <p:cNvSpPr/>
          <p:nvPr/>
        </p:nvSpPr>
        <p:spPr>
          <a:xfrm rot="5400000">
            <a:off x="7990350" y="2396641"/>
            <a:ext cx="487791" cy="1718895"/>
          </a:xfrm>
          <a:prstGeom prst="righ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3F02431E-8CD0-19F5-02C4-E2A669CA9318}"/>
                  </a:ext>
                </a:extLst>
              </p:cNvPr>
              <p:cNvSpPr txBox="1"/>
              <p:nvPr/>
            </p:nvSpPr>
            <p:spPr>
              <a:xfrm>
                <a:off x="5552324" y="3395465"/>
                <a:ext cx="737702"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C00000"/>
                          </a:solidFill>
                          <a:latin typeface="Cambria Math" panose="02040503050406030204" pitchFamily="18" charset="0"/>
                        </a:rPr>
                        <m:t>(∗)</m:t>
                      </m:r>
                    </m:oMath>
                  </m:oMathPara>
                </a14:m>
                <a:endParaRPr lang="en-US" sz="2800" dirty="0">
                  <a:solidFill>
                    <a:srgbClr val="C00000"/>
                  </a:solidFill>
                </a:endParaRPr>
              </a:p>
            </p:txBody>
          </p:sp>
        </mc:Choice>
        <mc:Fallback xmlns="">
          <p:sp>
            <p:nvSpPr>
              <p:cNvPr id="7" name="TextBox 6">
                <a:extLst>
                  <a:ext uri="{FF2B5EF4-FFF2-40B4-BE49-F238E27FC236}">
                    <a16:creationId xmlns:a16="http://schemas.microsoft.com/office/drawing/2014/main" id="{3F02431E-8CD0-19F5-02C4-E2A669CA9318}"/>
                  </a:ext>
                </a:extLst>
              </p:cNvPr>
              <p:cNvSpPr txBox="1">
                <a:spLocks noRot="1" noChangeAspect="1" noMove="1" noResize="1" noEditPoints="1" noAdjustHandles="1" noChangeArrowheads="1" noChangeShapeType="1" noTextEdit="1"/>
              </p:cNvSpPr>
              <p:nvPr/>
            </p:nvSpPr>
            <p:spPr>
              <a:xfrm>
                <a:off x="5552324" y="3395465"/>
                <a:ext cx="737702"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6BFA46D-35E1-8CF9-67D7-D7EE0DEA9DEE}"/>
                  </a:ext>
                </a:extLst>
              </p:cNvPr>
              <p:cNvSpPr txBox="1"/>
              <p:nvPr/>
            </p:nvSpPr>
            <p:spPr>
              <a:xfrm>
                <a:off x="7782089" y="3429000"/>
                <a:ext cx="910827"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C00000"/>
                          </a:solidFill>
                          <a:latin typeface="Cambria Math" panose="02040503050406030204" pitchFamily="18" charset="0"/>
                        </a:rPr>
                        <m:t>(∗∗)</m:t>
                      </m:r>
                    </m:oMath>
                  </m:oMathPara>
                </a14:m>
                <a:endParaRPr lang="en-US" sz="2800" dirty="0">
                  <a:solidFill>
                    <a:srgbClr val="C00000"/>
                  </a:solidFill>
                </a:endParaRPr>
              </a:p>
            </p:txBody>
          </p:sp>
        </mc:Choice>
        <mc:Fallback xmlns="">
          <p:sp>
            <p:nvSpPr>
              <p:cNvPr id="9" name="TextBox 8">
                <a:extLst>
                  <a:ext uri="{FF2B5EF4-FFF2-40B4-BE49-F238E27FC236}">
                    <a16:creationId xmlns:a16="http://schemas.microsoft.com/office/drawing/2014/main" id="{36BFA46D-35E1-8CF9-67D7-D7EE0DEA9DEE}"/>
                  </a:ext>
                </a:extLst>
              </p:cNvPr>
              <p:cNvSpPr txBox="1">
                <a:spLocks noRot="1" noChangeAspect="1" noMove="1" noResize="1" noEditPoints="1" noAdjustHandles="1" noChangeArrowheads="1" noChangeShapeType="1" noTextEdit="1"/>
              </p:cNvSpPr>
              <p:nvPr/>
            </p:nvSpPr>
            <p:spPr>
              <a:xfrm>
                <a:off x="7782089" y="3429000"/>
                <a:ext cx="910827"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D194BEDA-823F-C4CC-17CE-C29771FC011B}"/>
                  </a:ext>
                </a:extLst>
              </p:cNvPr>
              <p:cNvSpPr txBox="1"/>
              <p:nvPr/>
            </p:nvSpPr>
            <p:spPr>
              <a:xfrm>
                <a:off x="552234" y="4269439"/>
                <a:ext cx="11352695" cy="2308324"/>
              </a:xfrm>
              <a:prstGeom prst="rect">
                <a:avLst/>
              </a:prstGeom>
              <a:noFill/>
            </p:spPr>
            <p:txBody>
              <a:bodyPr wrap="square">
                <a:spAutoFit/>
              </a:bodyPr>
              <a:lstStyle/>
              <a:p>
                <a:pPr marL="285750" indent="-285750">
                  <a:buFont typeface="Wingdings" panose="05000000000000000000" pitchFamily="2" charset="2"/>
                  <a:buChar char="q"/>
                </a:pPr>
                <a:r>
                  <a:rPr lang="en-US" sz="2400" dirty="0"/>
                  <a:t> The term </a:t>
                </a:r>
                <a14:m>
                  <m:oMath xmlns:m="http://schemas.openxmlformats.org/officeDocument/2006/math">
                    <m:r>
                      <a:rPr lang="en-US" sz="2400" b="0" i="1" smtClean="0">
                        <a:solidFill>
                          <a:srgbClr val="C00000"/>
                        </a:solidFill>
                        <a:latin typeface="Cambria Math" panose="02040503050406030204" pitchFamily="18" charset="0"/>
                      </a:rPr>
                      <m:t>(∗)</m:t>
                    </m:r>
                  </m:oMath>
                </a14:m>
                <a:r>
                  <a:rPr lang="en-US" sz="2400" dirty="0"/>
                  <a:t> matches known rates for vanilla </a:t>
                </a:r>
                <a14:m>
                  <m:oMath xmlns:m="http://schemas.openxmlformats.org/officeDocument/2006/math">
                    <m:r>
                      <a:rPr lang="en-US" sz="2400" b="0" i="1" smtClean="0">
                        <a:latin typeface="Cambria Math" panose="02040503050406030204" pitchFamily="18" charset="0"/>
                      </a:rPr>
                      <m:t>𝑄</m:t>
                    </m:r>
                  </m:oMath>
                </a14:m>
                <a:r>
                  <a:rPr lang="en-US" sz="2400" dirty="0"/>
                  <a:t>-learning in the absence of corruption (</a:t>
                </a:r>
                <a:r>
                  <a:rPr lang="en-US" sz="2400" dirty="0">
                    <a:solidFill>
                      <a:srgbClr val="002060"/>
                    </a:solidFill>
                  </a:rPr>
                  <a:t>Wainwright 2018, Qu, 2019, Li et al., 2024</a:t>
                </a:r>
                <a:r>
                  <a:rPr lang="en-US" sz="2400" dirty="0"/>
                  <a:t>).</a:t>
                </a:r>
                <a:br>
                  <a:rPr lang="en-US" sz="2400" dirty="0"/>
                </a:br>
                <a:endParaRPr lang="en-US" sz="2400" dirty="0"/>
              </a:p>
              <a:p>
                <a:pPr marL="285750" indent="-285750">
                  <a:buFont typeface="Wingdings" panose="05000000000000000000" pitchFamily="2" charset="2"/>
                  <a:buChar char="q"/>
                </a:pPr>
                <a:r>
                  <a:rPr lang="en-US" sz="2400" dirty="0"/>
                  <a:t> The term </a:t>
                </a:r>
                <a14:m>
                  <m:oMath xmlns:m="http://schemas.openxmlformats.org/officeDocument/2006/math">
                    <m:d>
                      <m:dPr>
                        <m:ctrlPr>
                          <a:rPr lang="en-US" sz="2400" i="1">
                            <a:solidFill>
                              <a:srgbClr val="C00000"/>
                            </a:solidFill>
                            <a:latin typeface="Cambria Math" panose="02040503050406030204" pitchFamily="18" charset="0"/>
                          </a:rPr>
                        </m:ctrlPr>
                      </m:dPr>
                      <m:e>
                        <m:r>
                          <a:rPr lang="en-US" sz="2400" i="1">
                            <a:solidFill>
                              <a:srgbClr val="C00000"/>
                            </a:solidFill>
                            <a:latin typeface="Cambria Math" panose="02040503050406030204" pitchFamily="18" charset="0"/>
                          </a:rPr>
                          <m:t>∗</m:t>
                        </m:r>
                        <m:r>
                          <a:rPr lang="en-US" sz="2400" b="0" i="1" smtClean="0">
                            <a:solidFill>
                              <a:srgbClr val="C00000"/>
                            </a:solidFill>
                            <a:latin typeface="Cambria Math" panose="02040503050406030204" pitchFamily="18" charset="0"/>
                          </a:rPr>
                          <m:t>∗</m:t>
                        </m:r>
                      </m:e>
                    </m:d>
                  </m:oMath>
                </a14:m>
                <a:r>
                  <a:rPr lang="en-US" sz="2400" dirty="0"/>
                  <a:t> captures the effect of data-corruption. </a:t>
                </a:r>
              </a:p>
              <a:p>
                <a:br>
                  <a:rPr lang="en-US" sz="2400" b="1" dirty="0"/>
                </a:br>
                <a:r>
                  <a:rPr lang="en-US" sz="2400" b="1" dirty="0"/>
                  <a:t>Key point: </a:t>
                </a:r>
                <a:r>
                  <a:rPr lang="en-US" sz="2400" dirty="0"/>
                  <a:t>It only depends on corruption fraction, not corruption magnitude.</a:t>
                </a:r>
              </a:p>
            </p:txBody>
          </p:sp>
        </mc:Choice>
        <mc:Fallback xmlns="">
          <p:sp>
            <p:nvSpPr>
              <p:cNvPr id="32" name="TextBox 31">
                <a:extLst>
                  <a:ext uri="{FF2B5EF4-FFF2-40B4-BE49-F238E27FC236}">
                    <a16:creationId xmlns:a16="http://schemas.microsoft.com/office/drawing/2014/main" id="{D194BEDA-823F-C4CC-17CE-C29771FC011B}"/>
                  </a:ext>
                </a:extLst>
              </p:cNvPr>
              <p:cNvSpPr txBox="1">
                <a:spLocks noRot="1" noChangeAspect="1" noMove="1" noResize="1" noEditPoints="1" noAdjustHandles="1" noChangeArrowheads="1" noChangeShapeType="1" noTextEdit="1"/>
              </p:cNvSpPr>
              <p:nvPr/>
            </p:nvSpPr>
            <p:spPr>
              <a:xfrm>
                <a:off x="552234" y="4269439"/>
                <a:ext cx="11352695" cy="2308324"/>
              </a:xfrm>
              <a:prstGeom prst="rect">
                <a:avLst/>
              </a:prstGeom>
              <a:blipFill>
                <a:blip r:embed="rId7"/>
                <a:stretch>
                  <a:fillRect l="-859" t="-2375" b="-4749"/>
                </a:stretch>
              </a:blipFill>
            </p:spPr>
            <p:txBody>
              <a:bodyPr/>
              <a:lstStyle/>
              <a:p>
                <a:r>
                  <a:rPr lang="en-IN">
                    <a:noFill/>
                  </a:rPr>
                  <a:t> </a:t>
                </a:r>
              </a:p>
            </p:txBody>
          </p:sp>
        </mc:Fallback>
      </mc:AlternateContent>
    </p:spTree>
    <p:extLst>
      <p:ext uri="{BB962C8B-B14F-4D97-AF65-F5344CB8AC3E}">
        <p14:creationId xmlns:p14="http://schemas.microsoft.com/office/powerpoint/2010/main" val="2493533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0" presetClass="entr" presetSubtype="0" fill="hold" nodeType="withEffect">
                                  <p:stCondLst>
                                    <p:cond delay="0"/>
                                  </p:stCondLst>
                                  <p:childTnLst>
                                    <p:set>
                                      <p:cBhvr>
                                        <p:cTn id="10" dur="1" fill="hold">
                                          <p:stCondLst>
                                            <p:cond delay="0"/>
                                          </p:stCondLst>
                                        </p:cTn>
                                        <p:tgtEl>
                                          <p:spTgt spid="32">
                                            <p:txEl>
                                              <p:pRg st="0" end="0"/>
                                            </p:txEl>
                                          </p:spTgt>
                                        </p:tgtEl>
                                        <p:attrNameLst>
                                          <p:attrName>style.visibility</p:attrName>
                                        </p:attrNameLst>
                                      </p:cBhvr>
                                      <p:to>
                                        <p:strVal val="visible"/>
                                      </p:to>
                                    </p:set>
                                    <p:animEffect transition="in" filter="fade">
                                      <p:cBhvr>
                                        <p:cTn id="11" dur="500"/>
                                        <p:tgtEl>
                                          <p:spTgt spid="32">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childTnLst>
                                </p:cTn>
                              </p:par>
                              <p:par>
                                <p:cTn id="18" presetID="10" presetClass="entr" presetSubtype="0" fill="hold" nodeType="withEffect">
                                  <p:stCondLst>
                                    <p:cond delay="0"/>
                                  </p:stCondLst>
                                  <p:childTnLst>
                                    <p:set>
                                      <p:cBhvr>
                                        <p:cTn id="19" dur="1" fill="hold">
                                          <p:stCondLst>
                                            <p:cond delay="0"/>
                                          </p:stCondLst>
                                        </p:cTn>
                                        <p:tgtEl>
                                          <p:spTgt spid="32">
                                            <p:txEl>
                                              <p:pRg st="1" end="1"/>
                                            </p:txEl>
                                          </p:spTgt>
                                        </p:tgtEl>
                                        <p:attrNameLst>
                                          <p:attrName>style.visibility</p:attrName>
                                        </p:attrNameLst>
                                      </p:cBhvr>
                                      <p:to>
                                        <p:strVal val="visible"/>
                                      </p:to>
                                    </p:set>
                                    <p:animEffect transition="in" filter="fade">
                                      <p:cBhvr>
                                        <p:cTn id="20" dur="500"/>
                                        <p:tgtEl>
                                          <p:spTgt spid="32">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p:bldP spid="9"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AB07D59-39FA-294E-E5FC-C020CB720F9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0CDD907-C246-8B84-B65B-E4EBB39521AD}"/>
              </a:ext>
            </a:extLst>
          </p:cNvPr>
          <p:cNvSpPr>
            <a:spLocks noGrp="1"/>
          </p:cNvSpPr>
          <p:nvPr>
            <p:ph type="sldNum" sz="quarter" idx="12"/>
          </p:nvPr>
        </p:nvSpPr>
        <p:spPr>
          <a:xfrm>
            <a:off x="11206754" y="6451865"/>
            <a:ext cx="914400" cy="320040"/>
          </a:xfrm>
        </p:spPr>
        <p:txBody>
          <a:bodyPr/>
          <a:lstStyle/>
          <a:p>
            <a:fld id="{6D22F896-40B5-4ADD-8801-0D06FADFA095}" type="slidenum">
              <a:rPr lang="en-US" smtClean="0"/>
              <a:t>8</a:t>
            </a:fld>
            <a:endParaRPr lang="en-US" dirty="0"/>
          </a:p>
        </p:txBody>
      </p:sp>
      <p:sp>
        <p:nvSpPr>
          <p:cNvPr id="2" name="Title 1">
            <a:extLst>
              <a:ext uri="{FF2B5EF4-FFF2-40B4-BE49-F238E27FC236}">
                <a16:creationId xmlns:a16="http://schemas.microsoft.com/office/drawing/2014/main" id="{14D873F6-ED7B-DC8B-CECB-9C094A9CC2D0}"/>
              </a:ext>
            </a:extLst>
          </p:cNvPr>
          <p:cNvSpPr txBox="1">
            <a:spLocks/>
          </p:cNvSpPr>
          <p:nvPr/>
        </p:nvSpPr>
        <p:spPr>
          <a:xfrm>
            <a:off x="787879" y="331609"/>
            <a:ext cx="10730524" cy="850217"/>
          </a:xfrm>
          <a:prstGeom prst="rect">
            <a:avLst/>
          </a:prstGeom>
        </p:spPr>
        <p:txBody>
          <a:bodyPr/>
          <a:lstStyle>
            <a:lvl1pPr algn="ctr" defTabSz="914400" rtl="0" eaLnBrk="1" latinLnBrk="0" hangingPunct="1">
              <a:lnSpc>
                <a:spcPct val="85000"/>
              </a:lnSpc>
              <a:spcBef>
                <a:spcPct val="0"/>
              </a:spcBef>
              <a:buNone/>
              <a:defRPr sz="4000" b="0" i="0" kern="1200" cap="none" spc="-150">
                <a:solidFill>
                  <a:schemeClr val="tx1"/>
                </a:solidFill>
                <a:effectLst/>
                <a:latin typeface="+mj-lt"/>
                <a:ea typeface="+mj-ea"/>
                <a:cs typeface="+mj-cs"/>
              </a:defRPr>
            </a:lvl1pPr>
          </a:lstStyle>
          <a:p>
            <a:r>
              <a:rPr lang="en-US" dirty="0">
                <a:solidFill>
                  <a:srgbClr val="002060"/>
                </a:solidFill>
                <a:latin typeface="+mn-lt"/>
              </a:rPr>
              <a:t>Information-Theoretic Fundamental Limits</a:t>
            </a:r>
            <a:endParaRPr lang="en-IN" dirty="0">
              <a:solidFill>
                <a:srgbClr val="C00000"/>
              </a:solidFill>
              <a:latin typeface="+mn-lt"/>
            </a:endParaRPr>
          </a:p>
        </p:txBody>
      </p:sp>
      <p:sp>
        <p:nvSpPr>
          <p:cNvPr id="36" name="TextBox 35">
            <a:extLst>
              <a:ext uri="{FF2B5EF4-FFF2-40B4-BE49-F238E27FC236}">
                <a16:creationId xmlns:a16="http://schemas.microsoft.com/office/drawing/2014/main" id="{0B675AA1-D1DD-3B6D-2827-061F5DF726C4}"/>
              </a:ext>
            </a:extLst>
          </p:cNvPr>
          <p:cNvSpPr txBox="1"/>
          <p:nvPr/>
        </p:nvSpPr>
        <p:spPr>
          <a:xfrm>
            <a:off x="800117" y="1007165"/>
            <a:ext cx="5181600" cy="400110"/>
          </a:xfrm>
          <a:prstGeom prst="rect">
            <a:avLst/>
          </a:prstGeom>
          <a:noFill/>
        </p:spPr>
        <p:txBody>
          <a:bodyPr wrap="square">
            <a:spAutoFit/>
          </a:bodyPr>
          <a:lstStyle/>
          <a:p>
            <a:r>
              <a:rPr lang="en-US" sz="2000" dirty="0"/>
              <a:t>MDP with </a:t>
            </a:r>
            <a:r>
              <a:rPr lang="en-US" sz="2000" b="1" dirty="0"/>
              <a:t>one state </a:t>
            </a:r>
            <a:r>
              <a:rPr lang="en-US" sz="2000" dirty="0"/>
              <a:t>and </a:t>
            </a:r>
            <a:r>
              <a:rPr lang="en-US" sz="2000" b="1" dirty="0"/>
              <a:t>one action</a:t>
            </a:r>
            <a:r>
              <a:rPr lang="en-US" sz="2000" dirty="0"/>
              <a:t>. </a:t>
            </a:r>
          </a:p>
        </p:txBody>
      </p:sp>
      <p:sp>
        <p:nvSpPr>
          <p:cNvPr id="39" name="Arrow: Right 38">
            <a:extLst>
              <a:ext uri="{FF2B5EF4-FFF2-40B4-BE49-F238E27FC236}">
                <a16:creationId xmlns:a16="http://schemas.microsoft.com/office/drawing/2014/main" id="{F096B137-B7C3-CD0E-D131-255A1741CDCB}"/>
              </a:ext>
            </a:extLst>
          </p:cNvPr>
          <p:cNvSpPr/>
          <p:nvPr/>
        </p:nvSpPr>
        <p:spPr>
          <a:xfrm>
            <a:off x="5399370" y="1007165"/>
            <a:ext cx="873449" cy="461665"/>
          </a:xfrm>
          <a:prstGeom prst="rightArrow">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0" name="TextBox 39">
            <a:extLst>
              <a:ext uri="{FF2B5EF4-FFF2-40B4-BE49-F238E27FC236}">
                <a16:creationId xmlns:a16="http://schemas.microsoft.com/office/drawing/2014/main" id="{D4D66EE3-B7B7-CB81-B09D-6F15F8D9F212}"/>
              </a:ext>
            </a:extLst>
          </p:cNvPr>
          <p:cNvSpPr txBox="1"/>
          <p:nvPr/>
        </p:nvSpPr>
        <p:spPr>
          <a:xfrm>
            <a:off x="6420082" y="1007165"/>
            <a:ext cx="4156587" cy="400110"/>
          </a:xfrm>
          <a:prstGeom prst="rect">
            <a:avLst/>
          </a:prstGeom>
          <a:noFill/>
        </p:spPr>
        <p:txBody>
          <a:bodyPr wrap="none" rtlCol="0">
            <a:spAutoFit/>
          </a:bodyPr>
          <a:lstStyle/>
          <a:p>
            <a:r>
              <a:rPr lang="en-US" b="1" dirty="0"/>
              <a:t>R</a:t>
            </a:r>
            <a:r>
              <a:rPr lang="en-US" dirty="0"/>
              <a:t>obust </a:t>
            </a:r>
            <a:r>
              <a:rPr lang="en-US" sz="2000" b="1" dirty="0"/>
              <a:t>M</a:t>
            </a:r>
            <a:r>
              <a:rPr lang="en-US" sz="2000" dirty="0"/>
              <a:t>ean</a:t>
            </a:r>
            <a:r>
              <a:rPr lang="en-US" dirty="0"/>
              <a:t> </a:t>
            </a:r>
            <a:r>
              <a:rPr lang="en-US" b="1" dirty="0"/>
              <a:t>E</a:t>
            </a:r>
            <a:r>
              <a:rPr lang="en-US" dirty="0"/>
              <a:t>stimation in Rewards.</a:t>
            </a:r>
            <a:endParaRPr lang="en-IN" dirty="0"/>
          </a:p>
        </p:txBody>
      </p:sp>
      <p:pic>
        <p:nvPicPr>
          <p:cNvPr id="41" name="Graphic 40" descr="Earth globe: Americas with solid fill">
            <a:extLst>
              <a:ext uri="{FF2B5EF4-FFF2-40B4-BE49-F238E27FC236}">
                <a16:creationId xmlns:a16="http://schemas.microsoft.com/office/drawing/2014/main" id="{3D599407-494C-CEF9-E6E8-D7A43BF15B9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16863" y="1627406"/>
            <a:ext cx="900000" cy="900000"/>
          </a:xfrm>
          <a:prstGeom prst="rect">
            <a:avLst/>
          </a:prstGeom>
        </p:spPr>
      </p:pic>
      <p:pic>
        <p:nvPicPr>
          <p:cNvPr id="42" name="Graphic 41" descr="Earth globe: Americas with solid fill">
            <a:extLst>
              <a:ext uri="{FF2B5EF4-FFF2-40B4-BE49-F238E27FC236}">
                <a16:creationId xmlns:a16="http://schemas.microsoft.com/office/drawing/2014/main" id="{AC18A5D6-8664-63F9-F809-9349F6D612F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980773" y="1643825"/>
            <a:ext cx="900000" cy="900000"/>
          </a:xfrm>
          <a:prstGeom prst="rect">
            <a:avLst/>
          </a:prstGeom>
        </p:spPr>
      </p:pic>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5F53BA2C-3B43-3583-583A-396F39E68621}"/>
                  </a:ext>
                </a:extLst>
              </p:cNvPr>
              <p:cNvSpPr txBox="1"/>
              <p:nvPr/>
            </p:nvSpPr>
            <p:spPr>
              <a:xfrm>
                <a:off x="673597" y="3008762"/>
                <a:ext cx="6169792" cy="56137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1400" b="0" i="1" smtClean="0">
                              <a:latin typeface="Cambria Math" panose="02040503050406030204" pitchFamily="18" charset="0"/>
                            </a:rPr>
                          </m:ctrlPr>
                        </m:dPr>
                        <m:e>
                          <m:sSub>
                            <m:sSubPr>
                              <m:ctrlPr>
                                <a:rPr lang="en-US" sz="1400" b="0" i="1" smtClean="0">
                                  <a:solidFill>
                                    <a:srgbClr val="C00000"/>
                                  </a:solidFill>
                                  <a:latin typeface="Cambria Math" panose="02040503050406030204" pitchFamily="18" charset="0"/>
                                </a:rPr>
                              </m:ctrlPr>
                            </m:sSubPr>
                            <m:e>
                              <m:r>
                                <a:rPr lang="en-US" sz="1400" b="0" i="1" smtClean="0">
                                  <a:solidFill>
                                    <a:srgbClr val="C00000"/>
                                  </a:solidFill>
                                  <a:latin typeface="Cambria Math" panose="02040503050406030204" pitchFamily="18" charset="0"/>
                                </a:rPr>
                                <m:t>𝑄</m:t>
                              </m:r>
                            </m:e>
                            <m:sub>
                              <m:r>
                                <a:rPr lang="en-US" sz="1400" b="0" i="1" smtClean="0">
                                  <a:solidFill>
                                    <a:srgbClr val="C00000"/>
                                  </a:solidFill>
                                  <a:latin typeface="Cambria Math" panose="02040503050406030204" pitchFamily="18" charset="0"/>
                                </a:rPr>
                                <m:t>1</m:t>
                              </m:r>
                            </m:sub>
                          </m:sSub>
                          <m:r>
                            <a:rPr lang="en-US" sz="1400" b="0" i="1" smtClean="0">
                              <a:latin typeface="Cambria Math" panose="02040503050406030204" pitchFamily="18" charset="0"/>
                            </a:rPr>
                            <m:t>−</m:t>
                          </m:r>
                          <m:sSub>
                            <m:sSubPr>
                              <m:ctrlPr>
                                <a:rPr lang="en-US" sz="1400" b="0" i="1" smtClean="0">
                                  <a:solidFill>
                                    <a:srgbClr val="002060"/>
                                  </a:solidFill>
                                  <a:latin typeface="Cambria Math" panose="02040503050406030204" pitchFamily="18" charset="0"/>
                                </a:rPr>
                              </m:ctrlPr>
                            </m:sSubPr>
                            <m:e>
                              <m:r>
                                <a:rPr lang="en-US" sz="1400" b="0" i="1" smtClean="0">
                                  <a:solidFill>
                                    <a:srgbClr val="002060"/>
                                  </a:solidFill>
                                  <a:latin typeface="Cambria Math" panose="02040503050406030204" pitchFamily="18" charset="0"/>
                                </a:rPr>
                                <m:t>𝑄</m:t>
                              </m:r>
                            </m:e>
                            <m:sub>
                              <m:r>
                                <a:rPr lang="en-US" sz="1400" b="0" i="1" smtClean="0">
                                  <a:solidFill>
                                    <a:srgbClr val="002060"/>
                                  </a:solidFill>
                                  <a:latin typeface="Cambria Math" panose="02040503050406030204" pitchFamily="18" charset="0"/>
                                </a:rPr>
                                <m:t>2</m:t>
                              </m:r>
                            </m:sub>
                          </m:sSub>
                        </m:e>
                      </m:d>
                      <m:r>
                        <a:rPr lang="en-US" sz="1400" b="0" i="1" smtClean="0">
                          <a:latin typeface="Cambria Math" panose="02040503050406030204" pitchFamily="18" charset="0"/>
                        </a:rPr>
                        <m:t>≥</m:t>
                      </m:r>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𝐶</m:t>
                          </m:r>
                          <m:acc>
                            <m:accPr>
                              <m:chr m:val="̅"/>
                              <m:ctrlPr>
                                <a:rPr lang="en-US" sz="1400" b="0" i="1" smtClean="0">
                                  <a:latin typeface="Cambria Math" panose="02040503050406030204" pitchFamily="18" charset="0"/>
                                </a:rPr>
                              </m:ctrlPr>
                            </m:accPr>
                            <m:e>
                              <m:r>
                                <a:rPr lang="en-US" sz="1400" b="0" i="1" smtClean="0">
                                  <a:latin typeface="Cambria Math" panose="02040503050406030204" pitchFamily="18" charset="0"/>
                                </a:rPr>
                                <m:t>𝑅</m:t>
                              </m:r>
                            </m:e>
                          </m:acc>
                          <m:rad>
                            <m:radPr>
                              <m:degHide m:val="on"/>
                              <m:ctrlPr>
                                <a:rPr lang="en-US" sz="1400" b="0" i="1" smtClean="0">
                                  <a:latin typeface="Cambria Math" panose="02040503050406030204" pitchFamily="18" charset="0"/>
                                </a:rPr>
                              </m:ctrlPr>
                            </m:radPr>
                            <m:deg/>
                            <m:e>
                              <m:r>
                                <a:rPr lang="en-US" sz="1400" b="0" i="1" smtClean="0">
                                  <a:latin typeface="Cambria Math" panose="02040503050406030204" pitchFamily="18" charset="0"/>
                                </a:rPr>
                                <m:t>𝜀</m:t>
                              </m:r>
                            </m:e>
                          </m:rad>
                        </m:num>
                        <m:den>
                          <m:r>
                            <a:rPr lang="en-US" sz="1400" b="0" i="1" smtClean="0">
                              <a:latin typeface="Cambria Math" panose="02040503050406030204" pitchFamily="18" charset="0"/>
                            </a:rPr>
                            <m:t>2</m:t>
                          </m:r>
                          <m:d>
                            <m:dPr>
                              <m:ctrlPr>
                                <a:rPr lang="en-US" sz="1400" b="0" i="1" smtClean="0">
                                  <a:latin typeface="Cambria Math" panose="02040503050406030204" pitchFamily="18" charset="0"/>
                                </a:rPr>
                              </m:ctrlPr>
                            </m:dPr>
                            <m:e>
                              <m:r>
                                <a:rPr lang="en-US" sz="1400" b="0" i="1" smtClean="0">
                                  <a:latin typeface="Cambria Math" panose="02040503050406030204" pitchFamily="18" charset="0"/>
                                </a:rPr>
                                <m:t>1−</m:t>
                              </m:r>
                              <m:r>
                                <a:rPr lang="en-US" sz="1400" b="0" i="1" smtClean="0">
                                  <a:latin typeface="Cambria Math" panose="02040503050406030204" pitchFamily="18" charset="0"/>
                                </a:rPr>
                                <m:t>𝛾</m:t>
                              </m:r>
                            </m:e>
                          </m:d>
                        </m:den>
                      </m:f>
                    </m:oMath>
                  </m:oMathPara>
                </a14:m>
                <a:endParaRPr lang="en-IN" sz="1400" dirty="0"/>
              </a:p>
            </p:txBody>
          </p:sp>
        </mc:Choice>
        <mc:Fallback xmlns="">
          <p:sp>
            <p:nvSpPr>
              <p:cNvPr id="43" name="TextBox 42">
                <a:extLst>
                  <a:ext uri="{FF2B5EF4-FFF2-40B4-BE49-F238E27FC236}">
                    <a16:creationId xmlns:a16="http://schemas.microsoft.com/office/drawing/2014/main" id="{5F53BA2C-3B43-3583-583A-396F39E68621}"/>
                  </a:ext>
                </a:extLst>
              </p:cNvPr>
              <p:cNvSpPr txBox="1">
                <a:spLocks noRot="1" noChangeAspect="1" noMove="1" noResize="1" noEditPoints="1" noAdjustHandles="1" noChangeArrowheads="1" noChangeShapeType="1" noTextEdit="1"/>
              </p:cNvSpPr>
              <p:nvPr/>
            </p:nvSpPr>
            <p:spPr>
              <a:xfrm>
                <a:off x="673597" y="3008762"/>
                <a:ext cx="6169792" cy="561372"/>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D1E37D10-D043-06D6-4266-21A3F8DE9B35}"/>
                  </a:ext>
                </a:extLst>
              </p:cNvPr>
              <p:cNvSpPr txBox="1"/>
              <p:nvPr/>
            </p:nvSpPr>
            <p:spPr>
              <a:xfrm>
                <a:off x="2442868" y="2424636"/>
                <a:ext cx="847989" cy="523220"/>
              </a:xfrm>
              <a:prstGeom prst="rect">
                <a:avLst/>
              </a:prstGeom>
              <a:noFill/>
            </p:spPr>
            <p:txBody>
              <a:bodyPr wrap="none" rtlCol="0">
                <a:spAutoFit/>
              </a:bodyPr>
              <a:lstStyle/>
              <a:p>
                <a:pPr/>
                <a:r>
                  <a:rPr lang="en-US" sz="1400" b="1" dirty="0"/>
                  <a:t>World 1</a:t>
                </a:r>
                <a:br>
                  <a:rPr lang="en-US" sz="1400" dirty="0"/>
                </a:br>
                <a14:m>
                  <m:oMathPara xmlns:m="http://schemas.openxmlformats.org/officeDocument/2006/math">
                    <m:oMathParaPr>
                      <m:jc m:val="centerGroup"/>
                    </m:oMathParaPr>
                    <m:oMath xmlns:m="http://schemas.openxmlformats.org/officeDocument/2006/math">
                      <m:sSub>
                        <m:sSubPr>
                          <m:ctrlPr>
                            <a:rPr lang="en-US" sz="1400" b="0" i="1" smtClean="0">
                              <a:solidFill>
                                <a:srgbClr val="C00000"/>
                              </a:solidFill>
                              <a:latin typeface="Cambria Math" panose="02040503050406030204" pitchFamily="18" charset="0"/>
                            </a:rPr>
                          </m:ctrlPr>
                        </m:sSubPr>
                        <m:e>
                          <m:r>
                            <a:rPr lang="en-US" sz="1400" b="0" i="1" smtClean="0">
                              <a:solidFill>
                                <a:srgbClr val="C00000"/>
                              </a:solidFill>
                              <a:latin typeface="Cambria Math" panose="02040503050406030204" pitchFamily="18" charset="0"/>
                            </a:rPr>
                            <m:t>𝑄</m:t>
                          </m:r>
                        </m:e>
                        <m:sub>
                          <m:r>
                            <a:rPr lang="en-US" sz="1400" b="0" i="1" smtClean="0">
                              <a:solidFill>
                                <a:srgbClr val="C00000"/>
                              </a:solidFill>
                              <a:latin typeface="Cambria Math" panose="02040503050406030204" pitchFamily="18" charset="0"/>
                            </a:rPr>
                            <m:t>1</m:t>
                          </m:r>
                        </m:sub>
                      </m:sSub>
                    </m:oMath>
                  </m:oMathPara>
                </a14:m>
                <a:endParaRPr lang="en-IN" sz="1400" dirty="0">
                  <a:solidFill>
                    <a:srgbClr val="C00000"/>
                  </a:solidFill>
                </a:endParaRPr>
              </a:p>
            </p:txBody>
          </p:sp>
        </mc:Choice>
        <mc:Fallback xmlns="">
          <p:sp>
            <p:nvSpPr>
              <p:cNvPr id="44" name="TextBox 43">
                <a:extLst>
                  <a:ext uri="{FF2B5EF4-FFF2-40B4-BE49-F238E27FC236}">
                    <a16:creationId xmlns:a16="http://schemas.microsoft.com/office/drawing/2014/main" id="{D1E37D10-D043-06D6-4266-21A3F8DE9B35}"/>
                  </a:ext>
                </a:extLst>
              </p:cNvPr>
              <p:cNvSpPr txBox="1">
                <a:spLocks noRot="1" noChangeAspect="1" noMove="1" noResize="1" noEditPoints="1" noAdjustHandles="1" noChangeArrowheads="1" noChangeShapeType="1" noTextEdit="1"/>
              </p:cNvSpPr>
              <p:nvPr/>
            </p:nvSpPr>
            <p:spPr>
              <a:xfrm>
                <a:off x="2442868" y="2424636"/>
                <a:ext cx="847989" cy="523220"/>
              </a:xfrm>
              <a:prstGeom prst="rect">
                <a:avLst/>
              </a:prstGeom>
              <a:blipFill>
                <a:blip r:embed="rId6"/>
                <a:stretch>
                  <a:fillRect l="-2158" t="-2326" r="-1439" b="-348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BBD2AFEE-C290-59B1-EB80-2F18282B89DB}"/>
                  </a:ext>
                </a:extLst>
              </p:cNvPr>
              <p:cNvSpPr txBox="1"/>
              <p:nvPr/>
            </p:nvSpPr>
            <p:spPr>
              <a:xfrm>
                <a:off x="4006778" y="2424607"/>
                <a:ext cx="847989" cy="523220"/>
              </a:xfrm>
              <a:prstGeom prst="rect">
                <a:avLst/>
              </a:prstGeom>
              <a:noFill/>
            </p:spPr>
            <p:txBody>
              <a:bodyPr wrap="none" rtlCol="0">
                <a:spAutoFit/>
              </a:bodyPr>
              <a:lstStyle/>
              <a:p>
                <a:r>
                  <a:rPr lang="en-US" sz="1400" b="1" dirty="0"/>
                  <a:t>World 2</a:t>
                </a:r>
              </a:p>
              <a:p>
                <a:pPr/>
                <a14:m>
                  <m:oMathPara xmlns:m="http://schemas.openxmlformats.org/officeDocument/2006/math">
                    <m:oMathParaPr>
                      <m:jc m:val="centerGroup"/>
                    </m:oMathParaPr>
                    <m:oMath xmlns:m="http://schemas.openxmlformats.org/officeDocument/2006/math">
                      <m:sSub>
                        <m:sSubPr>
                          <m:ctrlPr>
                            <a:rPr lang="en-US" sz="1400" b="0" i="1" smtClean="0">
                              <a:solidFill>
                                <a:srgbClr val="002060"/>
                              </a:solidFill>
                              <a:latin typeface="Cambria Math" panose="02040503050406030204" pitchFamily="18" charset="0"/>
                            </a:rPr>
                          </m:ctrlPr>
                        </m:sSubPr>
                        <m:e>
                          <m:r>
                            <a:rPr lang="en-US" sz="1400" b="0" i="1" smtClean="0">
                              <a:solidFill>
                                <a:srgbClr val="002060"/>
                              </a:solidFill>
                              <a:latin typeface="Cambria Math" panose="02040503050406030204" pitchFamily="18" charset="0"/>
                            </a:rPr>
                            <m:t>𝑄</m:t>
                          </m:r>
                        </m:e>
                        <m:sub>
                          <m:r>
                            <a:rPr lang="en-US" sz="1400" b="0" i="1" smtClean="0">
                              <a:solidFill>
                                <a:srgbClr val="002060"/>
                              </a:solidFill>
                              <a:latin typeface="Cambria Math" panose="02040503050406030204" pitchFamily="18" charset="0"/>
                            </a:rPr>
                            <m:t>2</m:t>
                          </m:r>
                        </m:sub>
                      </m:sSub>
                    </m:oMath>
                  </m:oMathPara>
                </a14:m>
                <a:endParaRPr lang="en-IN" sz="1400" dirty="0"/>
              </a:p>
            </p:txBody>
          </p:sp>
        </mc:Choice>
        <mc:Fallback xmlns="">
          <p:sp>
            <p:nvSpPr>
              <p:cNvPr id="45" name="TextBox 44">
                <a:extLst>
                  <a:ext uri="{FF2B5EF4-FFF2-40B4-BE49-F238E27FC236}">
                    <a16:creationId xmlns:a16="http://schemas.microsoft.com/office/drawing/2014/main" id="{BBD2AFEE-C290-59B1-EB80-2F18282B89DB}"/>
                  </a:ext>
                </a:extLst>
              </p:cNvPr>
              <p:cNvSpPr txBox="1">
                <a:spLocks noRot="1" noChangeAspect="1" noMove="1" noResize="1" noEditPoints="1" noAdjustHandles="1" noChangeArrowheads="1" noChangeShapeType="1" noTextEdit="1"/>
              </p:cNvSpPr>
              <p:nvPr/>
            </p:nvSpPr>
            <p:spPr>
              <a:xfrm>
                <a:off x="4006778" y="2424607"/>
                <a:ext cx="847989" cy="523220"/>
              </a:xfrm>
              <a:prstGeom prst="rect">
                <a:avLst/>
              </a:prstGeom>
              <a:blipFill>
                <a:blip r:embed="rId7"/>
                <a:stretch>
                  <a:fillRect l="-2158" t="-2326" r="-1439" b="-3488"/>
                </a:stretch>
              </a:blipFill>
            </p:spPr>
            <p:txBody>
              <a:bodyPr/>
              <a:lstStyle/>
              <a:p>
                <a:r>
                  <a:rPr lang="en-IN">
                    <a:noFill/>
                  </a:rPr>
                  <a:t> </a:t>
                </a:r>
              </a:p>
            </p:txBody>
          </p:sp>
        </mc:Fallback>
      </mc:AlternateContent>
      <p:sp>
        <p:nvSpPr>
          <p:cNvPr id="57" name="Arrow: Right 56">
            <a:extLst>
              <a:ext uri="{FF2B5EF4-FFF2-40B4-BE49-F238E27FC236}">
                <a16:creationId xmlns:a16="http://schemas.microsoft.com/office/drawing/2014/main" id="{34ECF02F-24DA-E329-A5CA-69469BC8C1F1}"/>
              </a:ext>
            </a:extLst>
          </p:cNvPr>
          <p:cNvSpPr/>
          <p:nvPr/>
        </p:nvSpPr>
        <p:spPr>
          <a:xfrm>
            <a:off x="5399370" y="1846573"/>
            <a:ext cx="873449" cy="46166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8" name="Picture 57" descr="Shape&#10;&#10;Description automatically generated with low confidence">
            <a:extLst>
              <a:ext uri="{FF2B5EF4-FFF2-40B4-BE49-F238E27FC236}">
                <a16:creationId xmlns:a16="http://schemas.microsoft.com/office/drawing/2014/main" id="{58FD4E32-2C9E-CCA9-D55D-53AC9137D36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447440" y="2524228"/>
            <a:ext cx="626744" cy="626744"/>
          </a:xfrm>
          <a:prstGeom prst="rect">
            <a:avLst/>
          </a:prstGeom>
          <a:solidFill>
            <a:schemeClr val="bg1"/>
          </a:solidFill>
          <a:ln>
            <a:noFill/>
          </a:ln>
        </p:spPr>
      </p:pic>
      <p:pic>
        <p:nvPicPr>
          <p:cNvPr id="59" name="Graphic 58" descr="Earth globe: Americas with solid fill">
            <a:extLst>
              <a:ext uri="{FF2B5EF4-FFF2-40B4-BE49-F238E27FC236}">
                <a16:creationId xmlns:a16="http://schemas.microsoft.com/office/drawing/2014/main" id="{ECC23C41-46E8-DC49-69AD-3C3FA4061CAA}"/>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587356" y="1666393"/>
            <a:ext cx="900000" cy="900000"/>
          </a:xfrm>
          <a:prstGeom prst="rect">
            <a:avLst/>
          </a:prstGeom>
        </p:spPr>
      </p:pic>
      <p:sp>
        <p:nvSpPr>
          <p:cNvPr id="60" name="TextBox 59">
            <a:extLst>
              <a:ext uri="{FF2B5EF4-FFF2-40B4-BE49-F238E27FC236}">
                <a16:creationId xmlns:a16="http://schemas.microsoft.com/office/drawing/2014/main" id="{578C49E5-C19D-1D43-2E04-597071EC470F}"/>
              </a:ext>
            </a:extLst>
          </p:cNvPr>
          <p:cNvSpPr txBox="1"/>
          <p:nvPr/>
        </p:nvSpPr>
        <p:spPr>
          <a:xfrm>
            <a:off x="6272819" y="2411016"/>
            <a:ext cx="1850635" cy="646331"/>
          </a:xfrm>
          <a:prstGeom prst="rect">
            <a:avLst/>
          </a:prstGeom>
          <a:noFill/>
        </p:spPr>
        <p:txBody>
          <a:bodyPr wrap="none" rtlCol="0">
            <a:spAutoFit/>
          </a:bodyPr>
          <a:lstStyle/>
          <a:p>
            <a:r>
              <a:rPr lang="en-US" dirty="0"/>
              <a:t>Learner cannot </a:t>
            </a:r>
            <a:br>
              <a:rPr lang="en-US" dirty="0"/>
            </a:br>
            <a:r>
              <a:rPr lang="en-US" b="1" dirty="0">
                <a:solidFill>
                  <a:srgbClr val="C00000"/>
                </a:solidFill>
              </a:rPr>
              <a:t>  distinguish</a:t>
            </a:r>
            <a:r>
              <a:rPr lang="en-US" dirty="0"/>
              <a:t>!</a:t>
            </a:r>
            <a:endParaRPr lang="en-IN" dirty="0"/>
          </a:p>
        </p:txBody>
      </p:sp>
      <p:sp>
        <p:nvSpPr>
          <p:cNvPr id="61" name="Arrow: Right 60">
            <a:extLst>
              <a:ext uri="{FF2B5EF4-FFF2-40B4-BE49-F238E27FC236}">
                <a16:creationId xmlns:a16="http://schemas.microsoft.com/office/drawing/2014/main" id="{86B6BC24-99EC-09A8-2590-ECC14CC64335}"/>
              </a:ext>
            </a:extLst>
          </p:cNvPr>
          <p:cNvSpPr/>
          <p:nvPr/>
        </p:nvSpPr>
        <p:spPr>
          <a:xfrm>
            <a:off x="7979402" y="1885560"/>
            <a:ext cx="873449" cy="46166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62" name="Graphic 61" descr="Robot with solid fill">
            <a:extLst>
              <a:ext uri="{FF2B5EF4-FFF2-40B4-BE49-F238E27FC236}">
                <a16:creationId xmlns:a16="http://schemas.microsoft.com/office/drawing/2014/main" id="{38649F17-30F1-9D3F-60A4-DAA13E2B9057}"/>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9014147" y="1544979"/>
            <a:ext cx="1064851" cy="1064851"/>
          </a:xfrm>
          <a:prstGeom prst="rect">
            <a:avLst/>
          </a:prstGeom>
        </p:spPr>
      </p:pic>
      <p:sp>
        <p:nvSpPr>
          <p:cNvPr id="63" name="TextBox 62">
            <a:extLst>
              <a:ext uri="{FF2B5EF4-FFF2-40B4-BE49-F238E27FC236}">
                <a16:creationId xmlns:a16="http://schemas.microsoft.com/office/drawing/2014/main" id="{69A49179-8202-C829-8461-E829BF9EC630}"/>
              </a:ext>
            </a:extLst>
          </p:cNvPr>
          <p:cNvSpPr txBox="1"/>
          <p:nvPr/>
        </p:nvSpPr>
        <p:spPr>
          <a:xfrm>
            <a:off x="8597084" y="2547097"/>
            <a:ext cx="2180340" cy="923330"/>
          </a:xfrm>
          <a:prstGeom prst="rect">
            <a:avLst/>
          </a:prstGeom>
          <a:noFill/>
        </p:spPr>
        <p:txBody>
          <a:bodyPr wrap="none" rtlCol="0">
            <a:spAutoFit/>
          </a:bodyPr>
          <a:lstStyle/>
          <a:p>
            <a:r>
              <a:rPr lang="en-US" dirty="0"/>
              <a:t>Learner performs </a:t>
            </a:r>
          </a:p>
          <a:p>
            <a:r>
              <a:rPr lang="en-US" dirty="0"/>
              <a:t>Poorly in one such </a:t>
            </a:r>
          </a:p>
          <a:p>
            <a:r>
              <a:rPr lang="en-US" b="1" dirty="0"/>
              <a:t>          world.</a:t>
            </a:r>
          </a:p>
        </p:txBody>
      </p:sp>
      <mc:AlternateContent xmlns:mc="http://schemas.openxmlformats.org/markup-compatibility/2006" xmlns:a14="http://schemas.microsoft.com/office/drawing/2010/main">
        <mc:Choice Requires="a14">
          <p:sp>
            <p:nvSpPr>
              <p:cNvPr id="3" name="Rectangle: Rounded Corners 2">
                <a:extLst>
                  <a:ext uri="{FF2B5EF4-FFF2-40B4-BE49-F238E27FC236}">
                    <a16:creationId xmlns:a16="http://schemas.microsoft.com/office/drawing/2014/main" id="{2A6B0B2C-BC9E-4785-374B-D78650D1A16C}"/>
                  </a:ext>
                </a:extLst>
              </p:cNvPr>
              <p:cNvSpPr/>
              <p:nvPr/>
            </p:nvSpPr>
            <p:spPr>
              <a:xfrm>
                <a:off x="329900" y="3967022"/>
                <a:ext cx="11532199" cy="2391310"/>
              </a:xfrm>
              <a:prstGeom prst="roundRect">
                <a:avLst/>
              </a:prstGeom>
              <a:solidFill>
                <a:schemeClr val="accent1">
                  <a:lumMod val="20000"/>
                  <a:lumOff val="80000"/>
                  <a:alpha val="36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600" b="1" dirty="0">
                    <a:solidFill>
                      <a:schemeClr val="tx1"/>
                    </a:solidFill>
                  </a:rPr>
                  <a:t>Theorem: </a:t>
                </a:r>
                <a:r>
                  <a:rPr lang="en-US" sz="2600" b="1" dirty="0">
                    <a:solidFill>
                      <a:srgbClr val="C00000"/>
                    </a:solidFill>
                  </a:rPr>
                  <a:t>(Fundamental Limit) </a:t>
                </a:r>
                <a:r>
                  <a:rPr lang="en-US" sz="2600" dirty="0">
                    <a:solidFill>
                      <a:schemeClr val="tx1"/>
                    </a:solidFill>
                  </a:rPr>
                  <a:t>There exist two different instances of our problem such that on at least one instance, the estimation error of </a:t>
                </a:r>
                <a:r>
                  <a:rPr lang="en-US" sz="2600" b="1" dirty="0">
                    <a:solidFill>
                      <a:schemeClr val="tx1"/>
                    </a:solidFill>
                  </a:rPr>
                  <a:t>any</a:t>
                </a:r>
                <a:r>
                  <a:rPr lang="en-US" sz="2600" dirty="0">
                    <a:solidFill>
                      <a:schemeClr val="tx1"/>
                    </a:solidFill>
                  </a:rPr>
                  <a:t> algorithm, given </a:t>
                </a:r>
                <a:r>
                  <a:rPr lang="en-US" sz="2600" b="1" dirty="0">
                    <a:solidFill>
                      <a:schemeClr val="tx1"/>
                    </a:solidFill>
                  </a:rPr>
                  <a:t>any</a:t>
                </a:r>
                <a:r>
                  <a:rPr lang="en-US" sz="2600" dirty="0">
                    <a:solidFill>
                      <a:schemeClr val="tx1"/>
                    </a:solidFill>
                  </a:rPr>
                  <a:t> number of samples, will be at least on the order of </a:t>
                </a:r>
                <a14:m>
                  <m:oMath xmlns:m="http://schemas.openxmlformats.org/officeDocument/2006/math">
                    <m:d>
                      <m:dPr>
                        <m:ctrlPr>
                          <a:rPr lang="en-US" sz="2600" i="1">
                            <a:solidFill>
                              <a:schemeClr val="tx1"/>
                            </a:solidFill>
                            <a:latin typeface="Cambria Math" panose="02040503050406030204" pitchFamily="18" charset="0"/>
                          </a:rPr>
                        </m:ctrlPr>
                      </m:dPr>
                      <m:e>
                        <m:r>
                          <a:rPr lang="en-US" sz="2600" b="0" i="1">
                            <a:solidFill>
                              <a:schemeClr val="tx1"/>
                            </a:solidFill>
                            <a:latin typeface="Cambria Math" panose="02040503050406030204" pitchFamily="18" charset="0"/>
                          </a:rPr>
                          <m:t> </m:t>
                        </m:r>
                        <m:f>
                          <m:fPr>
                            <m:ctrlPr>
                              <a:rPr lang="en-US" sz="2600" i="1">
                                <a:solidFill>
                                  <a:schemeClr val="tx1"/>
                                </a:solidFill>
                                <a:latin typeface="Cambria Math" panose="02040503050406030204" pitchFamily="18" charset="0"/>
                              </a:rPr>
                            </m:ctrlPr>
                          </m:fPr>
                          <m:num>
                            <m:r>
                              <a:rPr lang="en-US" sz="2600" b="0" i="1" smtClean="0">
                                <a:solidFill>
                                  <a:schemeClr val="tx1"/>
                                </a:solidFill>
                                <a:latin typeface="Cambria Math" panose="02040503050406030204" pitchFamily="18" charset="0"/>
                              </a:rPr>
                              <m:t>𝜎</m:t>
                            </m:r>
                            <m:rad>
                              <m:radPr>
                                <m:degHide m:val="on"/>
                                <m:ctrlPr>
                                  <a:rPr lang="en-US" sz="2600" i="1" smtClean="0">
                                    <a:solidFill>
                                      <a:schemeClr val="tx1"/>
                                    </a:solidFill>
                                    <a:latin typeface="Cambria Math" panose="02040503050406030204" pitchFamily="18" charset="0"/>
                                  </a:rPr>
                                </m:ctrlPr>
                              </m:radPr>
                              <m:deg/>
                              <m:e>
                                <m:r>
                                  <a:rPr lang="en-US" sz="2600" b="0" i="1" smtClean="0">
                                    <a:solidFill>
                                      <a:schemeClr val="tx1"/>
                                    </a:solidFill>
                                    <a:latin typeface="Cambria Math" panose="02040503050406030204" pitchFamily="18" charset="0"/>
                                  </a:rPr>
                                  <m:t>𝜀</m:t>
                                </m:r>
                              </m:e>
                            </m:rad>
                          </m:num>
                          <m:den>
                            <m:r>
                              <a:rPr lang="en-US" sz="2600" b="0" i="1" smtClean="0">
                                <a:solidFill>
                                  <a:schemeClr val="tx1"/>
                                </a:solidFill>
                                <a:latin typeface="Cambria Math" panose="02040503050406030204" pitchFamily="18" charset="0"/>
                              </a:rPr>
                              <m:t>(1−</m:t>
                            </m:r>
                            <m:r>
                              <a:rPr lang="en-US" sz="2600" b="0" i="1" smtClean="0">
                                <a:solidFill>
                                  <a:schemeClr val="tx1"/>
                                </a:solidFill>
                                <a:latin typeface="Cambria Math" panose="02040503050406030204" pitchFamily="18" charset="0"/>
                              </a:rPr>
                              <m:t>𝛾</m:t>
                            </m:r>
                            <m:r>
                              <a:rPr lang="en-US" sz="2600" b="0" i="1" smtClean="0">
                                <a:solidFill>
                                  <a:schemeClr val="tx1"/>
                                </a:solidFill>
                                <a:latin typeface="Cambria Math" panose="02040503050406030204" pitchFamily="18" charset="0"/>
                              </a:rPr>
                              <m:t>)</m:t>
                            </m:r>
                          </m:den>
                        </m:f>
                      </m:e>
                    </m:d>
                  </m:oMath>
                </a14:m>
                <a:r>
                  <a:rPr lang="en-US" sz="2600" dirty="0">
                    <a:solidFill>
                      <a:schemeClr val="tx1"/>
                    </a:solidFill>
                  </a:rPr>
                  <a:t> with probability </a:t>
                </a:r>
                <a14:m>
                  <m:oMath xmlns:m="http://schemas.openxmlformats.org/officeDocument/2006/math">
                    <m:f>
                      <m:fPr>
                        <m:ctrlPr>
                          <a:rPr lang="en-US" sz="2600" b="0" i="1" smtClean="0">
                            <a:solidFill>
                              <a:schemeClr val="tx1"/>
                            </a:solidFill>
                            <a:latin typeface="Cambria Math" panose="02040503050406030204" pitchFamily="18" charset="0"/>
                          </a:rPr>
                        </m:ctrlPr>
                      </m:fPr>
                      <m:num>
                        <m:r>
                          <a:rPr lang="en-US" sz="2600" b="0" i="1" smtClean="0">
                            <a:solidFill>
                              <a:schemeClr val="tx1"/>
                            </a:solidFill>
                            <a:latin typeface="Cambria Math" panose="02040503050406030204" pitchFamily="18" charset="0"/>
                          </a:rPr>
                          <m:t>1</m:t>
                        </m:r>
                      </m:num>
                      <m:den>
                        <m:r>
                          <a:rPr lang="en-US" sz="2600" b="0" i="1" smtClean="0">
                            <a:solidFill>
                              <a:schemeClr val="tx1"/>
                            </a:solidFill>
                            <a:latin typeface="Cambria Math" panose="02040503050406030204" pitchFamily="18" charset="0"/>
                          </a:rPr>
                          <m:t>4</m:t>
                        </m:r>
                      </m:den>
                    </m:f>
                  </m:oMath>
                </a14:m>
                <a:r>
                  <a:rPr lang="en-US" sz="2600" dirty="0">
                    <a:solidFill>
                      <a:schemeClr val="tx1"/>
                    </a:solidFill>
                  </a:rPr>
                  <a:t>.</a:t>
                </a:r>
                <a:endParaRPr lang="en-US" sz="2600" dirty="0"/>
              </a:p>
              <a:p>
                <a:endParaRPr lang="en-US" sz="2600" b="0" dirty="0"/>
              </a:p>
            </p:txBody>
          </p:sp>
        </mc:Choice>
        <mc:Fallback xmlns="">
          <p:sp>
            <p:nvSpPr>
              <p:cNvPr id="3" name="Rectangle: Rounded Corners 2">
                <a:extLst>
                  <a:ext uri="{FF2B5EF4-FFF2-40B4-BE49-F238E27FC236}">
                    <a16:creationId xmlns:a16="http://schemas.microsoft.com/office/drawing/2014/main" id="{2A6B0B2C-BC9E-4785-374B-D78650D1A16C}"/>
                  </a:ext>
                </a:extLst>
              </p:cNvPr>
              <p:cNvSpPr>
                <a:spLocks noRot="1" noChangeAspect="1" noMove="1" noResize="1" noEditPoints="1" noAdjustHandles="1" noChangeArrowheads="1" noChangeShapeType="1" noTextEdit="1"/>
              </p:cNvSpPr>
              <p:nvPr/>
            </p:nvSpPr>
            <p:spPr>
              <a:xfrm>
                <a:off x="329900" y="3967022"/>
                <a:ext cx="11532199" cy="2391310"/>
              </a:xfrm>
              <a:prstGeom prst="roundRect">
                <a:avLst/>
              </a:prstGeom>
              <a:blipFill>
                <a:blip r:embed="rId11"/>
                <a:stretch>
                  <a:fillRect t="-1005"/>
                </a:stretch>
              </a:blipFill>
              <a:ln w="38100"/>
            </p:spPr>
            <p:txBody>
              <a:bodyPr/>
              <a:lstStyle/>
              <a:p>
                <a:r>
                  <a:rPr lang="en-IN">
                    <a:noFill/>
                  </a:rPr>
                  <a:t> </a:t>
                </a:r>
              </a:p>
            </p:txBody>
          </p:sp>
        </mc:Fallback>
      </mc:AlternateContent>
    </p:spTree>
    <p:extLst>
      <p:ext uri="{BB962C8B-B14F-4D97-AF65-F5344CB8AC3E}">
        <p14:creationId xmlns:p14="http://schemas.microsoft.com/office/powerpoint/2010/main" val="24921868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0">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41"/>
                                        </p:tgtEl>
                                        <p:attrNameLst>
                                          <p:attrName>style.visibility</p:attrName>
                                        </p:attrNameLst>
                                      </p:cBhvr>
                                      <p:to>
                                        <p:strVal val="visible"/>
                                      </p:to>
                                    </p:set>
                                    <p:animEffect transition="in" filter="fade">
                                      <p:cBhvr>
                                        <p:cTn id="19" dur="500"/>
                                        <p:tgtEl>
                                          <p:spTgt spid="41"/>
                                        </p:tgtEl>
                                      </p:cBhvr>
                                    </p:animEffect>
                                  </p:childTnLst>
                                </p:cTn>
                              </p:par>
                              <p:par>
                                <p:cTn id="20" presetID="10" presetClass="entr" presetSubtype="0" fill="hold" nodeType="withEffect">
                                  <p:stCondLst>
                                    <p:cond delay="0"/>
                                  </p:stCondLst>
                                  <p:childTnLst>
                                    <p:set>
                                      <p:cBhvr>
                                        <p:cTn id="21" dur="1" fill="hold">
                                          <p:stCondLst>
                                            <p:cond delay="0"/>
                                          </p:stCondLst>
                                        </p:cTn>
                                        <p:tgtEl>
                                          <p:spTgt spid="42"/>
                                        </p:tgtEl>
                                        <p:attrNameLst>
                                          <p:attrName>style.visibility</p:attrName>
                                        </p:attrNameLst>
                                      </p:cBhvr>
                                      <p:to>
                                        <p:strVal val="visible"/>
                                      </p:to>
                                    </p:set>
                                    <p:animEffect transition="in" filter="fade">
                                      <p:cBhvr>
                                        <p:cTn id="22" dur="500"/>
                                        <p:tgtEl>
                                          <p:spTgt spid="42"/>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44"/>
                                        </p:tgtEl>
                                        <p:attrNameLst>
                                          <p:attrName>style.visibility</p:attrName>
                                        </p:attrNameLst>
                                      </p:cBhvr>
                                      <p:to>
                                        <p:strVal val="visible"/>
                                      </p:to>
                                    </p:set>
                                    <p:animEffect transition="in" filter="fade">
                                      <p:cBhvr>
                                        <p:cTn id="25" dur="500"/>
                                        <p:tgtEl>
                                          <p:spTgt spid="44"/>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45"/>
                                        </p:tgtEl>
                                        <p:attrNameLst>
                                          <p:attrName>style.visibility</p:attrName>
                                        </p:attrNameLst>
                                      </p:cBhvr>
                                      <p:to>
                                        <p:strVal val="visible"/>
                                      </p:to>
                                    </p:set>
                                    <p:animEffect transition="in" filter="fade">
                                      <p:cBhvr>
                                        <p:cTn id="28" dur="500"/>
                                        <p:tgtEl>
                                          <p:spTgt spid="45"/>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43">
                                            <p:txEl>
                                              <p:pRg st="0" end="0"/>
                                            </p:txEl>
                                          </p:spTgt>
                                        </p:tgtEl>
                                        <p:attrNameLst>
                                          <p:attrName>style.visibility</p:attrName>
                                        </p:attrNameLst>
                                      </p:cBhvr>
                                      <p:to>
                                        <p:strVal val="visible"/>
                                      </p:to>
                                    </p:set>
                                    <p:animEffect transition="in" filter="fade">
                                      <p:cBhvr>
                                        <p:cTn id="33" dur="500"/>
                                        <p:tgtEl>
                                          <p:spTgt spid="43">
                                            <p:txEl>
                                              <p:pRg st="0" end="0"/>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57"/>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58"/>
                                        </p:tgtEl>
                                        <p:attrNameLst>
                                          <p:attrName>style.visibility</p:attrName>
                                        </p:attrNameLst>
                                      </p:cBhvr>
                                      <p:to>
                                        <p:strVal val="visible"/>
                                      </p:to>
                                    </p:set>
                                  </p:childTnLst>
                                </p:cTn>
                              </p:par>
                              <p:par>
                                <p:cTn id="42" presetID="10" presetClass="entr" presetSubtype="0" fill="hold" nodeType="withEffect">
                                  <p:stCondLst>
                                    <p:cond delay="0"/>
                                  </p:stCondLst>
                                  <p:childTnLst>
                                    <p:set>
                                      <p:cBhvr>
                                        <p:cTn id="43" dur="1" fill="hold">
                                          <p:stCondLst>
                                            <p:cond delay="0"/>
                                          </p:stCondLst>
                                        </p:cTn>
                                        <p:tgtEl>
                                          <p:spTgt spid="59"/>
                                        </p:tgtEl>
                                        <p:attrNameLst>
                                          <p:attrName>style.visibility</p:attrName>
                                        </p:attrNameLst>
                                      </p:cBhvr>
                                      <p:to>
                                        <p:strVal val="visible"/>
                                      </p:to>
                                    </p:set>
                                    <p:animEffect transition="in" filter="fade">
                                      <p:cBhvr>
                                        <p:cTn id="44" dur="500"/>
                                        <p:tgtEl>
                                          <p:spTgt spid="59"/>
                                        </p:tgtEl>
                                      </p:cBhvr>
                                    </p:animEffect>
                                  </p:childTnLst>
                                </p:cTn>
                              </p:par>
                              <p:par>
                                <p:cTn id="45" presetID="10" presetClass="entr" presetSubtype="0" fill="hold" nodeType="withEffect">
                                  <p:stCondLst>
                                    <p:cond delay="0"/>
                                  </p:stCondLst>
                                  <p:childTnLst>
                                    <p:set>
                                      <p:cBhvr>
                                        <p:cTn id="46" dur="1" fill="hold">
                                          <p:stCondLst>
                                            <p:cond delay="0"/>
                                          </p:stCondLst>
                                        </p:cTn>
                                        <p:tgtEl>
                                          <p:spTgt spid="60">
                                            <p:txEl>
                                              <p:pRg st="0" end="0"/>
                                            </p:txEl>
                                          </p:spTgt>
                                        </p:tgtEl>
                                        <p:attrNameLst>
                                          <p:attrName>style.visibility</p:attrName>
                                        </p:attrNameLst>
                                      </p:cBhvr>
                                      <p:to>
                                        <p:strVal val="visible"/>
                                      </p:to>
                                    </p:set>
                                    <p:animEffect transition="in" filter="fade">
                                      <p:cBhvr>
                                        <p:cTn id="47" dur="500"/>
                                        <p:tgtEl>
                                          <p:spTgt spid="60">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61"/>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62"/>
                                        </p:tgtEl>
                                        <p:attrNameLst>
                                          <p:attrName>style.visibility</p:attrName>
                                        </p:attrNameLst>
                                      </p:cBhvr>
                                      <p:to>
                                        <p:strVal val="visible"/>
                                      </p:to>
                                    </p:set>
                                    <p:animEffect transition="in" filter="fade">
                                      <p:cBhvr>
                                        <p:cTn id="56" dur="500"/>
                                        <p:tgtEl>
                                          <p:spTgt spid="62"/>
                                        </p:tgtEl>
                                      </p:cBhvr>
                                    </p:animEffect>
                                  </p:childTnLst>
                                </p:cTn>
                              </p:par>
                              <p:par>
                                <p:cTn id="57" presetID="1" presetClass="entr" presetSubtype="0" fill="hold" nodeType="withEffect">
                                  <p:stCondLst>
                                    <p:cond delay="0"/>
                                  </p:stCondLst>
                                  <p:childTnLst>
                                    <p:set>
                                      <p:cBhvr>
                                        <p:cTn id="58" dur="1" fill="hold">
                                          <p:stCondLst>
                                            <p:cond delay="0"/>
                                          </p:stCondLst>
                                        </p:cTn>
                                        <p:tgtEl>
                                          <p:spTgt spid="63">
                                            <p:txEl>
                                              <p:pRg st="0" end="0"/>
                                            </p:txEl>
                                          </p:spTgt>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63">
                                            <p:txEl>
                                              <p:pRg st="1" end="1"/>
                                            </p:txEl>
                                          </p:spTgt>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63">
                                            <p:txEl>
                                              <p:pRg st="2" end="2"/>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P spid="44" grpId="0"/>
      <p:bldP spid="45" grpId="0"/>
      <p:bldP spid="57" grpId="0" animBg="1"/>
      <p:bldP spid="61" grpId="0" animBg="1"/>
      <p:bldP spid="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D6EB189-29A7-7E4A-4C7B-C9EC4408E001}"/>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3D9DA15-F0BB-FFD2-6311-B76867EB949A}"/>
              </a:ext>
            </a:extLst>
          </p:cNvPr>
          <p:cNvSpPr>
            <a:spLocks noGrp="1"/>
          </p:cNvSpPr>
          <p:nvPr>
            <p:ph type="sldNum" sz="quarter" idx="12"/>
          </p:nvPr>
        </p:nvSpPr>
        <p:spPr>
          <a:xfrm>
            <a:off x="11206754" y="6451865"/>
            <a:ext cx="914400" cy="320040"/>
          </a:xfrm>
        </p:spPr>
        <p:txBody>
          <a:bodyPr/>
          <a:lstStyle/>
          <a:p>
            <a:fld id="{6D22F896-40B5-4ADD-8801-0D06FADFA095}" type="slidenum">
              <a:rPr lang="en-US" smtClean="0"/>
              <a:t>9</a:t>
            </a:fld>
            <a:endParaRPr lang="en-US" dirty="0"/>
          </a:p>
        </p:txBody>
      </p:sp>
      <p:sp>
        <p:nvSpPr>
          <p:cNvPr id="2" name="Title 1">
            <a:extLst>
              <a:ext uri="{FF2B5EF4-FFF2-40B4-BE49-F238E27FC236}">
                <a16:creationId xmlns:a16="http://schemas.microsoft.com/office/drawing/2014/main" id="{8CDA53EE-A4D7-86B4-8C3A-1B424064CBF2}"/>
              </a:ext>
            </a:extLst>
          </p:cNvPr>
          <p:cNvSpPr txBox="1">
            <a:spLocks/>
          </p:cNvSpPr>
          <p:nvPr/>
        </p:nvSpPr>
        <p:spPr>
          <a:xfrm>
            <a:off x="572121" y="260756"/>
            <a:ext cx="10730524" cy="850217"/>
          </a:xfrm>
          <a:prstGeom prst="rect">
            <a:avLst/>
          </a:prstGeom>
        </p:spPr>
        <p:txBody>
          <a:bodyPr/>
          <a:lstStyle>
            <a:lvl1pPr algn="ctr" defTabSz="914400" rtl="0" eaLnBrk="1" latinLnBrk="0" hangingPunct="1">
              <a:lnSpc>
                <a:spcPct val="85000"/>
              </a:lnSpc>
              <a:spcBef>
                <a:spcPct val="0"/>
              </a:spcBef>
              <a:buNone/>
              <a:defRPr sz="4000" b="0" i="0" kern="1200" cap="none" spc="-150">
                <a:solidFill>
                  <a:schemeClr val="tx1"/>
                </a:solidFill>
                <a:effectLst/>
                <a:latin typeface="+mj-lt"/>
                <a:ea typeface="+mj-ea"/>
                <a:cs typeface="+mj-cs"/>
              </a:defRPr>
            </a:lvl1pPr>
          </a:lstStyle>
          <a:p>
            <a:r>
              <a:rPr lang="en-US" dirty="0">
                <a:solidFill>
                  <a:srgbClr val="002060"/>
                </a:solidFill>
                <a:latin typeface="+mn-lt"/>
              </a:rPr>
              <a:t> Extensions</a:t>
            </a:r>
            <a:endParaRPr lang="en-IN" dirty="0">
              <a:solidFill>
                <a:srgbClr val="C00000"/>
              </a:solidFill>
              <a:latin typeface="+mn-lt"/>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83C0EA4-3F46-9A66-312B-A2B3F01408FA}"/>
                  </a:ext>
                </a:extLst>
              </p:cNvPr>
              <p:cNvSpPr txBox="1"/>
              <p:nvPr/>
            </p:nvSpPr>
            <p:spPr>
              <a:xfrm>
                <a:off x="890031" y="1230545"/>
                <a:ext cx="4526752" cy="4247317"/>
              </a:xfrm>
              <a:prstGeom prst="rect">
                <a:avLst/>
              </a:prstGeom>
              <a:noFill/>
            </p:spPr>
            <p:txBody>
              <a:bodyPr wrap="none" rtlCol="0">
                <a:spAutoFit/>
              </a:bodyPr>
              <a:lstStyle/>
              <a:p>
                <a:pPr marL="285750" indent="-285750">
                  <a:buFont typeface="Wingdings" panose="05000000000000000000" pitchFamily="2" charset="2"/>
                  <a:buChar char="Ø"/>
                </a:pPr>
                <a:r>
                  <a:rPr lang="en-US" b="1" u="sng" dirty="0">
                    <a:solidFill>
                      <a:schemeClr val="accent1"/>
                    </a:solidFill>
                  </a:rPr>
                  <a:t>Extension 1</a:t>
                </a:r>
                <a:r>
                  <a:rPr lang="en-US" b="1" dirty="0">
                    <a:solidFill>
                      <a:schemeClr val="accent1"/>
                    </a:solidFill>
                  </a:rPr>
                  <a:t> </a:t>
                </a:r>
                <a:r>
                  <a:rPr lang="en-US" b="1" dirty="0">
                    <a:solidFill>
                      <a:srgbClr val="002060"/>
                    </a:solidFill>
                  </a:rPr>
                  <a:t>(Theorem 4)</a:t>
                </a:r>
              </a:p>
              <a:p>
                <a:endParaRPr lang="en-US" b="1" dirty="0">
                  <a:solidFill>
                    <a:schemeClr val="accent1"/>
                  </a:solidFill>
                </a:endParaRPr>
              </a:p>
              <a:p>
                <a:pPr marL="285750" indent="-285750">
                  <a:buFont typeface="Wingdings" panose="05000000000000000000" pitchFamily="2" charset="2"/>
                  <a:buChar char="q"/>
                </a:pPr>
                <a:r>
                  <a:rPr lang="en-IN" dirty="0"/>
                  <a:t>Can we get similar guarantees,</a:t>
                </a:r>
                <a:br>
                  <a:rPr lang="en-IN" dirty="0"/>
                </a:br>
                <a:r>
                  <a:rPr lang="en-IN" dirty="0"/>
                  <a:t>when we have no prior knowledge</a:t>
                </a:r>
                <a:br>
                  <a:rPr lang="en-IN" dirty="0"/>
                </a:br>
                <a:r>
                  <a:rPr lang="en-IN" dirty="0"/>
                  <a:t>about the reward statistics? </a:t>
                </a:r>
                <a:r>
                  <a:rPr lang="en-IN" b="1" dirty="0">
                    <a:solidFill>
                      <a:srgbClr val="C00000"/>
                    </a:solidFill>
                  </a:rPr>
                  <a:t>Yes</a:t>
                </a:r>
                <a:r>
                  <a:rPr lang="en-IN" dirty="0"/>
                  <a:t>!</a:t>
                </a:r>
                <a:br>
                  <a:rPr lang="en-IN" dirty="0"/>
                </a:br>
                <a:endParaRPr lang="en-IN" dirty="0"/>
              </a:p>
              <a:p>
                <a:pPr marL="285750" indent="-285750">
                  <a:buFont typeface="Wingdings" panose="05000000000000000000" pitchFamily="2" charset="2"/>
                  <a:buChar char="q"/>
                </a:pPr>
                <a:r>
                  <a:rPr lang="en-IN" dirty="0"/>
                  <a:t>Use </a:t>
                </a:r>
                <a14:m>
                  <m:oMath xmlns:m="http://schemas.openxmlformats.org/officeDocument/2006/math">
                    <m:r>
                      <a:rPr lang="en-US" b="0" i="1" smtClean="0">
                        <a:latin typeface="Cambria Math" panose="02040503050406030204" pitchFamily="18" charset="0"/>
                      </a:rPr>
                      <m:t>𝑚</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𝑡</m:t>
                        </m:r>
                      </m:e>
                      <m:sup>
                        <m:r>
                          <a:rPr lang="en-US" b="0" i="1" smtClean="0">
                            <a:latin typeface="Cambria Math" panose="02040503050406030204" pitchFamily="18" charset="0"/>
                          </a:rPr>
                          <m:t>𝑝</m:t>
                        </m:r>
                      </m:sup>
                    </m:sSup>
                    <m:r>
                      <a:rPr lang="en-US" b="0" i="1" smtClean="0">
                        <a:latin typeface="Cambria Math" panose="02040503050406030204" pitchFamily="18" charset="0"/>
                      </a:rPr>
                      <m:t>,</m:t>
                    </m:r>
                  </m:oMath>
                </a14:m>
                <a:r>
                  <a:rPr lang="en-IN" dirty="0"/>
                  <a:t> as a proxy for </a:t>
                </a:r>
                <a14:m>
                  <m:oMath xmlns:m="http://schemas.openxmlformats.org/officeDocument/2006/math">
                    <m:acc>
                      <m:accPr>
                        <m:chr m:val="̅"/>
                        <m:ctrlPr>
                          <a:rPr lang="en-US" b="0" i="1" smtClean="0">
                            <a:solidFill>
                              <a:schemeClr val="accent1"/>
                            </a:solidFill>
                            <a:latin typeface="Cambria Math" panose="02040503050406030204" pitchFamily="18" charset="0"/>
                          </a:rPr>
                        </m:ctrlPr>
                      </m:accPr>
                      <m:e>
                        <m:r>
                          <a:rPr lang="en-US" b="1" i="1" smtClean="0">
                            <a:solidFill>
                              <a:schemeClr val="accent1"/>
                            </a:solidFill>
                            <a:latin typeface="Cambria Math" panose="02040503050406030204" pitchFamily="18" charset="0"/>
                          </a:rPr>
                          <m:t>𝝈</m:t>
                        </m:r>
                      </m:e>
                    </m:acc>
                  </m:oMath>
                </a14:m>
                <a:r>
                  <a:rPr lang="en-IN" dirty="0"/>
                  <a:t> while</a:t>
                </a:r>
                <a:br>
                  <a:rPr lang="en-IN" dirty="0"/>
                </a:br>
                <a:r>
                  <a:rPr lang="en-IN" dirty="0"/>
                  <a:t>designing the threshold function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𝐺</m:t>
                        </m:r>
                      </m:e>
                      <m:sub>
                        <m:r>
                          <a:rPr lang="en-US" b="0" i="1" smtClean="0">
                            <a:latin typeface="Cambria Math" panose="02040503050406030204" pitchFamily="18" charset="0"/>
                          </a:rPr>
                          <m:t>𝑡</m:t>
                        </m:r>
                      </m:sub>
                    </m:sSub>
                    <m:r>
                      <a:rPr lang="en-US" b="0" i="1" smtClean="0">
                        <a:latin typeface="Cambria Math" panose="02040503050406030204" pitchFamily="18" charset="0"/>
                      </a:rPr>
                      <m:t>.</m:t>
                    </m:r>
                  </m:oMath>
                </a14:m>
                <a:endParaRPr lang="en-IN" dirty="0"/>
              </a:p>
              <a:p>
                <a:br>
                  <a:rPr lang="en-IN" dirty="0"/>
                </a:br>
                <a:r>
                  <a:rPr lang="en-IN" b="1" dirty="0">
                    <a:solidFill>
                      <a:srgbClr val="06240B"/>
                    </a:solidFill>
                  </a:rPr>
                  <a:t>Key Tool: </a:t>
                </a:r>
                <a:r>
                  <a:rPr lang="en-IN" dirty="0">
                    <a:solidFill>
                      <a:srgbClr val="0070C0"/>
                    </a:solidFill>
                  </a:rPr>
                  <a:t>A variant of Azuma-Hoeffding</a:t>
                </a:r>
              </a:p>
              <a:p>
                <a:r>
                  <a:rPr lang="en-IN" dirty="0">
                    <a:solidFill>
                      <a:srgbClr val="0070C0"/>
                    </a:solidFill>
                  </a:rPr>
                  <a:t>Inequality for martingale differences that</a:t>
                </a:r>
                <a:br>
                  <a:rPr lang="en-IN" dirty="0">
                    <a:solidFill>
                      <a:srgbClr val="0070C0"/>
                    </a:solidFill>
                  </a:rPr>
                </a:br>
                <a:r>
                  <a:rPr lang="en-IN" dirty="0">
                    <a:solidFill>
                      <a:srgbClr val="0070C0"/>
                    </a:solidFill>
                  </a:rPr>
                  <a:t>satisfy a coarse bound deterministically,</a:t>
                </a:r>
                <a:br>
                  <a:rPr lang="en-IN" dirty="0">
                    <a:solidFill>
                      <a:srgbClr val="0070C0"/>
                    </a:solidFill>
                  </a:rPr>
                </a:br>
                <a:r>
                  <a:rPr lang="en-IN" dirty="0">
                    <a:solidFill>
                      <a:srgbClr val="0070C0"/>
                    </a:solidFill>
                  </a:rPr>
                  <a:t>and a finer bound </a:t>
                </a:r>
                <a:r>
                  <a:rPr lang="en-IN" dirty="0" err="1">
                    <a:solidFill>
                      <a:srgbClr val="0070C0"/>
                    </a:solidFill>
                  </a:rPr>
                  <a:t>w.h.p</a:t>
                </a:r>
                <a:r>
                  <a:rPr lang="en-IN" dirty="0">
                    <a:solidFill>
                      <a:srgbClr val="0070C0"/>
                    </a:solidFill>
                  </a:rPr>
                  <a:t>.</a:t>
                </a:r>
                <a:br>
                  <a:rPr lang="en-IN" dirty="0">
                    <a:solidFill>
                      <a:srgbClr val="0070C0"/>
                    </a:solidFill>
                  </a:rPr>
                </a:br>
                <a:endParaRPr lang="en-IN" dirty="0">
                  <a:solidFill>
                    <a:srgbClr val="0070C0"/>
                  </a:solidFill>
                </a:endParaRPr>
              </a:p>
              <a:p>
                <a:pPr marL="285750" indent="-285750">
                  <a:buFont typeface="Wingdings" panose="05000000000000000000" pitchFamily="2" charset="2"/>
                  <a:buChar char="q"/>
                </a:pPr>
                <a:endParaRPr lang="en-IN" dirty="0"/>
              </a:p>
            </p:txBody>
          </p:sp>
        </mc:Choice>
        <mc:Fallback xmlns="">
          <p:sp>
            <p:nvSpPr>
              <p:cNvPr id="5" name="TextBox 4">
                <a:extLst>
                  <a:ext uri="{FF2B5EF4-FFF2-40B4-BE49-F238E27FC236}">
                    <a16:creationId xmlns:a16="http://schemas.microsoft.com/office/drawing/2014/main" id="{483C0EA4-3F46-9A66-312B-A2B3F01408FA}"/>
                  </a:ext>
                </a:extLst>
              </p:cNvPr>
              <p:cNvSpPr txBox="1">
                <a:spLocks noRot="1" noChangeAspect="1" noMove="1" noResize="1" noEditPoints="1" noAdjustHandles="1" noChangeArrowheads="1" noChangeShapeType="1" noTextEdit="1"/>
              </p:cNvSpPr>
              <p:nvPr/>
            </p:nvSpPr>
            <p:spPr>
              <a:xfrm>
                <a:off x="890031" y="1230545"/>
                <a:ext cx="4526752" cy="4247317"/>
              </a:xfrm>
              <a:prstGeom prst="rect">
                <a:avLst/>
              </a:prstGeom>
              <a:blipFill>
                <a:blip r:embed="rId3"/>
                <a:stretch>
                  <a:fillRect l="-1077" t="-861" r="-26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50EA26FB-293E-7338-16F1-16F4252B792B}"/>
                  </a:ext>
                </a:extLst>
              </p:cNvPr>
              <p:cNvSpPr txBox="1"/>
              <p:nvPr/>
            </p:nvSpPr>
            <p:spPr>
              <a:xfrm>
                <a:off x="6023442" y="1230545"/>
                <a:ext cx="6097712" cy="3416320"/>
              </a:xfrm>
              <a:prstGeom prst="rect">
                <a:avLst/>
              </a:prstGeom>
              <a:noFill/>
            </p:spPr>
            <p:txBody>
              <a:bodyPr wrap="square">
                <a:spAutoFit/>
              </a:bodyPr>
              <a:lstStyle/>
              <a:p>
                <a:pPr marL="285750" indent="-285750">
                  <a:buFont typeface="Wingdings" panose="05000000000000000000" pitchFamily="2" charset="2"/>
                  <a:buChar char="Ø"/>
                </a:pPr>
                <a:r>
                  <a:rPr lang="en-US" b="1" u="sng" dirty="0">
                    <a:solidFill>
                      <a:schemeClr val="accent1"/>
                    </a:solidFill>
                  </a:rPr>
                  <a:t>Extension 2</a:t>
                </a:r>
                <a:r>
                  <a:rPr lang="en-US" b="1" dirty="0">
                    <a:solidFill>
                      <a:schemeClr val="accent1"/>
                    </a:solidFill>
                  </a:rPr>
                  <a:t> </a:t>
                </a:r>
                <a:r>
                  <a:rPr lang="en-US" b="1" dirty="0">
                    <a:solidFill>
                      <a:srgbClr val="002060"/>
                    </a:solidFill>
                  </a:rPr>
                  <a:t>(Theorem 5)</a:t>
                </a:r>
              </a:p>
              <a:p>
                <a:endParaRPr lang="en-US" b="1" dirty="0">
                  <a:solidFill>
                    <a:schemeClr val="accent1"/>
                  </a:solidFill>
                </a:endParaRPr>
              </a:p>
              <a:p>
                <a:pPr marL="285750" indent="-285750">
                  <a:buFont typeface="Wingdings" panose="05000000000000000000" pitchFamily="2" charset="2"/>
                  <a:buChar char="q"/>
                </a:pPr>
                <a:r>
                  <a:rPr lang="en-IN" dirty="0"/>
                  <a:t>Extending our analysis to the general </a:t>
                </a:r>
                <a:br>
                  <a:rPr lang="en-IN" dirty="0"/>
                </a:br>
                <a:r>
                  <a:rPr lang="en-IN" b="1" dirty="0"/>
                  <a:t>Markovian</a:t>
                </a:r>
                <a:r>
                  <a:rPr lang="en-IN" dirty="0"/>
                  <a:t> sampling.</a:t>
                </a:r>
                <a:br>
                  <a:rPr lang="en-IN" dirty="0"/>
                </a:br>
                <a:endParaRPr lang="en-IN" dirty="0"/>
              </a:p>
              <a:p>
                <a:pPr marL="285750" indent="-285750">
                  <a:buFont typeface="Wingdings" panose="05000000000000000000" pitchFamily="2" charset="2"/>
                  <a:buChar char="q"/>
                </a:pPr>
                <a:r>
                  <a:rPr lang="en-IN" dirty="0"/>
                  <a:t>Use “</a:t>
                </a:r>
                <a:r>
                  <a:rPr lang="en-IN" b="1" dirty="0"/>
                  <a:t>Blocking Technique</a:t>
                </a:r>
                <a:r>
                  <a:rPr lang="en-IN" dirty="0"/>
                  <a:t>”: subsample </a:t>
                </a:r>
              </a:p>
              <a:p>
                <a:r>
                  <a:rPr lang="en-IN" dirty="0"/>
                  <a:t>     trajectory, and use coupling arguments.</a:t>
                </a:r>
                <a:br>
                  <a:rPr lang="en-IN" dirty="0"/>
                </a:br>
                <a:endParaRPr lang="en-IN" dirty="0"/>
              </a:p>
              <a:p>
                <a:pPr marL="285750" indent="-285750">
                  <a:buFont typeface="Wingdings" panose="05000000000000000000" pitchFamily="2" charset="2"/>
                  <a:buChar char="q"/>
                </a:pPr>
                <a:r>
                  <a:rPr lang="en-IN" dirty="0"/>
                  <a:t>The </a:t>
                </a:r>
                <a:r>
                  <a:rPr lang="en-IN" dirty="0" err="1"/>
                  <a:t>i.i.d</a:t>
                </a:r>
                <a:r>
                  <a:rPr lang="en-IN" dirty="0"/>
                  <a:t> analysis follows with the sub-sampled</a:t>
                </a:r>
                <a:br>
                  <a:rPr lang="en-IN" dirty="0"/>
                </a:br>
                <a:r>
                  <a:rPr lang="en-IN" dirty="0"/>
                  <a:t>trajectory, and gives a similar bound with an</a:t>
                </a:r>
                <a:br>
                  <a:rPr lang="en-IN" dirty="0"/>
                </a:br>
                <a:r>
                  <a:rPr lang="en-IN" dirty="0"/>
                  <a:t> inflation parameter </a:t>
                </a:r>
                <a14:m>
                  <m:oMath xmlns:m="http://schemas.openxmlformats.org/officeDocument/2006/math">
                    <m:r>
                      <a:rPr lang="en-US" b="0" i="1" smtClean="0">
                        <a:latin typeface="Cambria Math" panose="02040503050406030204" pitchFamily="18" charset="0"/>
                      </a:rPr>
                      <m:t>𝜏</m:t>
                    </m:r>
                  </m:oMath>
                </a14:m>
                <a:r>
                  <a:rPr lang="en-IN" dirty="0"/>
                  <a:t>, commensurate with the mixing-time of the underlying Markov chain.</a:t>
                </a:r>
              </a:p>
            </p:txBody>
          </p:sp>
        </mc:Choice>
        <mc:Fallback xmlns="">
          <p:sp>
            <p:nvSpPr>
              <p:cNvPr id="7" name="TextBox 6">
                <a:extLst>
                  <a:ext uri="{FF2B5EF4-FFF2-40B4-BE49-F238E27FC236}">
                    <a16:creationId xmlns:a16="http://schemas.microsoft.com/office/drawing/2014/main" id="{50EA26FB-293E-7338-16F1-16F4252B792B}"/>
                  </a:ext>
                </a:extLst>
              </p:cNvPr>
              <p:cNvSpPr txBox="1">
                <a:spLocks noRot="1" noChangeAspect="1" noMove="1" noResize="1" noEditPoints="1" noAdjustHandles="1" noChangeArrowheads="1" noChangeShapeType="1" noTextEdit="1"/>
              </p:cNvSpPr>
              <p:nvPr/>
            </p:nvSpPr>
            <p:spPr>
              <a:xfrm>
                <a:off x="6023442" y="1230545"/>
                <a:ext cx="6097712" cy="3416320"/>
              </a:xfrm>
              <a:prstGeom prst="rect">
                <a:avLst/>
              </a:prstGeom>
              <a:blipFill>
                <a:blip r:embed="rId4"/>
                <a:stretch>
                  <a:fillRect l="-600" t="-1071" b="-1964"/>
                </a:stretch>
              </a:blipFill>
            </p:spPr>
            <p:txBody>
              <a:bodyPr/>
              <a:lstStyle/>
              <a:p>
                <a:r>
                  <a:rPr lang="en-IN">
                    <a:noFill/>
                  </a:rPr>
                  <a:t> </a:t>
                </a:r>
              </a:p>
            </p:txBody>
          </p:sp>
        </mc:Fallback>
      </mc:AlternateContent>
    </p:spTree>
    <p:extLst>
      <p:ext uri="{BB962C8B-B14F-4D97-AF65-F5344CB8AC3E}">
        <p14:creationId xmlns:p14="http://schemas.microsoft.com/office/powerpoint/2010/main" val="16081824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fade">
                                      <p:cBhvr>
                                        <p:cTn id="12" dur="500"/>
                                        <p:tgtEl>
                                          <p:spTgt spid="7">
                                            <p:txEl>
                                              <p:pRg st="0" end="0"/>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animEffect transition="in" filter="fade">
                                      <p:cBhvr>
                                        <p:cTn id="15" dur="500"/>
                                        <p:tgtEl>
                                          <p:spTgt spid="7">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7">
                                            <p:txEl>
                                              <p:pRg st="3" end="3"/>
                                            </p:txEl>
                                          </p:spTgt>
                                        </p:tgtEl>
                                        <p:attrNameLst>
                                          <p:attrName>style.visibility</p:attrName>
                                        </p:attrNameLst>
                                      </p:cBhvr>
                                      <p:to>
                                        <p:strVal val="visible"/>
                                      </p:to>
                                    </p:set>
                                    <p:animEffect transition="in" filter="fade">
                                      <p:cBhvr>
                                        <p:cTn id="18" dur="500"/>
                                        <p:tgtEl>
                                          <p:spTgt spid="7">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7">
                                            <p:txEl>
                                              <p:pRg st="4" end="4"/>
                                            </p:txEl>
                                          </p:spTgt>
                                        </p:tgtEl>
                                        <p:attrNameLst>
                                          <p:attrName>style.visibility</p:attrName>
                                        </p:attrNameLst>
                                      </p:cBhvr>
                                      <p:to>
                                        <p:strVal val="visible"/>
                                      </p:to>
                                    </p:set>
                                    <p:animEffect transition="in" filter="fade">
                                      <p:cBhvr>
                                        <p:cTn id="21" dur="500"/>
                                        <p:tgtEl>
                                          <p:spTgt spid="7">
                                            <p:txEl>
                                              <p:pRg st="4" end="4"/>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7">
                                            <p:txEl>
                                              <p:pRg st="5" end="5"/>
                                            </p:txEl>
                                          </p:spTgt>
                                        </p:tgtEl>
                                        <p:attrNameLst>
                                          <p:attrName>style.visibility</p:attrName>
                                        </p:attrNameLst>
                                      </p:cBhvr>
                                      <p:to>
                                        <p:strVal val="visible"/>
                                      </p:to>
                                    </p:set>
                                    <p:animEffect transition="in" filter="fade">
                                      <p:cBhvr>
                                        <p:cTn id="24" dur="500"/>
                                        <p:tgtEl>
                                          <p:spTgt spid="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37C9455-113B-C8FA-2A13-3558831B9311}"/>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AACA80B-CCBE-1DA8-B786-6C8F17EF879A}"/>
              </a:ext>
            </a:extLst>
          </p:cNvPr>
          <p:cNvSpPr>
            <a:spLocks noGrp="1"/>
          </p:cNvSpPr>
          <p:nvPr>
            <p:ph type="sldNum" sz="quarter" idx="12"/>
          </p:nvPr>
        </p:nvSpPr>
        <p:spPr>
          <a:xfrm>
            <a:off x="11206754" y="6451865"/>
            <a:ext cx="914400" cy="320040"/>
          </a:xfrm>
        </p:spPr>
        <p:txBody>
          <a:bodyPr/>
          <a:lstStyle/>
          <a:p>
            <a:fld id="{6D22F896-40B5-4ADD-8801-0D06FADFA095}" type="slidenum">
              <a:rPr lang="en-US" smtClean="0"/>
              <a:t>10</a:t>
            </a:fld>
            <a:endParaRPr lang="en-US" dirty="0"/>
          </a:p>
        </p:txBody>
      </p:sp>
      <p:sp>
        <p:nvSpPr>
          <p:cNvPr id="2" name="Title 1">
            <a:extLst>
              <a:ext uri="{FF2B5EF4-FFF2-40B4-BE49-F238E27FC236}">
                <a16:creationId xmlns:a16="http://schemas.microsoft.com/office/drawing/2014/main" id="{C03B36CE-BB59-6D57-9DA8-F2FBE03EC0DF}"/>
              </a:ext>
            </a:extLst>
          </p:cNvPr>
          <p:cNvSpPr txBox="1">
            <a:spLocks/>
          </p:cNvSpPr>
          <p:nvPr/>
        </p:nvSpPr>
        <p:spPr>
          <a:xfrm>
            <a:off x="572121" y="260756"/>
            <a:ext cx="10730524" cy="850217"/>
          </a:xfrm>
          <a:prstGeom prst="rect">
            <a:avLst/>
          </a:prstGeom>
        </p:spPr>
        <p:txBody>
          <a:bodyPr/>
          <a:lstStyle>
            <a:lvl1pPr algn="ctr" defTabSz="914400" rtl="0" eaLnBrk="1" latinLnBrk="0" hangingPunct="1">
              <a:lnSpc>
                <a:spcPct val="85000"/>
              </a:lnSpc>
              <a:spcBef>
                <a:spcPct val="0"/>
              </a:spcBef>
              <a:buNone/>
              <a:defRPr sz="4000" b="0" i="0" kern="1200" cap="none" spc="-150">
                <a:solidFill>
                  <a:schemeClr val="tx1"/>
                </a:solidFill>
                <a:effectLst/>
                <a:latin typeface="+mj-lt"/>
                <a:ea typeface="+mj-ea"/>
                <a:cs typeface="+mj-cs"/>
              </a:defRPr>
            </a:lvl1pPr>
          </a:lstStyle>
          <a:p>
            <a:r>
              <a:rPr lang="en-US" dirty="0">
                <a:solidFill>
                  <a:srgbClr val="002060"/>
                </a:solidFill>
                <a:latin typeface="+mn-lt"/>
              </a:rPr>
              <a:t> Summary and Related Works</a:t>
            </a:r>
            <a:endParaRPr lang="en-IN" dirty="0">
              <a:solidFill>
                <a:srgbClr val="C00000"/>
              </a:solidFill>
              <a:latin typeface="+mn-lt"/>
            </a:endParaRPr>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7C2D20C0-739F-7DEC-8E89-716E93809B87}"/>
                  </a:ext>
                </a:extLst>
              </p:cNvPr>
              <p:cNvSpPr txBox="1"/>
              <p:nvPr/>
            </p:nvSpPr>
            <p:spPr>
              <a:xfrm>
                <a:off x="290092" y="1110973"/>
                <a:ext cx="12151911" cy="1942455"/>
              </a:xfrm>
              <a:prstGeom prst="rect">
                <a:avLst/>
              </a:prstGeom>
              <a:noFill/>
            </p:spPr>
            <p:txBody>
              <a:bodyPr wrap="square" rtlCol="0">
                <a:spAutoFit/>
              </a:bodyPr>
              <a:lstStyle/>
              <a:p>
                <a:pPr marL="285750" indent="-285750">
                  <a:buFont typeface="Wingdings" panose="05000000000000000000" pitchFamily="2" charset="2"/>
                  <a:buChar char="q"/>
                </a:pPr>
                <a:r>
                  <a:rPr lang="en-US" sz="2000" dirty="0"/>
                  <a:t>Vanilla </a:t>
                </a:r>
                <a14:m>
                  <m:oMath xmlns:m="http://schemas.openxmlformats.org/officeDocument/2006/math">
                    <m:r>
                      <a:rPr lang="en-US" sz="2000" b="0" i="1" smtClean="0">
                        <a:latin typeface="Cambria Math" panose="02040503050406030204" pitchFamily="18" charset="0"/>
                      </a:rPr>
                      <m:t>𝑄</m:t>
                    </m:r>
                  </m:oMath>
                </a14:m>
                <a:r>
                  <a:rPr lang="en-US" sz="2000" dirty="0"/>
                  <a:t>-Learning can fail catastrophically even under a small fraction of corrupted rewards. </a:t>
                </a:r>
              </a:p>
              <a:p>
                <a:pPr marL="285750" indent="-285750">
                  <a:buFont typeface="Wingdings" panose="05000000000000000000" pitchFamily="2" charset="2"/>
                  <a:buChar char="q"/>
                </a:pPr>
                <a:r>
                  <a:rPr lang="en-US" sz="2000" dirty="0"/>
                  <a:t>Our robust </a:t>
                </a:r>
                <a14:m>
                  <m:oMath xmlns:m="http://schemas.openxmlformats.org/officeDocument/2006/math">
                    <m:r>
                      <a:rPr lang="en-US" sz="2000" i="1"/>
                      <m:t>𝑄</m:t>
                    </m:r>
                  </m:oMath>
                </a14:m>
                <a:r>
                  <a:rPr lang="en-US" sz="2000" dirty="0"/>
                  <a:t>-Learning algorithm filters corrupted feedback and achieves near-optimal convergence rates.</a:t>
                </a:r>
              </a:p>
              <a:p>
                <a:pPr marL="285750" indent="-285750">
                  <a:buFont typeface="Wingdings" panose="05000000000000000000" pitchFamily="2" charset="2"/>
                  <a:buChar char="q"/>
                </a:pPr>
                <a:r>
                  <a:rPr lang="en-US" sz="2000" dirty="0"/>
                  <a:t>The final error depends on the </a:t>
                </a:r>
                <a:r>
                  <a:rPr lang="en-US" sz="2000" b="1" dirty="0"/>
                  <a:t>corruption fraction</a:t>
                </a:r>
                <a:r>
                  <a:rPr lang="en-US" sz="2000" dirty="0"/>
                  <a:t> </a:t>
                </a:r>
                <a14:m>
                  <m:oMath xmlns:m="http://schemas.openxmlformats.org/officeDocument/2006/math">
                    <m:r>
                      <a:rPr lang="en-US" sz="2000" b="0" i="1" smtClean="0">
                        <a:latin typeface="Cambria Math" panose="02040503050406030204" pitchFamily="18" charset="0"/>
                      </a:rPr>
                      <m:t>𝜀</m:t>
                    </m:r>
                  </m:oMath>
                </a14:m>
                <a:r>
                  <a:rPr lang="en-US" sz="2000" dirty="0"/>
                  <a:t>, not on the magnitude of corrupted rewards.</a:t>
                </a:r>
              </a:p>
              <a:p>
                <a:pPr marL="285750" indent="-285750">
                  <a:buFont typeface="Wingdings" panose="05000000000000000000" pitchFamily="2" charset="2"/>
                  <a:buChar char="q"/>
                </a:pPr>
                <a:r>
                  <a:rPr lang="en-IN" sz="2000" dirty="0"/>
                  <a:t>We prove a nearly matching lower bound, showing that the </a:t>
                </a:r>
                <a14:m>
                  <m:oMath xmlns:m="http://schemas.openxmlformats.org/officeDocument/2006/math">
                    <m:rad>
                      <m:radPr>
                        <m:degHide m:val="on"/>
                        <m:ctrlPr>
                          <a:rPr lang="ar-AE" sz="2000"/>
                        </m:ctrlPr>
                      </m:radPr>
                      <m:deg/>
                      <m:e>
                        <m:r>
                          <a:rPr lang="en-US" sz="2000" b="0" i="1" smtClean="0">
                            <a:latin typeface="Cambria Math" panose="02040503050406030204" pitchFamily="18" charset="0"/>
                          </a:rPr>
                          <m:t>𝜀</m:t>
                        </m:r>
                      </m:e>
                    </m:rad>
                  </m:oMath>
                </a14:m>
                <a:r>
                  <a:rPr lang="en-IN" sz="2000" dirty="0"/>
                  <a:t> corruption dependence is unavoidable.</a:t>
                </a:r>
              </a:p>
            </p:txBody>
          </p:sp>
        </mc:Choice>
        <mc:Fallback>
          <p:sp>
            <p:nvSpPr>
              <p:cNvPr id="3" name="TextBox 2">
                <a:extLst>
                  <a:ext uri="{FF2B5EF4-FFF2-40B4-BE49-F238E27FC236}">
                    <a16:creationId xmlns:a16="http://schemas.microsoft.com/office/drawing/2014/main" id="{7C2D20C0-739F-7DEC-8E89-716E93809B87}"/>
                  </a:ext>
                </a:extLst>
              </p:cNvPr>
              <p:cNvSpPr txBox="1">
                <a:spLocks noRot="1" noChangeAspect="1" noMove="1" noResize="1" noEditPoints="1" noAdjustHandles="1" noChangeArrowheads="1" noChangeShapeType="1" noTextEdit="1"/>
              </p:cNvSpPr>
              <p:nvPr/>
            </p:nvSpPr>
            <p:spPr>
              <a:xfrm>
                <a:off x="290092" y="1110973"/>
                <a:ext cx="12151911" cy="1942455"/>
              </a:xfrm>
              <a:prstGeom prst="rect">
                <a:avLst/>
              </a:prstGeom>
              <a:blipFill>
                <a:blip r:embed="rId3"/>
                <a:stretch>
                  <a:fillRect l="-452" t="-1567" b="-4702"/>
                </a:stretch>
              </a:blipFill>
            </p:spPr>
            <p:txBody>
              <a:bodyPr/>
              <a:lstStyle/>
              <a:p>
                <a:r>
                  <a:rPr lang="en-IN">
                    <a:noFill/>
                  </a:rPr>
                  <a:t> </a:t>
                </a:r>
              </a:p>
            </p:txBody>
          </p:sp>
        </mc:Fallback>
      </mc:AlternateContent>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B993A394-18A0-9143-4258-1C630AC21AB9}"/>
                  </a:ext>
                </a:extLst>
              </p:cNvPr>
              <p:cNvSpPr txBox="1"/>
              <p:nvPr/>
            </p:nvSpPr>
            <p:spPr>
              <a:xfrm>
                <a:off x="561626" y="3266774"/>
                <a:ext cx="11294310" cy="769441"/>
              </a:xfrm>
              <a:prstGeom prst="rect">
                <a:avLst/>
              </a:prstGeom>
              <a:noFill/>
            </p:spPr>
            <p:txBody>
              <a:bodyPr wrap="none" rtlCol="0">
                <a:spAutoFit/>
              </a:bodyPr>
              <a:lstStyle/>
              <a:p>
                <a:r>
                  <a:rPr lang="en-US" sz="2200" b="1" dirty="0"/>
                  <a:t>First tight finite-sample analysis</a:t>
                </a:r>
                <a:r>
                  <a:rPr lang="en-US" sz="2200" dirty="0"/>
                  <a:t> of </a:t>
                </a:r>
                <a14:m>
                  <m:oMath xmlns:m="http://schemas.openxmlformats.org/officeDocument/2006/math">
                    <m:r>
                      <a:rPr lang="en-US" sz="2200" i="1"/>
                      <m:t>𝑄</m:t>
                    </m:r>
                  </m:oMath>
                </a14:m>
                <a:r>
                  <a:rPr lang="en-US" sz="2200" dirty="0"/>
                  <a:t>-Learning under adversarial reward feedback,</a:t>
                </a:r>
                <a:br>
                  <a:rPr lang="en-US" sz="2200" dirty="0"/>
                </a:br>
                <a:r>
                  <a:rPr lang="en-US" sz="2200" dirty="0"/>
                  <a:t>                             with matching upper bound and lower bound.</a:t>
                </a:r>
                <a:endParaRPr lang="en-IN" sz="2200" dirty="0"/>
              </a:p>
            </p:txBody>
          </p:sp>
        </mc:Choice>
        <mc:Fallback>
          <p:sp>
            <p:nvSpPr>
              <p:cNvPr id="6" name="TextBox 5">
                <a:extLst>
                  <a:ext uri="{FF2B5EF4-FFF2-40B4-BE49-F238E27FC236}">
                    <a16:creationId xmlns:a16="http://schemas.microsoft.com/office/drawing/2014/main" id="{B993A394-18A0-9143-4258-1C630AC21AB9}"/>
                  </a:ext>
                </a:extLst>
              </p:cNvPr>
              <p:cNvSpPr txBox="1">
                <a:spLocks noRot="1" noChangeAspect="1" noMove="1" noResize="1" noEditPoints="1" noAdjustHandles="1" noChangeArrowheads="1" noChangeShapeType="1" noTextEdit="1"/>
              </p:cNvSpPr>
              <p:nvPr/>
            </p:nvSpPr>
            <p:spPr>
              <a:xfrm>
                <a:off x="561626" y="3266774"/>
                <a:ext cx="11294310" cy="769441"/>
              </a:xfrm>
              <a:prstGeom prst="rect">
                <a:avLst/>
              </a:prstGeom>
              <a:blipFill>
                <a:blip r:embed="rId4"/>
                <a:stretch>
                  <a:fillRect l="-702" t="-5556" b="-15079"/>
                </a:stretch>
              </a:blipFill>
            </p:spPr>
            <p:txBody>
              <a:bodyPr/>
              <a:lstStyle/>
              <a:p>
                <a:r>
                  <a:rPr lang="en-IN">
                    <a:noFill/>
                  </a:rPr>
                  <a:t> </a:t>
                </a:r>
              </a:p>
            </p:txBody>
          </p:sp>
        </mc:Fallback>
      </mc:AlternateContent>
      <p:sp>
        <p:nvSpPr>
          <p:cNvPr id="8" name="Rectangle 7">
            <a:extLst>
              <a:ext uri="{FF2B5EF4-FFF2-40B4-BE49-F238E27FC236}">
                <a16:creationId xmlns:a16="http://schemas.microsoft.com/office/drawing/2014/main" id="{010B04DD-B915-6A5E-6A86-E5CF746A314C}"/>
              </a:ext>
            </a:extLst>
          </p:cNvPr>
          <p:cNvSpPr/>
          <p:nvPr/>
        </p:nvSpPr>
        <p:spPr>
          <a:xfrm>
            <a:off x="561626" y="3245105"/>
            <a:ext cx="11304805" cy="791110"/>
          </a:xfrm>
          <a:custGeom>
            <a:avLst/>
            <a:gdLst>
              <a:gd name="csX0" fmla="*/ 0 w 11304805"/>
              <a:gd name="csY0" fmla="*/ 0 h 791110"/>
              <a:gd name="csX1" fmla="*/ 594990 w 11304805"/>
              <a:gd name="csY1" fmla="*/ 0 h 791110"/>
              <a:gd name="csX2" fmla="*/ 1076931 w 11304805"/>
              <a:gd name="csY2" fmla="*/ 0 h 791110"/>
              <a:gd name="csX3" fmla="*/ 1558873 w 11304805"/>
              <a:gd name="csY3" fmla="*/ 0 h 791110"/>
              <a:gd name="csX4" fmla="*/ 2153863 w 11304805"/>
              <a:gd name="csY4" fmla="*/ 0 h 791110"/>
              <a:gd name="csX5" fmla="*/ 2861901 w 11304805"/>
              <a:gd name="csY5" fmla="*/ 0 h 791110"/>
              <a:gd name="csX6" fmla="*/ 3569938 w 11304805"/>
              <a:gd name="csY6" fmla="*/ 0 h 791110"/>
              <a:gd name="csX7" fmla="*/ 4277976 w 11304805"/>
              <a:gd name="csY7" fmla="*/ 0 h 791110"/>
              <a:gd name="csX8" fmla="*/ 5099062 w 11304805"/>
              <a:gd name="csY8" fmla="*/ 0 h 791110"/>
              <a:gd name="csX9" fmla="*/ 5694052 w 11304805"/>
              <a:gd name="csY9" fmla="*/ 0 h 791110"/>
              <a:gd name="csX10" fmla="*/ 6402090 w 11304805"/>
              <a:gd name="csY10" fmla="*/ 0 h 791110"/>
              <a:gd name="csX11" fmla="*/ 6997079 w 11304805"/>
              <a:gd name="csY11" fmla="*/ 0 h 791110"/>
              <a:gd name="csX12" fmla="*/ 7592069 w 11304805"/>
              <a:gd name="csY12" fmla="*/ 0 h 791110"/>
              <a:gd name="csX13" fmla="*/ 8187059 w 11304805"/>
              <a:gd name="csY13" fmla="*/ 0 h 791110"/>
              <a:gd name="csX14" fmla="*/ 8442904 w 11304805"/>
              <a:gd name="csY14" fmla="*/ 0 h 791110"/>
              <a:gd name="csX15" fmla="*/ 9150942 w 11304805"/>
              <a:gd name="csY15" fmla="*/ 0 h 791110"/>
              <a:gd name="csX16" fmla="*/ 9406788 w 11304805"/>
              <a:gd name="csY16" fmla="*/ 0 h 791110"/>
              <a:gd name="csX17" fmla="*/ 10001777 w 11304805"/>
              <a:gd name="csY17" fmla="*/ 0 h 791110"/>
              <a:gd name="csX18" fmla="*/ 11304805 w 11304805"/>
              <a:gd name="csY18" fmla="*/ 0 h 791110"/>
              <a:gd name="csX19" fmla="*/ 11304805 w 11304805"/>
              <a:gd name="csY19" fmla="*/ 411377 h 791110"/>
              <a:gd name="csX20" fmla="*/ 11304805 w 11304805"/>
              <a:gd name="csY20" fmla="*/ 791110 h 791110"/>
              <a:gd name="csX21" fmla="*/ 10935911 w 11304805"/>
              <a:gd name="csY21" fmla="*/ 791110 h 791110"/>
              <a:gd name="csX22" fmla="*/ 10227874 w 11304805"/>
              <a:gd name="csY22" fmla="*/ 791110 h 791110"/>
              <a:gd name="csX23" fmla="*/ 9858980 w 11304805"/>
              <a:gd name="csY23" fmla="*/ 791110 h 791110"/>
              <a:gd name="csX24" fmla="*/ 9037894 w 11304805"/>
              <a:gd name="csY24" fmla="*/ 791110 h 791110"/>
              <a:gd name="csX25" fmla="*/ 8216808 w 11304805"/>
              <a:gd name="csY25" fmla="*/ 791110 h 791110"/>
              <a:gd name="csX26" fmla="*/ 7621819 w 11304805"/>
              <a:gd name="csY26" fmla="*/ 791110 h 791110"/>
              <a:gd name="csX27" fmla="*/ 6800733 w 11304805"/>
              <a:gd name="csY27" fmla="*/ 791110 h 791110"/>
              <a:gd name="csX28" fmla="*/ 6205743 w 11304805"/>
              <a:gd name="csY28" fmla="*/ 791110 h 791110"/>
              <a:gd name="csX29" fmla="*/ 5497705 w 11304805"/>
              <a:gd name="csY29" fmla="*/ 791110 h 791110"/>
              <a:gd name="csX30" fmla="*/ 5241860 w 11304805"/>
              <a:gd name="csY30" fmla="*/ 791110 h 791110"/>
              <a:gd name="csX31" fmla="*/ 4420774 w 11304805"/>
              <a:gd name="csY31" fmla="*/ 791110 h 791110"/>
              <a:gd name="csX32" fmla="*/ 3938832 w 11304805"/>
              <a:gd name="csY32" fmla="*/ 791110 h 791110"/>
              <a:gd name="csX33" fmla="*/ 3230794 w 11304805"/>
              <a:gd name="csY33" fmla="*/ 791110 h 791110"/>
              <a:gd name="csX34" fmla="*/ 2974949 w 11304805"/>
              <a:gd name="csY34" fmla="*/ 791110 h 791110"/>
              <a:gd name="csX35" fmla="*/ 2153863 w 11304805"/>
              <a:gd name="csY35" fmla="*/ 791110 h 791110"/>
              <a:gd name="csX36" fmla="*/ 1671921 w 11304805"/>
              <a:gd name="csY36" fmla="*/ 791110 h 791110"/>
              <a:gd name="csX37" fmla="*/ 1076931 w 11304805"/>
              <a:gd name="csY37" fmla="*/ 791110 h 791110"/>
              <a:gd name="csX38" fmla="*/ 708038 w 11304805"/>
              <a:gd name="csY38" fmla="*/ 791110 h 791110"/>
              <a:gd name="csX39" fmla="*/ 0 w 11304805"/>
              <a:gd name="csY39" fmla="*/ 791110 h 791110"/>
              <a:gd name="csX40" fmla="*/ 0 w 11304805"/>
              <a:gd name="csY40" fmla="*/ 379733 h 791110"/>
              <a:gd name="csX41" fmla="*/ 0 w 11304805"/>
              <a:gd name="csY41" fmla="*/ 0 h 7911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1304805" h="791110" fill="none" extrusionOk="0">
                <a:moveTo>
                  <a:pt x="0" y="0"/>
                </a:moveTo>
                <a:cubicBezTo>
                  <a:pt x="210322" y="-17661"/>
                  <a:pt x="424776" y="71152"/>
                  <a:pt x="594990" y="0"/>
                </a:cubicBezTo>
                <a:cubicBezTo>
                  <a:pt x="765204" y="-71152"/>
                  <a:pt x="888435" y="31728"/>
                  <a:pt x="1076931" y="0"/>
                </a:cubicBezTo>
                <a:cubicBezTo>
                  <a:pt x="1265427" y="-31728"/>
                  <a:pt x="1341313" y="9896"/>
                  <a:pt x="1558873" y="0"/>
                </a:cubicBezTo>
                <a:cubicBezTo>
                  <a:pt x="1776433" y="-9896"/>
                  <a:pt x="1944959" y="29884"/>
                  <a:pt x="2153863" y="0"/>
                </a:cubicBezTo>
                <a:cubicBezTo>
                  <a:pt x="2362767" y="-29884"/>
                  <a:pt x="2715751" y="30918"/>
                  <a:pt x="2861901" y="0"/>
                </a:cubicBezTo>
                <a:cubicBezTo>
                  <a:pt x="3008051" y="-30918"/>
                  <a:pt x="3322966" y="955"/>
                  <a:pt x="3569938" y="0"/>
                </a:cubicBezTo>
                <a:cubicBezTo>
                  <a:pt x="3816910" y="-955"/>
                  <a:pt x="4055775" y="58885"/>
                  <a:pt x="4277976" y="0"/>
                </a:cubicBezTo>
                <a:cubicBezTo>
                  <a:pt x="4500177" y="-58885"/>
                  <a:pt x="4927879" y="92358"/>
                  <a:pt x="5099062" y="0"/>
                </a:cubicBezTo>
                <a:cubicBezTo>
                  <a:pt x="5270245" y="-92358"/>
                  <a:pt x="5426815" y="22677"/>
                  <a:pt x="5694052" y="0"/>
                </a:cubicBezTo>
                <a:cubicBezTo>
                  <a:pt x="5961289" y="-22677"/>
                  <a:pt x="6183394" y="50779"/>
                  <a:pt x="6402090" y="0"/>
                </a:cubicBezTo>
                <a:cubicBezTo>
                  <a:pt x="6620786" y="-50779"/>
                  <a:pt x="6830193" y="65293"/>
                  <a:pt x="6997079" y="0"/>
                </a:cubicBezTo>
                <a:cubicBezTo>
                  <a:pt x="7163965" y="-65293"/>
                  <a:pt x="7459563" y="28495"/>
                  <a:pt x="7592069" y="0"/>
                </a:cubicBezTo>
                <a:cubicBezTo>
                  <a:pt x="7724575" y="-28495"/>
                  <a:pt x="8019716" y="29536"/>
                  <a:pt x="8187059" y="0"/>
                </a:cubicBezTo>
                <a:cubicBezTo>
                  <a:pt x="8354402" y="-29536"/>
                  <a:pt x="8361655" y="16821"/>
                  <a:pt x="8442904" y="0"/>
                </a:cubicBezTo>
                <a:cubicBezTo>
                  <a:pt x="8524153" y="-16821"/>
                  <a:pt x="8927125" y="19952"/>
                  <a:pt x="9150942" y="0"/>
                </a:cubicBezTo>
                <a:cubicBezTo>
                  <a:pt x="9374759" y="-19952"/>
                  <a:pt x="9319412" y="10239"/>
                  <a:pt x="9406788" y="0"/>
                </a:cubicBezTo>
                <a:cubicBezTo>
                  <a:pt x="9494164" y="-10239"/>
                  <a:pt x="9867724" y="24095"/>
                  <a:pt x="10001777" y="0"/>
                </a:cubicBezTo>
                <a:cubicBezTo>
                  <a:pt x="10135830" y="-24095"/>
                  <a:pt x="10902822" y="55511"/>
                  <a:pt x="11304805" y="0"/>
                </a:cubicBezTo>
                <a:cubicBezTo>
                  <a:pt x="11324546" y="176489"/>
                  <a:pt x="11264161" y="304944"/>
                  <a:pt x="11304805" y="411377"/>
                </a:cubicBezTo>
                <a:cubicBezTo>
                  <a:pt x="11345449" y="517810"/>
                  <a:pt x="11264807" y="678635"/>
                  <a:pt x="11304805" y="791110"/>
                </a:cubicBezTo>
                <a:cubicBezTo>
                  <a:pt x="11130582" y="833831"/>
                  <a:pt x="11046878" y="775142"/>
                  <a:pt x="10935911" y="791110"/>
                </a:cubicBezTo>
                <a:cubicBezTo>
                  <a:pt x="10824944" y="807078"/>
                  <a:pt x="10463617" y="747679"/>
                  <a:pt x="10227874" y="791110"/>
                </a:cubicBezTo>
                <a:cubicBezTo>
                  <a:pt x="9992131" y="834541"/>
                  <a:pt x="9961739" y="753794"/>
                  <a:pt x="9858980" y="791110"/>
                </a:cubicBezTo>
                <a:cubicBezTo>
                  <a:pt x="9756221" y="828426"/>
                  <a:pt x="9353267" y="708671"/>
                  <a:pt x="9037894" y="791110"/>
                </a:cubicBezTo>
                <a:cubicBezTo>
                  <a:pt x="8722521" y="873549"/>
                  <a:pt x="8439600" y="777692"/>
                  <a:pt x="8216808" y="791110"/>
                </a:cubicBezTo>
                <a:cubicBezTo>
                  <a:pt x="7994016" y="804528"/>
                  <a:pt x="7869165" y="755971"/>
                  <a:pt x="7621819" y="791110"/>
                </a:cubicBezTo>
                <a:cubicBezTo>
                  <a:pt x="7374473" y="826249"/>
                  <a:pt x="7066949" y="711513"/>
                  <a:pt x="6800733" y="791110"/>
                </a:cubicBezTo>
                <a:cubicBezTo>
                  <a:pt x="6534517" y="870707"/>
                  <a:pt x="6465489" y="727754"/>
                  <a:pt x="6205743" y="791110"/>
                </a:cubicBezTo>
                <a:cubicBezTo>
                  <a:pt x="5945997" y="854466"/>
                  <a:pt x="5653725" y="711527"/>
                  <a:pt x="5497705" y="791110"/>
                </a:cubicBezTo>
                <a:cubicBezTo>
                  <a:pt x="5341685" y="870693"/>
                  <a:pt x="5312131" y="760889"/>
                  <a:pt x="5241860" y="791110"/>
                </a:cubicBezTo>
                <a:cubicBezTo>
                  <a:pt x="5171589" y="821331"/>
                  <a:pt x="4705069" y="780015"/>
                  <a:pt x="4420774" y="791110"/>
                </a:cubicBezTo>
                <a:cubicBezTo>
                  <a:pt x="4136479" y="802205"/>
                  <a:pt x="4132574" y="736586"/>
                  <a:pt x="3938832" y="791110"/>
                </a:cubicBezTo>
                <a:cubicBezTo>
                  <a:pt x="3745090" y="845634"/>
                  <a:pt x="3376478" y="734076"/>
                  <a:pt x="3230794" y="791110"/>
                </a:cubicBezTo>
                <a:cubicBezTo>
                  <a:pt x="3085110" y="848144"/>
                  <a:pt x="3086500" y="775200"/>
                  <a:pt x="2974949" y="791110"/>
                </a:cubicBezTo>
                <a:cubicBezTo>
                  <a:pt x="2863399" y="807020"/>
                  <a:pt x="2328981" y="709706"/>
                  <a:pt x="2153863" y="791110"/>
                </a:cubicBezTo>
                <a:cubicBezTo>
                  <a:pt x="1978745" y="872514"/>
                  <a:pt x="1795510" y="738894"/>
                  <a:pt x="1671921" y="791110"/>
                </a:cubicBezTo>
                <a:cubicBezTo>
                  <a:pt x="1548332" y="843326"/>
                  <a:pt x="1294218" y="741413"/>
                  <a:pt x="1076931" y="791110"/>
                </a:cubicBezTo>
                <a:cubicBezTo>
                  <a:pt x="859644" y="840807"/>
                  <a:pt x="843149" y="786553"/>
                  <a:pt x="708038" y="791110"/>
                </a:cubicBezTo>
                <a:cubicBezTo>
                  <a:pt x="572927" y="795667"/>
                  <a:pt x="252962" y="718582"/>
                  <a:pt x="0" y="791110"/>
                </a:cubicBezTo>
                <a:cubicBezTo>
                  <a:pt x="-28706" y="630835"/>
                  <a:pt x="38281" y="581289"/>
                  <a:pt x="0" y="379733"/>
                </a:cubicBezTo>
                <a:cubicBezTo>
                  <a:pt x="-38281" y="178177"/>
                  <a:pt x="16665" y="131565"/>
                  <a:pt x="0" y="0"/>
                </a:cubicBezTo>
                <a:close/>
              </a:path>
              <a:path w="11304805" h="791110" stroke="0" extrusionOk="0">
                <a:moveTo>
                  <a:pt x="0" y="0"/>
                </a:moveTo>
                <a:cubicBezTo>
                  <a:pt x="233149" y="-37312"/>
                  <a:pt x="262748" y="18533"/>
                  <a:pt x="481942" y="0"/>
                </a:cubicBezTo>
                <a:cubicBezTo>
                  <a:pt x="701136" y="-18533"/>
                  <a:pt x="657249" y="24032"/>
                  <a:pt x="737787" y="0"/>
                </a:cubicBezTo>
                <a:cubicBezTo>
                  <a:pt x="818326" y="-24032"/>
                  <a:pt x="1188995" y="98245"/>
                  <a:pt x="1558873" y="0"/>
                </a:cubicBezTo>
                <a:cubicBezTo>
                  <a:pt x="1928751" y="-98245"/>
                  <a:pt x="1912281" y="48534"/>
                  <a:pt x="2040815" y="0"/>
                </a:cubicBezTo>
                <a:cubicBezTo>
                  <a:pt x="2169349" y="-48534"/>
                  <a:pt x="2322874" y="23434"/>
                  <a:pt x="2522756" y="0"/>
                </a:cubicBezTo>
                <a:cubicBezTo>
                  <a:pt x="2722638" y="-23434"/>
                  <a:pt x="3141195" y="22323"/>
                  <a:pt x="3343842" y="0"/>
                </a:cubicBezTo>
                <a:cubicBezTo>
                  <a:pt x="3546489" y="-22323"/>
                  <a:pt x="3560938" y="16746"/>
                  <a:pt x="3712736" y="0"/>
                </a:cubicBezTo>
                <a:cubicBezTo>
                  <a:pt x="3864534" y="-16746"/>
                  <a:pt x="4262687" y="33770"/>
                  <a:pt x="4533822" y="0"/>
                </a:cubicBezTo>
                <a:cubicBezTo>
                  <a:pt x="4804957" y="-33770"/>
                  <a:pt x="5104798" y="97389"/>
                  <a:pt x="5354908" y="0"/>
                </a:cubicBezTo>
                <a:cubicBezTo>
                  <a:pt x="5605018" y="-97389"/>
                  <a:pt x="5677501" y="20722"/>
                  <a:pt x="5949897" y="0"/>
                </a:cubicBezTo>
                <a:cubicBezTo>
                  <a:pt x="6222293" y="-20722"/>
                  <a:pt x="6525026" y="20301"/>
                  <a:pt x="6770983" y="0"/>
                </a:cubicBezTo>
                <a:cubicBezTo>
                  <a:pt x="7016940" y="-20301"/>
                  <a:pt x="7053918" y="40146"/>
                  <a:pt x="7252925" y="0"/>
                </a:cubicBezTo>
                <a:cubicBezTo>
                  <a:pt x="7451932" y="-40146"/>
                  <a:pt x="7540291" y="10844"/>
                  <a:pt x="7734867" y="0"/>
                </a:cubicBezTo>
                <a:cubicBezTo>
                  <a:pt x="7929443" y="-10844"/>
                  <a:pt x="8287176" y="77881"/>
                  <a:pt x="8442904" y="0"/>
                </a:cubicBezTo>
                <a:cubicBezTo>
                  <a:pt x="8598632" y="-77881"/>
                  <a:pt x="8699318" y="8968"/>
                  <a:pt x="8924846" y="0"/>
                </a:cubicBezTo>
                <a:cubicBezTo>
                  <a:pt x="9150374" y="-8968"/>
                  <a:pt x="9538698" y="78430"/>
                  <a:pt x="9745932" y="0"/>
                </a:cubicBezTo>
                <a:cubicBezTo>
                  <a:pt x="9953166" y="-78430"/>
                  <a:pt x="10321436" y="63067"/>
                  <a:pt x="10567018" y="0"/>
                </a:cubicBezTo>
                <a:cubicBezTo>
                  <a:pt x="10812600" y="-63067"/>
                  <a:pt x="11138423" y="81859"/>
                  <a:pt x="11304805" y="0"/>
                </a:cubicBezTo>
                <a:cubicBezTo>
                  <a:pt x="11325517" y="181664"/>
                  <a:pt x="11285559" y="255737"/>
                  <a:pt x="11304805" y="387644"/>
                </a:cubicBezTo>
                <a:cubicBezTo>
                  <a:pt x="11324051" y="519551"/>
                  <a:pt x="11281131" y="655697"/>
                  <a:pt x="11304805" y="791110"/>
                </a:cubicBezTo>
                <a:cubicBezTo>
                  <a:pt x="11224912" y="791812"/>
                  <a:pt x="11040288" y="790635"/>
                  <a:pt x="10935911" y="791110"/>
                </a:cubicBezTo>
                <a:cubicBezTo>
                  <a:pt x="10831534" y="791585"/>
                  <a:pt x="10498011" y="753579"/>
                  <a:pt x="10340922" y="791110"/>
                </a:cubicBezTo>
                <a:cubicBezTo>
                  <a:pt x="10183833" y="828641"/>
                  <a:pt x="10047494" y="772770"/>
                  <a:pt x="9972028" y="791110"/>
                </a:cubicBezTo>
                <a:cubicBezTo>
                  <a:pt x="9896562" y="809450"/>
                  <a:pt x="9557885" y="758478"/>
                  <a:pt x="9377038" y="791110"/>
                </a:cubicBezTo>
                <a:cubicBezTo>
                  <a:pt x="9196191" y="823742"/>
                  <a:pt x="9184332" y="791054"/>
                  <a:pt x="9121193" y="791110"/>
                </a:cubicBezTo>
                <a:cubicBezTo>
                  <a:pt x="9058054" y="791166"/>
                  <a:pt x="8983784" y="786214"/>
                  <a:pt x="8865347" y="791110"/>
                </a:cubicBezTo>
                <a:cubicBezTo>
                  <a:pt x="8746910" y="796006"/>
                  <a:pt x="8405221" y="730362"/>
                  <a:pt x="8270357" y="791110"/>
                </a:cubicBezTo>
                <a:cubicBezTo>
                  <a:pt x="8135493" y="851858"/>
                  <a:pt x="8004910" y="782504"/>
                  <a:pt x="7901464" y="791110"/>
                </a:cubicBezTo>
                <a:cubicBezTo>
                  <a:pt x="7798018" y="799716"/>
                  <a:pt x="7481904" y="751117"/>
                  <a:pt x="7193426" y="791110"/>
                </a:cubicBezTo>
                <a:cubicBezTo>
                  <a:pt x="6904948" y="831103"/>
                  <a:pt x="6965707" y="768575"/>
                  <a:pt x="6824532" y="791110"/>
                </a:cubicBezTo>
                <a:cubicBezTo>
                  <a:pt x="6683357" y="813645"/>
                  <a:pt x="6299410" y="770971"/>
                  <a:pt x="6116494" y="791110"/>
                </a:cubicBezTo>
                <a:cubicBezTo>
                  <a:pt x="5933578" y="811249"/>
                  <a:pt x="5927025" y="784136"/>
                  <a:pt x="5860649" y="791110"/>
                </a:cubicBezTo>
                <a:cubicBezTo>
                  <a:pt x="5794274" y="798084"/>
                  <a:pt x="5457660" y="770463"/>
                  <a:pt x="5152611" y="791110"/>
                </a:cubicBezTo>
                <a:cubicBezTo>
                  <a:pt x="4847562" y="811757"/>
                  <a:pt x="4966365" y="752978"/>
                  <a:pt x="4783717" y="791110"/>
                </a:cubicBezTo>
                <a:cubicBezTo>
                  <a:pt x="4601069" y="829242"/>
                  <a:pt x="4614302" y="775477"/>
                  <a:pt x="4527872" y="791110"/>
                </a:cubicBezTo>
                <a:cubicBezTo>
                  <a:pt x="4441442" y="806743"/>
                  <a:pt x="4282487" y="777304"/>
                  <a:pt x="4158978" y="791110"/>
                </a:cubicBezTo>
                <a:cubicBezTo>
                  <a:pt x="4035469" y="804916"/>
                  <a:pt x="3697628" y="786211"/>
                  <a:pt x="3450940" y="791110"/>
                </a:cubicBezTo>
                <a:cubicBezTo>
                  <a:pt x="3204252" y="796009"/>
                  <a:pt x="3198466" y="775957"/>
                  <a:pt x="3082047" y="791110"/>
                </a:cubicBezTo>
                <a:cubicBezTo>
                  <a:pt x="2965628" y="806263"/>
                  <a:pt x="2891039" y="770401"/>
                  <a:pt x="2826201" y="791110"/>
                </a:cubicBezTo>
                <a:cubicBezTo>
                  <a:pt x="2761363" y="811819"/>
                  <a:pt x="2635149" y="763714"/>
                  <a:pt x="2457308" y="791110"/>
                </a:cubicBezTo>
                <a:cubicBezTo>
                  <a:pt x="2279467" y="818506"/>
                  <a:pt x="2177899" y="780915"/>
                  <a:pt x="1975366" y="791110"/>
                </a:cubicBezTo>
                <a:cubicBezTo>
                  <a:pt x="1772833" y="801305"/>
                  <a:pt x="1556659" y="740236"/>
                  <a:pt x="1380376" y="791110"/>
                </a:cubicBezTo>
                <a:cubicBezTo>
                  <a:pt x="1204093" y="841984"/>
                  <a:pt x="1174174" y="778230"/>
                  <a:pt x="1011483" y="791110"/>
                </a:cubicBezTo>
                <a:cubicBezTo>
                  <a:pt x="848792" y="803990"/>
                  <a:pt x="284040" y="727806"/>
                  <a:pt x="0" y="791110"/>
                </a:cubicBezTo>
                <a:cubicBezTo>
                  <a:pt x="-16171" y="705599"/>
                  <a:pt x="20731" y="589624"/>
                  <a:pt x="0" y="395555"/>
                </a:cubicBezTo>
                <a:cubicBezTo>
                  <a:pt x="-20731" y="201486"/>
                  <a:pt x="13961" y="163935"/>
                  <a:pt x="0" y="0"/>
                </a:cubicBezTo>
                <a:close/>
              </a:path>
            </a:pathLst>
          </a:custGeom>
          <a:solidFill>
            <a:schemeClr val="accent1">
              <a:alpha val="4000"/>
            </a:schemeClr>
          </a:solidFill>
          <a:ln w="25400">
            <a:prstDash val="lgDashDot"/>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mc:Choice xmlns:a14="http://schemas.microsoft.com/office/drawing/2010/main" Requires="a14">
          <p:sp>
            <p:nvSpPr>
              <p:cNvPr id="9" name="Content Placeholder 2">
                <a:extLst>
                  <a:ext uri="{FF2B5EF4-FFF2-40B4-BE49-F238E27FC236}">
                    <a16:creationId xmlns:a16="http://schemas.microsoft.com/office/drawing/2014/main" id="{66F0492B-4116-6691-0AE6-6FFE28BC7AF3}"/>
                  </a:ext>
                </a:extLst>
              </p:cNvPr>
              <p:cNvSpPr txBox="1">
                <a:spLocks/>
              </p:cNvSpPr>
              <p:nvPr/>
            </p:nvSpPr>
            <p:spPr>
              <a:xfrm>
                <a:off x="238636" y="4884041"/>
                <a:ext cx="11397493" cy="2093347"/>
              </a:xfrm>
              <a:prstGeom prst="rect">
                <a:avLst/>
              </a:prstGeom>
            </p:spPr>
            <p:txBody>
              <a:bodyPr>
                <a:normAutofit/>
              </a:bodyPr>
              <a:lstStyle>
                <a:lvl1pPr marL="228600" indent="-228600" algn="l" defTabSz="914400" rtl="0" eaLnBrk="1" latinLnBrk="0" hangingPunct="1">
                  <a:lnSpc>
                    <a:spcPct val="120000"/>
                  </a:lnSpc>
                  <a:spcBef>
                    <a:spcPts val="1000"/>
                  </a:spcBef>
                  <a:buClr>
                    <a:schemeClr val="accent1"/>
                  </a:buClr>
                  <a:buSzPct val="110000"/>
                  <a:buFont typeface="Wingdings" panose="05000000000000000000" pitchFamily="2" charset="2"/>
                  <a:buChar char="§"/>
                  <a:defRPr sz="18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600" kern="120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4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9pPr>
              </a:lstStyle>
              <a:p>
                <a:pPr marL="0" indent="0">
                  <a:buNone/>
                </a:pPr>
                <a:r>
                  <a:rPr lang="en-US" sz="1700" dirty="0">
                    <a:solidFill>
                      <a:schemeClr val="tx1">
                        <a:lumMod val="95000"/>
                        <a:lumOff val="5000"/>
                      </a:schemeClr>
                    </a:solidFill>
                  </a:rPr>
                  <a:t>[1] </a:t>
                </a:r>
                <a:r>
                  <a:rPr lang="en-US" sz="1700" i="1" dirty="0">
                    <a:solidFill>
                      <a:schemeClr val="accent1">
                        <a:lumMod val="75000"/>
                      </a:schemeClr>
                    </a:solidFill>
                  </a:rPr>
                  <a:t>Robust </a:t>
                </a:r>
                <a14:m>
                  <m:oMath xmlns:m="http://schemas.openxmlformats.org/officeDocument/2006/math">
                    <m:r>
                      <a:rPr lang="en-US" sz="1700" i="1">
                        <a:solidFill>
                          <a:schemeClr val="accent1">
                            <a:lumMod val="75000"/>
                          </a:schemeClr>
                        </a:solidFill>
                        <a:latin typeface="Cambria Math" panose="02040503050406030204" pitchFamily="18" charset="0"/>
                      </a:rPr>
                      <m:t>𝑄</m:t>
                    </m:r>
                    <m:r>
                      <a:rPr lang="en-US" sz="1700" i="1">
                        <a:solidFill>
                          <a:schemeClr val="accent1">
                            <a:lumMod val="75000"/>
                          </a:schemeClr>
                        </a:solidFill>
                        <a:latin typeface="Cambria Math" panose="02040503050406030204" pitchFamily="18" charset="0"/>
                      </a:rPr>
                      <m:t>− </m:t>
                    </m:r>
                  </m:oMath>
                </a14:m>
                <a:r>
                  <a:rPr lang="en-US" sz="1700" i="1" dirty="0">
                    <a:solidFill>
                      <a:schemeClr val="accent1">
                        <a:lumMod val="75000"/>
                      </a:schemeClr>
                    </a:solidFill>
                  </a:rPr>
                  <a:t>Learning under Corrupted Rewards</a:t>
                </a:r>
                <a:r>
                  <a:rPr lang="en-US" sz="1700" dirty="0"/>
                  <a:t>, </a:t>
                </a:r>
                <a:r>
                  <a:rPr lang="en-US" sz="1700" dirty="0">
                    <a:solidFill>
                      <a:srgbClr val="FF0000"/>
                    </a:solidFill>
                  </a:rPr>
                  <a:t>S. Maity </a:t>
                </a:r>
                <a:r>
                  <a:rPr lang="en-US" sz="1700" dirty="0"/>
                  <a:t>and A. Mitra, </a:t>
                </a:r>
                <a:r>
                  <a:rPr lang="en-US" sz="1700" b="1" dirty="0"/>
                  <a:t>IEEE CDC </a:t>
                </a:r>
                <a:r>
                  <a:rPr lang="en-US" sz="1700" dirty="0"/>
                  <a:t>2024.</a:t>
                </a:r>
              </a:p>
              <a:p>
                <a:pPr marL="0" indent="0">
                  <a:buFont typeface="Wingdings" panose="05000000000000000000" pitchFamily="2" charset="2"/>
                  <a:buNone/>
                </a:pPr>
                <a:r>
                  <a:rPr lang="en-US" sz="1700" dirty="0"/>
                  <a:t>[2] </a:t>
                </a:r>
                <a:r>
                  <a:rPr lang="en-US" sz="1700" i="1" dirty="0" err="1">
                    <a:solidFill>
                      <a:schemeClr val="accent1">
                        <a:lumMod val="75000"/>
                      </a:schemeClr>
                    </a:solidFill>
                  </a:rPr>
                  <a:t>Adversarially</a:t>
                </a:r>
                <a:r>
                  <a:rPr lang="en-US" sz="1700" i="1" dirty="0">
                    <a:solidFill>
                      <a:schemeClr val="accent1">
                        <a:lumMod val="75000"/>
                      </a:schemeClr>
                    </a:solidFill>
                  </a:rPr>
                  <a:t>-Robust TD Learning with Markovian Data</a:t>
                </a:r>
                <a:r>
                  <a:rPr lang="en-US" sz="1700" dirty="0"/>
                  <a:t>, </a:t>
                </a:r>
                <a:r>
                  <a:rPr lang="en-US" sz="1700" dirty="0">
                    <a:solidFill>
                      <a:srgbClr val="FF0000"/>
                    </a:solidFill>
                  </a:rPr>
                  <a:t>S. Maity </a:t>
                </a:r>
                <a:r>
                  <a:rPr lang="en-US" sz="1700" dirty="0"/>
                  <a:t>and A. Mitra, </a:t>
                </a:r>
                <a:r>
                  <a:rPr lang="en-US" sz="1700" b="1" dirty="0"/>
                  <a:t>AISTATS</a:t>
                </a:r>
                <a:r>
                  <a:rPr lang="en-US" sz="1700" dirty="0"/>
                  <a:t> 2025.</a:t>
                </a:r>
              </a:p>
              <a:p>
                <a:pPr marL="0" indent="0">
                  <a:buNone/>
                </a:pPr>
                <a:r>
                  <a:rPr lang="en-US" sz="1700" dirty="0"/>
                  <a:t>[3] </a:t>
                </a:r>
                <a:r>
                  <a:rPr lang="en-US" sz="1700" dirty="0">
                    <a:solidFill>
                      <a:schemeClr val="accent1">
                        <a:lumMod val="75000"/>
                      </a:schemeClr>
                    </a:solidFill>
                  </a:rPr>
                  <a:t>Robust Federated </a:t>
                </a:r>
                <a14:m>
                  <m:oMath xmlns:m="http://schemas.openxmlformats.org/officeDocument/2006/math">
                    <m:r>
                      <a:rPr lang="en-US" sz="1700" b="0" i="1" smtClean="0">
                        <a:solidFill>
                          <a:schemeClr val="accent1">
                            <a:lumMod val="75000"/>
                          </a:schemeClr>
                        </a:solidFill>
                        <a:latin typeface="Cambria Math" panose="02040503050406030204" pitchFamily="18" charset="0"/>
                      </a:rPr>
                      <m:t>𝑄</m:t>
                    </m:r>
                    <m:r>
                      <a:rPr lang="en-US" sz="1700" b="0" i="1" smtClean="0">
                        <a:solidFill>
                          <a:schemeClr val="accent1">
                            <a:lumMod val="75000"/>
                          </a:schemeClr>
                        </a:solidFill>
                        <a:latin typeface="Cambria Math" panose="02040503050406030204" pitchFamily="18" charset="0"/>
                      </a:rPr>
                      <m:t>−</m:t>
                    </m:r>
                  </m:oMath>
                </a14:m>
                <a:r>
                  <a:rPr lang="en-US" sz="1700" dirty="0">
                    <a:solidFill>
                      <a:schemeClr val="accent1">
                        <a:lumMod val="75000"/>
                      </a:schemeClr>
                    </a:solidFill>
                  </a:rPr>
                  <a:t>Learning with Almost No Communication</a:t>
                </a:r>
                <a:r>
                  <a:rPr lang="en-US" sz="1700" dirty="0"/>
                  <a:t>, </a:t>
                </a:r>
                <a:r>
                  <a:rPr lang="en-US" sz="1700" dirty="0">
                    <a:solidFill>
                      <a:srgbClr val="FF0000"/>
                    </a:solidFill>
                  </a:rPr>
                  <a:t>S. Maity </a:t>
                </a:r>
                <a:r>
                  <a:rPr lang="en-US" sz="1700" dirty="0"/>
                  <a:t>and A. Mitra, </a:t>
                </a:r>
                <a:r>
                  <a:rPr lang="en-US" sz="1700" b="1" dirty="0"/>
                  <a:t>IEEE ACC </a:t>
                </a:r>
                <a:r>
                  <a:rPr lang="en-US" sz="1700" dirty="0"/>
                  <a:t>2026.</a:t>
                </a:r>
              </a:p>
              <a:p>
                <a:pPr marL="0" indent="0">
                  <a:buFont typeface="Wingdings" panose="05000000000000000000" pitchFamily="2" charset="2"/>
                  <a:buNone/>
                </a:pPr>
                <a:endParaRPr lang="en-US" dirty="0"/>
              </a:p>
            </p:txBody>
          </p:sp>
        </mc:Choice>
        <mc:Fallback>
          <p:sp>
            <p:nvSpPr>
              <p:cNvPr id="9" name="Content Placeholder 2">
                <a:extLst>
                  <a:ext uri="{FF2B5EF4-FFF2-40B4-BE49-F238E27FC236}">
                    <a16:creationId xmlns:a16="http://schemas.microsoft.com/office/drawing/2014/main" id="{66F0492B-4116-6691-0AE6-6FFE28BC7AF3}"/>
                  </a:ext>
                </a:extLst>
              </p:cNvPr>
              <p:cNvSpPr txBox="1">
                <a:spLocks noRot="1" noChangeAspect="1" noMove="1" noResize="1" noEditPoints="1" noAdjustHandles="1" noChangeArrowheads="1" noChangeShapeType="1" noTextEdit="1"/>
              </p:cNvSpPr>
              <p:nvPr/>
            </p:nvSpPr>
            <p:spPr>
              <a:xfrm>
                <a:off x="238636" y="4884041"/>
                <a:ext cx="11397493" cy="2093347"/>
              </a:xfrm>
              <a:prstGeom prst="rect">
                <a:avLst/>
              </a:prstGeom>
              <a:blipFill>
                <a:blip r:embed="rId5"/>
                <a:stretch>
                  <a:fillRect l="-321"/>
                </a:stretch>
              </a:blipFill>
            </p:spPr>
            <p:txBody>
              <a:bodyPr/>
              <a:lstStyle/>
              <a:p>
                <a:r>
                  <a:rPr lang="en-IN">
                    <a:noFill/>
                  </a:rPr>
                  <a:t> </a:t>
                </a:r>
              </a:p>
            </p:txBody>
          </p:sp>
        </mc:Fallback>
      </mc:AlternateContent>
      <p:sp>
        <p:nvSpPr>
          <p:cNvPr id="10" name="TextBox 9">
            <a:extLst>
              <a:ext uri="{FF2B5EF4-FFF2-40B4-BE49-F238E27FC236}">
                <a16:creationId xmlns:a16="http://schemas.microsoft.com/office/drawing/2014/main" id="{09DA9383-1308-1CA0-D971-C7E813C2E400}"/>
              </a:ext>
            </a:extLst>
          </p:cNvPr>
          <p:cNvSpPr txBox="1"/>
          <p:nvPr/>
        </p:nvSpPr>
        <p:spPr>
          <a:xfrm>
            <a:off x="238636" y="4514709"/>
            <a:ext cx="1885773" cy="369332"/>
          </a:xfrm>
          <a:prstGeom prst="rect">
            <a:avLst/>
          </a:prstGeom>
          <a:noFill/>
        </p:spPr>
        <p:txBody>
          <a:bodyPr wrap="none" rtlCol="0">
            <a:spAutoFit/>
          </a:bodyPr>
          <a:lstStyle/>
          <a:p>
            <a:r>
              <a:rPr lang="en-US" b="1" dirty="0"/>
              <a:t>Related Works:</a:t>
            </a:r>
            <a:endParaRPr lang="en-IN" b="1" dirty="0"/>
          </a:p>
        </p:txBody>
      </p:sp>
    </p:spTree>
    <p:extLst>
      <p:ext uri="{BB962C8B-B14F-4D97-AF65-F5344CB8AC3E}">
        <p14:creationId xmlns:p14="http://schemas.microsoft.com/office/powerpoint/2010/main" val="241014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500"/>
                                        <p:tgtEl>
                                          <p:spTgt spid="6"/>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500"/>
                                        <p:tgtEl>
                                          <p:spTgt spid="8"/>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0">
                                            <p:txEl>
                                              <p:pRg st="0" end="0"/>
                                            </p:txEl>
                                          </p:spTgt>
                                        </p:tgtEl>
                                        <p:attrNameLst>
                                          <p:attrName>style.visibility</p:attrName>
                                        </p:attrNameLst>
                                      </p:cBhvr>
                                      <p:to>
                                        <p:strVal val="visible"/>
                                      </p:to>
                                    </p:set>
                                    <p:animEffect transition="in" filter="fade">
                                      <p:cBhvr>
                                        <p:cTn id="35" dur="500"/>
                                        <p:tgtEl>
                                          <p:spTgt spid="10">
                                            <p:txEl>
                                              <p:pRg st="0" end="0"/>
                                            </p:txEl>
                                          </p:spTgt>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fade">
                                      <p:cBhvr>
                                        <p:cTn id="3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animBg="1"/>
      <p:bldP spid="9" grpId="0"/>
    </p:bldLst>
  </p:timing>
</p:sld>
</file>

<file path=ppt/theme/theme1.xml><?xml version="1.0" encoding="utf-8"?>
<a:theme xmlns:a="http://schemas.openxmlformats.org/drawingml/2006/main" name="Atlas">
  <a:themeElements>
    <a:clrScheme name="Custom 1">
      <a:dk1>
        <a:sysClr val="windowText" lastClr="000000"/>
      </a:dk1>
      <a:lt1>
        <a:sysClr val="window" lastClr="FFFFFF"/>
      </a:lt1>
      <a:dk2>
        <a:srgbClr val="696464"/>
      </a:dk2>
      <a:lt2>
        <a:srgbClr val="E9E5DC"/>
      </a:lt2>
      <a:accent1>
        <a:srgbClr val="C00000"/>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Atlas">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tlas">
      <a:fillStyleLst>
        <a:solidFill>
          <a:schemeClr val="phClr"/>
        </a:solidFill>
        <a:gradFill rotWithShape="1">
          <a:gsLst>
            <a:gs pos="0">
              <a:schemeClr val="phClr">
                <a:tint val="62000"/>
                <a:alpha val="60000"/>
                <a:satMod val="109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hade val="90000"/>
            </a:schemeClr>
          </a:solidFill>
          <a:prstDash val="solid"/>
        </a:ln>
        <a:ln w="15875" cap="flat" cmpd="sng" algn="ctr">
          <a:solidFill>
            <a:schemeClr val="phClr">
              <a:shade val="90000"/>
            </a:scheme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38100" dist="25400" dir="5400000" rotWithShape="0">
              <a:srgbClr val="000000">
                <a:alpha val="75000"/>
              </a:srgbClr>
            </a:outerShdw>
          </a:effectLst>
          <a:scene3d>
            <a:camera prst="orthographicFront">
              <a:rot lat="0" lon="0" rev="0"/>
            </a:camera>
            <a:lightRig rig="threePt" dir="tl"/>
          </a:scene3d>
          <a:sp3d>
            <a:bevelT w="0" h="0"/>
          </a:sp3d>
        </a:effectStyle>
      </a:effectStyleLst>
      <a:bgFillStyleLst>
        <a:solidFill>
          <a:schemeClr val="phClr"/>
        </a:solidFill>
        <a:solidFill>
          <a:schemeClr val="phClr"/>
        </a:solidFill>
        <a:gradFill rotWithShape="1">
          <a:gsLst>
            <a:gs pos="10000">
              <a:schemeClr val="phClr">
                <a:tint val="94000"/>
                <a:lumMod val="116000"/>
              </a:schemeClr>
            </a:gs>
            <a:gs pos="100000">
              <a:schemeClr val="phClr">
                <a:tint val="98000"/>
                <a:shade val="86000"/>
                <a:satMod val="90000"/>
                <a:lumMod val="88000"/>
              </a:schemeClr>
            </a:gs>
          </a:gsLst>
          <a:path path="circle">
            <a:fillToRect l="50000" t="15000" r="50000" b="169000"/>
          </a:path>
        </a:gradFill>
      </a:bgFillStyleLst>
    </a:fmtScheme>
  </a:themeElements>
  <a:objectDefaults/>
  <a:extraClrSchemeLst/>
  <a:extLst>
    <a:ext uri="{05A4C25C-085E-4340-85A3-A5531E510DB2}">
      <thm15:themeFamily xmlns:thm15="http://schemas.microsoft.com/office/thememl/2012/main" name="Atlas" id="{5156B0E4-0EB1-49FE-A26B-15F6F698AEC6}" vid="{508F7963-D0B5-43F7-BB2C-FCE3009C08E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{05778519-9DDA-4FF2-A564-7BFDDE3388BD}TF84f8bd34-e664-4dff-80e6-54cad708313b5d6b3c2c-55a0db8cc8b4</Template>
  <TotalTime>4577</TotalTime>
  <Words>1043</Words>
  <Application>Microsoft Office PowerPoint</Application>
  <PresentationFormat>Widescreen</PresentationFormat>
  <Paragraphs>144</Paragraphs>
  <Slides>10</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Brush Script MT</vt:lpstr>
      <vt:lpstr>Calibri</vt:lpstr>
      <vt:lpstr>Calibri Light</vt:lpstr>
      <vt:lpstr>Cambria Math</vt:lpstr>
      <vt:lpstr>Rockwell</vt:lpstr>
      <vt:lpstr>Wingdings</vt:lpstr>
      <vt:lpstr>Atlas</vt:lpstr>
      <vt:lpstr>Corruption-Tolerant Asynchronous Q-Learning with Near-Optimal Rates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sreejeetmaity1998microsoft@gmail.com</dc:creator>
  <cp:lastModifiedBy>sreejeetmaity1998microsoft@gmail.com</cp:lastModifiedBy>
  <cp:revision>32</cp:revision>
  <dcterms:created xsi:type="dcterms:W3CDTF">2026-03-17T15:52:08Z</dcterms:created>
  <dcterms:modified xsi:type="dcterms:W3CDTF">2026-06-01T07:03:17Z</dcterms:modified>
</cp:coreProperties>
</file>